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schemas.openxmlformats.org/officeDocument/2006/relationships/slide" Target="slides/slide6.xml"/><Relationship Id="rId10" Type="http://schemas.openxmlformats.org/officeDocument/2006/relationships/slide" Target="slides/slide5.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 name="Google Shape;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Arial"/>
                <a:ea typeface="Arial"/>
                <a:cs typeface="Arial"/>
                <a:sym typeface="Arial"/>
              </a:rPr>
              <a:t>Hi everyone, quick 5 minute status on the CVA5 work, then two short demos: one in simulation and one live on the FPGA board.</a:t>
            </a:r>
            <a:endParaRPr/>
          </a:p>
        </p:txBody>
      </p:sp>
      <p:sp>
        <p:nvSpPr>
          <p:cNvPr id="10" name="Google Shape;1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800" u="none" cap="none" strike="noStrike">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 name="Shape 17"/>
        <p:cNvGrpSpPr/>
        <p:nvPr/>
      </p:nvGrpSpPr>
      <p:grpSpPr>
        <a:xfrm>
          <a:off x="0" y="0"/>
          <a:ext cx="0" cy="0"/>
          <a:chOff x="0" y="0"/>
          <a:chExt cx="0" cy="0"/>
        </a:xfrm>
      </p:grpSpPr>
      <p:sp>
        <p:nvSpPr>
          <p:cNvPr id="18" name="Google Shape;18;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 name="Google Shape;19;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Quick intro. I do FPGA and ASIC RTL, front end design, almost 5 years. My background covers embedded systems, and on the side I play with FPGAs and soft IP MCUs.</a:t>
            </a:r>
            <a:endParaRPr/>
          </a:p>
        </p:txBody>
      </p:sp>
      <p:sp>
        <p:nvSpPr>
          <p:cNvPr id="20" name="Google Shape;20;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 name="Google Shape;45;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The framing here is a slow burn: paced so anyone can catch up in a weekend. The flow is self contained, so you do not need the Taiga project environment anymore. The simulation gets split into blocks that work as tutorials, and the end goal is that someone with no FPGA background can add a feature to CVA5 themselves.</a:t>
            </a:r>
            <a:endParaRPr/>
          </a:p>
        </p:txBody>
      </p:sp>
      <p:sp>
        <p:nvSpPr>
          <p:cNvPr id="46" name="Google Shape;46;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 name="Google Shape;68;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Here is the plan. We are in Q3: ramp up on CVA5 far enough to demo at the RVO user group meeting. That is the Verilator simulation, the compiler to memory image flow, and CVA5 running on FPGA. The next two slides are exactly those demos. Q4 is the onboarding and ramp up process for new adopters, and the goal there is that someone can add a new feature to CVA5, TinyAI being the example we have in mind. Q1 is a conference paper, poster and demo, and the venue is still to be decided. Q2 is the initial software stack, and that is also where QEMU or Renode support lands. We do not have that yet.</a:t>
            </a:r>
            <a:endParaRPr/>
          </a:p>
        </p:txBody>
      </p:sp>
      <p:sp>
        <p:nvSpPr>
          <p:cNvPr id="69" name="Google Shape;69;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8" name="Google Shape;98;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Demo 1, in simulation. Two make commands from a clean clone. First I'll walk the build one stage at a time, because every stage is a file you can open: main.c and crt0.S go in, gcc links them into main.elf, objdump turns that into an assembly listing so you can read the actual instructions, and objcopy strips it down to the raw binary that becomes program.hex for the simulator and mem.mif for the FPGA block RAM. Same file, two destinations. Then the console output, Hello World over the simulated UART. Then the wavefile: the register write to the UART address, the bus transaction, the TX line toggling. That is the whole point, watching the work a compiler does all the way down to hardware. [SWITCH TO DEMO 1: build stages, waveform and sim output]</a:t>
            </a:r>
            <a:endParaRPr/>
          </a:p>
        </p:txBody>
      </p:sp>
      <p:sp>
        <p:nvSpPr>
          <p:cNvPr id="99" name="Google Shape;99;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1" name="Google Shape;121;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Demo 2, on hardware. The same program running on the PYNQ-Z2. Two Tcl scripts build the whole SoC: clock wizard, reset from slide switch SW0, CVA5 with the program in block RAM, and an AXI UART Lite. The board's USB UART is wired to the PS, so the PL UART is jumpered from PMOD JA to J13 with two wires, and the same micro USB cable then programs the board and carries the console. I'll flip SW0 and show live Hello World in the terminal. [SWITCH TO DEMO 2: Vivado project and live UART] To close: that is the Q3 milestone from the plan slide. Next up is the onboarding process, and the fork link is in the deck. Questions welcome. Thanks!</a:t>
            </a:r>
            <a:endParaRPr/>
          </a:p>
        </p:txBody>
      </p:sp>
      <p:sp>
        <p:nvSpPr>
          <p:cNvPr id="122" name="Google Shape;122;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 name="Shape 11"/>
        <p:cNvGrpSpPr/>
        <p:nvPr/>
      </p:nvGrpSpPr>
      <p:grpSpPr>
        <a:xfrm>
          <a:off x="0" y="0"/>
          <a:ext cx="0" cy="0"/>
          <a:chOff x="0" y="0"/>
          <a:chExt cx="0" cy="0"/>
        </a:xfrm>
      </p:grpSpPr>
      <p:pic>
        <p:nvPicPr>
          <p:cNvPr descr="preencoded.png" id="12" name="Google Shape;12;p3"/>
          <p:cNvPicPr preferRelativeResize="0"/>
          <p:nvPr/>
        </p:nvPicPr>
        <p:blipFill rotWithShape="1">
          <a:blip r:embed="rId3">
            <a:alphaModFix/>
          </a:blip>
          <a:srcRect b="0" l="0" r="0" t="0"/>
          <a:stretch/>
        </p:blipFill>
        <p:spPr>
          <a:xfrm>
            <a:off x="0" y="5394960"/>
            <a:ext cx="12188952" cy="1097280"/>
          </a:xfrm>
          <a:prstGeom prst="rect">
            <a:avLst/>
          </a:prstGeom>
          <a:noFill/>
          <a:ln>
            <a:noFill/>
          </a:ln>
        </p:spPr>
      </p:pic>
      <p:pic>
        <p:nvPicPr>
          <p:cNvPr descr="preencoded.png" id="13" name="Google Shape;13;p3"/>
          <p:cNvPicPr preferRelativeResize="0"/>
          <p:nvPr/>
        </p:nvPicPr>
        <p:blipFill rotWithShape="1">
          <a:blip r:embed="rId4">
            <a:alphaModFix/>
          </a:blip>
          <a:srcRect b="0" l="0" r="0" t="0"/>
          <a:stretch/>
        </p:blipFill>
        <p:spPr>
          <a:xfrm>
            <a:off x="0" y="960120"/>
            <a:ext cx="12188952" cy="1234440"/>
          </a:xfrm>
          <a:prstGeom prst="rect">
            <a:avLst/>
          </a:prstGeom>
          <a:noFill/>
          <a:ln>
            <a:noFill/>
          </a:ln>
        </p:spPr>
      </p:pic>
      <p:sp>
        <p:nvSpPr>
          <p:cNvPr id="14" name="Google Shape;14;p3"/>
          <p:cNvSpPr/>
          <p:nvPr/>
        </p:nvSpPr>
        <p:spPr>
          <a:xfrm>
            <a:off x="822960" y="2377440"/>
            <a:ext cx="1078992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4000"/>
              <a:buFont typeface="Arial"/>
              <a:buNone/>
            </a:pPr>
            <a:r>
              <a:rPr b="1" i="0" lang="en-US" sz="4000" u="none" cap="none" strike="noStrike">
                <a:solidFill>
                  <a:srgbClr val="1F2937"/>
                </a:solidFill>
                <a:latin typeface="Arial"/>
                <a:ea typeface="Arial"/>
                <a:cs typeface="Arial"/>
                <a:sym typeface="Arial"/>
              </a:rPr>
              <a:t>OpenHW CVA5 RISC-V Soft Processor</a:t>
            </a:r>
            <a:endParaRPr b="0" i="0" sz="4000" u="none" cap="none" strike="noStrike">
              <a:solidFill>
                <a:schemeClr val="dk1"/>
              </a:solidFill>
              <a:latin typeface="Calibri"/>
              <a:ea typeface="Calibri"/>
              <a:cs typeface="Calibri"/>
              <a:sym typeface="Calibri"/>
            </a:endParaRPr>
          </a:p>
        </p:txBody>
      </p:sp>
      <p:sp>
        <p:nvSpPr>
          <p:cNvPr id="15" name="Google Shape;15;p3"/>
          <p:cNvSpPr/>
          <p:nvPr/>
        </p:nvSpPr>
        <p:spPr>
          <a:xfrm>
            <a:off x="822960" y="3291840"/>
            <a:ext cx="105156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C"/>
              </a:buClr>
              <a:buSzPts val="2200"/>
              <a:buFont typeface="Arial"/>
              <a:buNone/>
            </a:pPr>
            <a:r>
              <a:rPr b="0" i="0" lang="en-US" sz="2200" u="none" cap="none" strike="noStrike">
                <a:solidFill>
                  <a:srgbClr val="5B6B7C"/>
                </a:solidFill>
                <a:latin typeface="Arial"/>
                <a:ea typeface="Arial"/>
                <a:cs typeface="Arial"/>
                <a:sym typeface="Arial"/>
              </a:rPr>
              <a:t>RTL/SW </a:t>
            </a:r>
            <a:r>
              <a:rPr b="1" i="0" lang="en-US" sz="2200" u="none" cap="none" strike="noStrike">
                <a:solidFill>
                  <a:srgbClr val="0E9F6E"/>
                </a:solidFill>
                <a:latin typeface="Arial"/>
                <a:ea typeface="Arial"/>
                <a:cs typeface="Arial"/>
                <a:sym typeface="Arial"/>
              </a:rPr>
              <a:t>→</a:t>
            </a:r>
            <a:r>
              <a:rPr b="0" i="0" lang="en-US" sz="2200" u="none" cap="none" strike="noStrike">
                <a:solidFill>
                  <a:srgbClr val="1F2937"/>
                </a:solidFill>
                <a:latin typeface="Arial"/>
                <a:ea typeface="Arial"/>
                <a:cs typeface="Arial"/>
                <a:sym typeface="Arial"/>
              </a:rPr>
              <a:t> Running Simulation </a:t>
            </a:r>
            <a:r>
              <a:rPr b="1" i="0" lang="en-US" sz="2200" u="none" cap="none" strike="noStrike">
                <a:solidFill>
                  <a:srgbClr val="0E9F6E"/>
                </a:solidFill>
                <a:latin typeface="Arial"/>
                <a:ea typeface="Arial"/>
                <a:cs typeface="Arial"/>
                <a:sym typeface="Arial"/>
              </a:rPr>
              <a:t>→</a:t>
            </a:r>
            <a:r>
              <a:rPr b="0" i="0" lang="en-US" sz="2200" u="none" cap="none" strike="noStrike">
                <a:solidFill>
                  <a:srgbClr val="1F2937"/>
                </a:solidFill>
                <a:latin typeface="Arial"/>
                <a:ea typeface="Arial"/>
                <a:cs typeface="Arial"/>
                <a:sym typeface="Arial"/>
              </a:rPr>
              <a:t> Hello World on FPGA</a:t>
            </a:r>
            <a:endParaRPr b="0" i="0" sz="2200" u="none" cap="none" strike="noStrike">
              <a:solidFill>
                <a:schemeClr val="dk1"/>
              </a:solidFill>
              <a:latin typeface="Calibri"/>
              <a:ea typeface="Calibri"/>
              <a:cs typeface="Calibri"/>
              <a:sym typeface="Calibri"/>
            </a:endParaRPr>
          </a:p>
        </p:txBody>
      </p:sp>
      <p:sp>
        <p:nvSpPr>
          <p:cNvPr id="16" name="Google Shape;16;p3"/>
          <p:cNvSpPr/>
          <p:nvPr/>
        </p:nvSpPr>
        <p:spPr>
          <a:xfrm>
            <a:off x="822960" y="4343400"/>
            <a:ext cx="100584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600"/>
              <a:buFont typeface="Arial"/>
              <a:buNone/>
            </a:pPr>
            <a:r>
              <a:rPr b="1" i="0" lang="en-US" sz="1600" u="none" cap="none" strike="noStrike">
                <a:solidFill>
                  <a:srgbClr val="1F2937"/>
                </a:solidFill>
                <a:latin typeface="Arial"/>
                <a:ea typeface="Arial"/>
                <a:cs typeface="Arial"/>
                <a:sym typeface="Arial"/>
              </a:rPr>
              <a:t>Amirali Ebrahimi   </a:t>
            </a:r>
            <a:r>
              <a:rPr b="0" i="0" lang="en-US" sz="1400" u="none" cap="none" strike="noStrike">
                <a:solidFill>
                  <a:srgbClr val="2563EB"/>
                </a:solidFill>
                <a:latin typeface="Courier New"/>
                <a:ea typeface="Courier New"/>
                <a:cs typeface="Courier New"/>
                <a:sym typeface="Courier New"/>
              </a:rPr>
              <a:t>github.com/AmirAliEbrahimi/cva5</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 name="Shape 21"/>
        <p:cNvGrpSpPr/>
        <p:nvPr/>
      </p:nvGrpSpPr>
      <p:grpSpPr>
        <a:xfrm>
          <a:off x="0" y="0"/>
          <a:ext cx="0" cy="0"/>
          <a:chOff x="0" y="0"/>
          <a:chExt cx="0" cy="0"/>
        </a:xfrm>
      </p:grpSpPr>
      <p:sp>
        <p:nvSpPr>
          <p:cNvPr id="22" name="Google Shape;22;p4"/>
          <p:cNvSpPr/>
          <p:nvPr/>
        </p:nvSpPr>
        <p:spPr>
          <a:xfrm>
            <a:off x="548640" y="292608"/>
            <a:ext cx="110642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3000"/>
              <a:buFont typeface="Arial"/>
              <a:buNone/>
            </a:pPr>
            <a:r>
              <a:rPr b="1" lang="en-US" sz="3000">
                <a:solidFill>
                  <a:srgbClr val="1F2937"/>
                </a:solidFill>
                <a:latin typeface="Arial"/>
                <a:ea typeface="Arial"/>
                <a:cs typeface="Arial"/>
                <a:sym typeface="Arial"/>
              </a:rPr>
              <a:t>About me</a:t>
            </a:r>
            <a:endParaRPr sz="3000">
              <a:solidFill>
                <a:schemeClr val="dk1"/>
              </a:solidFill>
              <a:latin typeface="Calibri"/>
              <a:ea typeface="Calibri"/>
              <a:cs typeface="Calibri"/>
              <a:sym typeface="Calibri"/>
            </a:endParaRPr>
          </a:p>
        </p:txBody>
      </p:sp>
      <p:sp>
        <p:nvSpPr>
          <p:cNvPr id="23" name="Google Shape;23;p4"/>
          <p:cNvSpPr/>
          <p:nvPr/>
        </p:nvSpPr>
        <p:spPr>
          <a:xfrm>
            <a:off x="548640" y="1371600"/>
            <a:ext cx="3291840" cy="4937760"/>
          </a:xfrm>
          <a:prstGeom prst="roundRect">
            <a:avLst>
              <a:gd fmla="val 3333" name="adj"/>
            </a:avLst>
          </a:prstGeom>
          <a:solidFill>
            <a:srgbClr val="F4F6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4" name="Google Shape;24;p4"/>
          <p:cNvPicPr preferRelativeResize="0"/>
          <p:nvPr/>
        </p:nvPicPr>
        <p:blipFill rotWithShape="1">
          <a:blip r:embed="rId3">
            <a:alphaModFix/>
          </a:blip>
          <a:srcRect b="0" l="0" r="0" t="0"/>
          <a:stretch/>
        </p:blipFill>
        <p:spPr>
          <a:xfrm>
            <a:off x="1600200" y="1920240"/>
            <a:ext cx="1188720" cy="1188720"/>
          </a:xfrm>
          <a:prstGeom prst="rect">
            <a:avLst/>
          </a:prstGeom>
          <a:noFill/>
          <a:ln>
            <a:noFill/>
          </a:ln>
        </p:spPr>
      </p:pic>
      <p:sp>
        <p:nvSpPr>
          <p:cNvPr id="25" name="Google Shape;25;p4"/>
          <p:cNvSpPr/>
          <p:nvPr/>
        </p:nvSpPr>
        <p:spPr>
          <a:xfrm>
            <a:off x="731520" y="3291840"/>
            <a:ext cx="29260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937"/>
              </a:buClr>
              <a:buSzPts val="1800"/>
              <a:buFont typeface="Arial"/>
              <a:buNone/>
            </a:pPr>
            <a:r>
              <a:rPr b="1" lang="en-US" sz="1800">
                <a:solidFill>
                  <a:srgbClr val="1F2937"/>
                </a:solidFill>
                <a:latin typeface="Arial"/>
                <a:ea typeface="Arial"/>
                <a:cs typeface="Arial"/>
                <a:sym typeface="Arial"/>
              </a:rPr>
              <a:t>Amirali Ebrahimi</a:t>
            </a:r>
            <a:endParaRPr sz="1800">
              <a:solidFill>
                <a:schemeClr val="dk1"/>
              </a:solidFill>
              <a:latin typeface="Calibri"/>
              <a:ea typeface="Calibri"/>
              <a:cs typeface="Calibri"/>
              <a:sym typeface="Calibri"/>
            </a:endParaRPr>
          </a:p>
        </p:txBody>
      </p:sp>
      <p:sp>
        <p:nvSpPr>
          <p:cNvPr id="26" name="Google Shape;26;p4"/>
          <p:cNvSpPr/>
          <p:nvPr/>
        </p:nvSpPr>
        <p:spPr>
          <a:xfrm>
            <a:off x="731520" y="3703320"/>
            <a:ext cx="2926080"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9F6E"/>
              </a:buClr>
              <a:buSzPts val="1300"/>
              <a:buFont typeface="Arial"/>
              <a:buNone/>
            </a:pPr>
            <a:r>
              <a:rPr lang="en-US" sz="1300">
                <a:solidFill>
                  <a:srgbClr val="0E9F6E"/>
                </a:solidFill>
                <a:latin typeface="Arial"/>
                <a:ea typeface="Arial"/>
                <a:cs typeface="Arial"/>
                <a:sym typeface="Arial"/>
              </a:rPr>
              <a:t>Digital Design Engineer</a:t>
            </a:r>
            <a:endParaRPr sz="1300">
              <a:solidFill>
                <a:schemeClr val="dk1"/>
              </a:solidFill>
              <a:latin typeface="Calibri"/>
              <a:ea typeface="Calibri"/>
              <a:cs typeface="Calibri"/>
              <a:sym typeface="Calibri"/>
            </a:endParaRPr>
          </a:p>
        </p:txBody>
      </p:sp>
      <p:sp>
        <p:nvSpPr>
          <p:cNvPr id="27" name="Google Shape;27;p4"/>
          <p:cNvSpPr/>
          <p:nvPr/>
        </p:nvSpPr>
        <p:spPr>
          <a:xfrm>
            <a:off x="731520" y="5806440"/>
            <a:ext cx="292608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B7C"/>
              </a:buClr>
              <a:buSzPts val="1100"/>
              <a:buFont typeface="Courier New"/>
              <a:buNone/>
            </a:pPr>
            <a:r>
              <a:rPr lang="en-US" sz="1100">
                <a:solidFill>
                  <a:srgbClr val="5B6B7C"/>
                </a:solidFill>
                <a:latin typeface="Courier New"/>
                <a:ea typeface="Courier New"/>
                <a:cs typeface="Courier New"/>
                <a:sym typeface="Courier New"/>
              </a:rPr>
              <a:t>github.com/AmirAliEbrahimi</a:t>
            </a:r>
            <a:endParaRPr sz="1100">
              <a:solidFill>
                <a:schemeClr val="dk1"/>
              </a:solidFill>
              <a:latin typeface="Calibri"/>
              <a:ea typeface="Calibri"/>
              <a:cs typeface="Calibri"/>
              <a:sym typeface="Calibri"/>
            </a:endParaRPr>
          </a:p>
        </p:txBody>
      </p:sp>
      <p:sp>
        <p:nvSpPr>
          <p:cNvPr id="28" name="Google Shape;28;p4"/>
          <p:cNvSpPr/>
          <p:nvPr/>
        </p:nvSpPr>
        <p:spPr>
          <a:xfrm>
            <a:off x="4114800" y="1554480"/>
            <a:ext cx="7498080" cy="1280160"/>
          </a:xfrm>
          <a:prstGeom prst="roundRect">
            <a:avLst>
              <a:gd fmla="val 7143" name="adj"/>
            </a:avLst>
          </a:prstGeom>
          <a:solidFill>
            <a:srgbClr val="F4F6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4"/>
          <p:cNvSpPr/>
          <p:nvPr/>
        </p:nvSpPr>
        <p:spPr>
          <a:xfrm>
            <a:off x="4343400" y="1911096"/>
            <a:ext cx="566928" cy="566928"/>
          </a:xfrm>
          <a:prstGeom prst="ellipse">
            <a:avLst/>
          </a:prstGeom>
          <a:solidFill>
            <a:srgbClr val="0E9F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0" name="Google Shape;30;p4"/>
          <p:cNvPicPr preferRelativeResize="0"/>
          <p:nvPr/>
        </p:nvPicPr>
        <p:blipFill rotWithShape="1">
          <a:blip r:embed="rId4">
            <a:alphaModFix/>
          </a:blip>
          <a:srcRect b="0" l="0" r="0" t="0"/>
          <a:stretch/>
        </p:blipFill>
        <p:spPr>
          <a:xfrm>
            <a:off x="4490801" y="2058497"/>
            <a:ext cx="272125" cy="272125"/>
          </a:xfrm>
          <a:prstGeom prst="rect">
            <a:avLst/>
          </a:prstGeom>
          <a:noFill/>
          <a:ln>
            <a:noFill/>
          </a:ln>
        </p:spPr>
      </p:pic>
      <p:sp>
        <p:nvSpPr>
          <p:cNvPr id="31" name="Google Shape;31;p4"/>
          <p:cNvSpPr/>
          <p:nvPr/>
        </p:nvSpPr>
        <p:spPr>
          <a:xfrm>
            <a:off x="5120640" y="1810512"/>
            <a:ext cx="64008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600"/>
              <a:buFont typeface="Arial"/>
              <a:buNone/>
            </a:pPr>
            <a:r>
              <a:rPr b="1" lang="en-US" sz="1600">
                <a:solidFill>
                  <a:srgbClr val="1F2937"/>
                </a:solidFill>
                <a:latin typeface="Arial"/>
                <a:ea typeface="Arial"/>
                <a:cs typeface="Arial"/>
                <a:sym typeface="Arial"/>
              </a:rPr>
              <a:t>FPGA / ASIC RTL, front-end design</a:t>
            </a:r>
            <a:endParaRPr sz="1600">
              <a:solidFill>
                <a:schemeClr val="dk1"/>
              </a:solidFill>
              <a:latin typeface="Calibri"/>
              <a:ea typeface="Calibri"/>
              <a:cs typeface="Calibri"/>
              <a:sym typeface="Calibri"/>
            </a:endParaRPr>
          </a:p>
        </p:txBody>
      </p:sp>
      <p:sp>
        <p:nvSpPr>
          <p:cNvPr id="32" name="Google Shape;32;p4"/>
          <p:cNvSpPr/>
          <p:nvPr/>
        </p:nvSpPr>
        <p:spPr>
          <a:xfrm>
            <a:off x="5120640" y="2212848"/>
            <a:ext cx="64008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C"/>
              </a:buClr>
              <a:buSzPts val="1300"/>
              <a:buFont typeface="Arial"/>
              <a:buNone/>
            </a:pPr>
            <a:r>
              <a:rPr lang="en-US" sz="1300">
                <a:solidFill>
                  <a:srgbClr val="5B6B7C"/>
                </a:solidFill>
                <a:latin typeface="Arial"/>
                <a:ea typeface="Arial"/>
                <a:cs typeface="Arial"/>
                <a:sym typeface="Arial"/>
              </a:rPr>
              <a:t>Almost 5 years of design and verification</a:t>
            </a:r>
            <a:endParaRPr sz="1300">
              <a:solidFill>
                <a:schemeClr val="dk1"/>
              </a:solidFill>
              <a:latin typeface="Calibri"/>
              <a:ea typeface="Calibri"/>
              <a:cs typeface="Calibri"/>
              <a:sym typeface="Calibri"/>
            </a:endParaRPr>
          </a:p>
        </p:txBody>
      </p:sp>
      <p:sp>
        <p:nvSpPr>
          <p:cNvPr id="33" name="Google Shape;33;p4"/>
          <p:cNvSpPr/>
          <p:nvPr/>
        </p:nvSpPr>
        <p:spPr>
          <a:xfrm>
            <a:off x="4114800" y="3108960"/>
            <a:ext cx="7498080" cy="1280160"/>
          </a:xfrm>
          <a:prstGeom prst="roundRect">
            <a:avLst>
              <a:gd fmla="val 7143" name="adj"/>
            </a:avLst>
          </a:prstGeom>
          <a:solidFill>
            <a:srgbClr val="F4F6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a:off x="4343400" y="3465576"/>
            <a:ext cx="566928" cy="566928"/>
          </a:xfrm>
          <a:prstGeom prst="ellipse">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5" name="Google Shape;35;p4"/>
          <p:cNvPicPr preferRelativeResize="0"/>
          <p:nvPr/>
        </p:nvPicPr>
        <p:blipFill rotWithShape="1">
          <a:blip r:embed="rId5">
            <a:alphaModFix/>
          </a:blip>
          <a:srcRect b="0" l="0" r="0" t="0"/>
          <a:stretch/>
        </p:blipFill>
        <p:spPr>
          <a:xfrm>
            <a:off x="4490801" y="3612977"/>
            <a:ext cx="272125" cy="272125"/>
          </a:xfrm>
          <a:prstGeom prst="rect">
            <a:avLst/>
          </a:prstGeom>
          <a:noFill/>
          <a:ln>
            <a:noFill/>
          </a:ln>
        </p:spPr>
      </p:pic>
      <p:sp>
        <p:nvSpPr>
          <p:cNvPr id="36" name="Google Shape;36;p4"/>
          <p:cNvSpPr/>
          <p:nvPr/>
        </p:nvSpPr>
        <p:spPr>
          <a:xfrm>
            <a:off x="5120640" y="3364992"/>
            <a:ext cx="64008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600"/>
              <a:buFont typeface="Arial"/>
              <a:buNone/>
            </a:pPr>
            <a:r>
              <a:rPr b="1" lang="en-US" sz="1600">
                <a:solidFill>
                  <a:srgbClr val="1F2937"/>
                </a:solidFill>
                <a:latin typeface="Arial"/>
                <a:ea typeface="Arial"/>
                <a:cs typeface="Arial"/>
                <a:sym typeface="Arial"/>
              </a:rPr>
              <a:t>Embedded systems</a:t>
            </a:r>
            <a:endParaRPr sz="1600">
              <a:solidFill>
                <a:schemeClr val="dk1"/>
              </a:solidFill>
              <a:latin typeface="Calibri"/>
              <a:ea typeface="Calibri"/>
              <a:cs typeface="Calibri"/>
              <a:sym typeface="Calibri"/>
            </a:endParaRPr>
          </a:p>
        </p:txBody>
      </p:sp>
      <p:sp>
        <p:nvSpPr>
          <p:cNvPr id="37" name="Google Shape;37;p4"/>
          <p:cNvSpPr/>
          <p:nvPr/>
        </p:nvSpPr>
        <p:spPr>
          <a:xfrm>
            <a:off x="5120640" y="3767328"/>
            <a:ext cx="64008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C"/>
              </a:buClr>
              <a:buSzPts val="1300"/>
              <a:buFont typeface="Arial"/>
              <a:buNone/>
            </a:pPr>
            <a:r>
              <a:rPr lang="en-US" sz="1300">
                <a:solidFill>
                  <a:srgbClr val="5B6B7C"/>
                </a:solidFill>
                <a:latin typeface="Arial"/>
                <a:ea typeface="Arial"/>
                <a:cs typeface="Arial"/>
                <a:sym typeface="Arial"/>
              </a:rPr>
              <a:t>From Machine Code to End-user Application</a:t>
            </a:r>
            <a:endParaRPr sz="1300">
              <a:solidFill>
                <a:schemeClr val="dk1"/>
              </a:solidFill>
              <a:latin typeface="Calibri"/>
              <a:ea typeface="Calibri"/>
              <a:cs typeface="Calibri"/>
              <a:sym typeface="Calibri"/>
            </a:endParaRPr>
          </a:p>
        </p:txBody>
      </p:sp>
      <p:sp>
        <p:nvSpPr>
          <p:cNvPr id="38" name="Google Shape;38;p4"/>
          <p:cNvSpPr/>
          <p:nvPr/>
        </p:nvSpPr>
        <p:spPr>
          <a:xfrm>
            <a:off x="4114800" y="4663440"/>
            <a:ext cx="7498080" cy="1280160"/>
          </a:xfrm>
          <a:prstGeom prst="roundRect">
            <a:avLst>
              <a:gd fmla="val 7143" name="adj"/>
            </a:avLst>
          </a:prstGeom>
          <a:solidFill>
            <a:srgbClr val="F4F6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4"/>
          <p:cNvSpPr/>
          <p:nvPr/>
        </p:nvSpPr>
        <p:spPr>
          <a:xfrm>
            <a:off x="4343400" y="5020056"/>
            <a:ext cx="566928" cy="566928"/>
          </a:xfrm>
          <a:prstGeom prst="ellipse">
            <a:avLst/>
          </a:prstGeom>
          <a:solidFill>
            <a:srgbClr val="D9770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0" name="Google Shape;40;p4"/>
          <p:cNvPicPr preferRelativeResize="0"/>
          <p:nvPr/>
        </p:nvPicPr>
        <p:blipFill rotWithShape="1">
          <a:blip r:embed="rId6">
            <a:alphaModFix/>
          </a:blip>
          <a:srcRect b="0" l="0" r="0" t="0"/>
          <a:stretch/>
        </p:blipFill>
        <p:spPr>
          <a:xfrm>
            <a:off x="4490801" y="5167457"/>
            <a:ext cx="272125" cy="272125"/>
          </a:xfrm>
          <a:prstGeom prst="rect">
            <a:avLst/>
          </a:prstGeom>
          <a:noFill/>
          <a:ln>
            <a:noFill/>
          </a:ln>
        </p:spPr>
      </p:pic>
      <p:sp>
        <p:nvSpPr>
          <p:cNvPr id="41" name="Google Shape;41;p4"/>
          <p:cNvSpPr/>
          <p:nvPr/>
        </p:nvSpPr>
        <p:spPr>
          <a:xfrm>
            <a:off x="5120640" y="4919472"/>
            <a:ext cx="64008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600"/>
              <a:buFont typeface="Arial"/>
              <a:buNone/>
            </a:pPr>
            <a:r>
              <a:rPr b="1" lang="en-US" sz="1600">
                <a:solidFill>
                  <a:srgbClr val="1F2937"/>
                </a:solidFill>
                <a:latin typeface="Arial"/>
                <a:ea typeface="Arial"/>
                <a:cs typeface="Arial"/>
                <a:sym typeface="Arial"/>
              </a:rPr>
              <a:t>FPGA &amp; soft IP MCUs on the side</a:t>
            </a:r>
            <a:endParaRPr sz="1600">
              <a:solidFill>
                <a:schemeClr val="dk1"/>
              </a:solidFill>
              <a:latin typeface="Calibri"/>
              <a:ea typeface="Calibri"/>
              <a:cs typeface="Calibri"/>
              <a:sym typeface="Calibri"/>
            </a:endParaRPr>
          </a:p>
        </p:txBody>
      </p:sp>
      <p:sp>
        <p:nvSpPr>
          <p:cNvPr id="42" name="Google Shape;42;p4"/>
          <p:cNvSpPr/>
          <p:nvPr/>
        </p:nvSpPr>
        <p:spPr>
          <a:xfrm>
            <a:off x="5120640" y="5321808"/>
            <a:ext cx="64008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C"/>
              </a:buClr>
              <a:buSzPts val="1300"/>
              <a:buFont typeface="Arial"/>
              <a:buNone/>
            </a:pPr>
            <a:r>
              <a:rPr lang="en-US" sz="1300">
                <a:solidFill>
                  <a:srgbClr val="5B6B7C"/>
                </a:solidFill>
                <a:latin typeface="Arial"/>
                <a:ea typeface="Arial"/>
                <a:cs typeface="Arial"/>
                <a:sym typeface="Arial"/>
              </a:rPr>
              <a:t>x86, SPARC, RISC-V, and more</a:t>
            </a:r>
            <a:endParaRPr sz="13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 name="Shape 47"/>
        <p:cNvGrpSpPr/>
        <p:nvPr/>
      </p:nvGrpSpPr>
      <p:grpSpPr>
        <a:xfrm>
          <a:off x="0" y="0"/>
          <a:ext cx="0" cy="0"/>
          <a:chOff x="0" y="0"/>
          <a:chExt cx="0" cy="0"/>
        </a:xfrm>
      </p:grpSpPr>
      <p:sp>
        <p:nvSpPr>
          <p:cNvPr id="48" name="Google Shape;48;p5"/>
          <p:cNvSpPr/>
          <p:nvPr/>
        </p:nvSpPr>
        <p:spPr>
          <a:xfrm>
            <a:off x="548640" y="292608"/>
            <a:ext cx="110642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3000"/>
              <a:buFont typeface="Arial"/>
              <a:buNone/>
            </a:pPr>
            <a:r>
              <a:rPr b="1" lang="en-US" sz="3000">
                <a:solidFill>
                  <a:srgbClr val="1F2937"/>
                </a:solidFill>
                <a:latin typeface="Arial"/>
                <a:ea typeface="Arial"/>
                <a:cs typeface="Arial"/>
                <a:sym typeface="Arial"/>
              </a:rPr>
              <a:t>The goal: CVA5 anyone can pick up in a weekend</a:t>
            </a:r>
            <a:endParaRPr sz="3000">
              <a:solidFill>
                <a:schemeClr val="dk1"/>
              </a:solidFill>
              <a:latin typeface="Calibri"/>
              <a:ea typeface="Calibri"/>
              <a:cs typeface="Calibri"/>
              <a:sym typeface="Calibri"/>
            </a:endParaRPr>
          </a:p>
        </p:txBody>
      </p:sp>
      <p:sp>
        <p:nvSpPr>
          <p:cNvPr id="49" name="Google Shape;49;p5"/>
          <p:cNvSpPr/>
          <p:nvPr/>
        </p:nvSpPr>
        <p:spPr>
          <a:xfrm>
            <a:off x="548640" y="896112"/>
            <a:ext cx="11064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C"/>
              </a:buClr>
              <a:buSzPts val="1400"/>
              <a:buFont typeface="Arial"/>
              <a:buNone/>
            </a:pPr>
            <a:r>
              <a:rPr lang="en-US" sz="1400">
                <a:solidFill>
                  <a:srgbClr val="5B6B7C"/>
                </a:solidFill>
                <a:latin typeface="Arial"/>
                <a:ea typeface="Arial"/>
                <a:cs typeface="Arial"/>
                <a:sym typeface="Arial"/>
              </a:rPr>
              <a:t>An onboarding path to RISC-V with no FPGA background assumed</a:t>
            </a:r>
            <a:endParaRPr sz="1400">
              <a:solidFill>
                <a:schemeClr val="dk1"/>
              </a:solidFill>
              <a:latin typeface="Calibri"/>
              <a:ea typeface="Calibri"/>
              <a:cs typeface="Calibri"/>
              <a:sym typeface="Calibri"/>
            </a:endParaRPr>
          </a:p>
        </p:txBody>
      </p:sp>
      <p:sp>
        <p:nvSpPr>
          <p:cNvPr id="50" name="Google Shape;50;p5"/>
          <p:cNvSpPr/>
          <p:nvPr/>
        </p:nvSpPr>
        <p:spPr>
          <a:xfrm>
            <a:off x="548640" y="1691640"/>
            <a:ext cx="3611880" cy="3383280"/>
          </a:xfrm>
          <a:prstGeom prst="roundRect">
            <a:avLst>
              <a:gd fmla="val 3243" name="adj"/>
            </a:avLst>
          </a:prstGeom>
          <a:solidFill>
            <a:srgbClr val="F4F6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a:off x="822960" y="1965960"/>
            <a:ext cx="685800" cy="685800"/>
          </a:xfrm>
          <a:prstGeom prst="ellipse">
            <a:avLst/>
          </a:prstGeom>
          <a:solidFill>
            <a:srgbClr val="0E9F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2" name="Google Shape;52;p5"/>
          <p:cNvPicPr preferRelativeResize="0"/>
          <p:nvPr/>
        </p:nvPicPr>
        <p:blipFill rotWithShape="1">
          <a:blip r:embed="rId3">
            <a:alphaModFix/>
          </a:blip>
          <a:srcRect b="0" l="0" r="0" t="0"/>
          <a:stretch/>
        </p:blipFill>
        <p:spPr>
          <a:xfrm>
            <a:off x="1001268" y="2144268"/>
            <a:ext cx="329184" cy="329184"/>
          </a:xfrm>
          <a:prstGeom prst="rect">
            <a:avLst/>
          </a:prstGeom>
          <a:noFill/>
          <a:ln>
            <a:noFill/>
          </a:ln>
        </p:spPr>
      </p:pic>
      <p:sp>
        <p:nvSpPr>
          <p:cNvPr id="53" name="Google Shape;53;p5"/>
          <p:cNvSpPr/>
          <p:nvPr/>
        </p:nvSpPr>
        <p:spPr>
          <a:xfrm>
            <a:off x="822960" y="2834640"/>
            <a:ext cx="3063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700"/>
              <a:buFont typeface="Arial"/>
              <a:buNone/>
            </a:pPr>
            <a:r>
              <a:rPr b="1" lang="en-US" sz="1700">
                <a:solidFill>
                  <a:srgbClr val="1F2937"/>
                </a:solidFill>
                <a:latin typeface="Arial"/>
                <a:ea typeface="Arial"/>
                <a:cs typeface="Arial"/>
                <a:sym typeface="Arial"/>
              </a:rPr>
              <a:t>Self contained</a:t>
            </a:r>
            <a:endParaRPr sz="1700">
              <a:solidFill>
                <a:schemeClr val="dk1"/>
              </a:solidFill>
              <a:latin typeface="Calibri"/>
              <a:ea typeface="Calibri"/>
              <a:cs typeface="Calibri"/>
              <a:sym typeface="Calibri"/>
            </a:endParaRPr>
          </a:p>
        </p:txBody>
      </p:sp>
      <p:sp>
        <p:nvSpPr>
          <p:cNvPr id="54" name="Google Shape;54;p5"/>
          <p:cNvSpPr/>
          <p:nvPr/>
        </p:nvSpPr>
        <p:spPr>
          <a:xfrm>
            <a:off x="822960" y="3246120"/>
            <a:ext cx="3063240" cy="1691640"/>
          </a:xfrm>
          <a:prstGeom prst="rect">
            <a:avLst/>
          </a:prstGeom>
          <a:noFill/>
          <a:ln>
            <a:noFill/>
          </a:ln>
        </p:spPr>
        <p:txBody>
          <a:bodyPr anchorCtr="0" anchor="ctr" bIns="0" lIns="0" spcFirstLastPara="1" rIns="0" wrap="square" tIns="0">
            <a:noAutofit/>
          </a:bodyPr>
          <a:lstStyle/>
          <a:p>
            <a:pPr indent="0" lvl="0" marL="0" marR="0" rtl="0" algn="just">
              <a:spcBef>
                <a:spcPts val="0"/>
              </a:spcBef>
              <a:spcAft>
                <a:spcPts val="0"/>
              </a:spcAft>
              <a:buClr>
                <a:srgbClr val="5B6B7C"/>
              </a:buClr>
              <a:buSzPts val="1300"/>
              <a:buFont typeface="Arial"/>
              <a:buNone/>
            </a:pPr>
            <a:r>
              <a:rPr lang="en-US" sz="1300">
                <a:solidFill>
                  <a:srgbClr val="5B6B7C"/>
                </a:solidFill>
                <a:latin typeface="Arial"/>
                <a:ea typeface="Arial"/>
                <a:cs typeface="Arial"/>
                <a:sym typeface="Arial"/>
              </a:rPr>
              <a:t>A clean clone runs in simulation with two make commands. No Taiga project or any external build framework needed.</a:t>
            </a:r>
            <a:endParaRPr sz="1300">
              <a:solidFill>
                <a:schemeClr val="dk1"/>
              </a:solidFill>
              <a:latin typeface="Calibri"/>
              <a:ea typeface="Calibri"/>
              <a:cs typeface="Calibri"/>
              <a:sym typeface="Calibri"/>
            </a:endParaRPr>
          </a:p>
        </p:txBody>
      </p:sp>
      <p:sp>
        <p:nvSpPr>
          <p:cNvPr id="55" name="Google Shape;55;p5"/>
          <p:cNvSpPr/>
          <p:nvPr/>
        </p:nvSpPr>
        <p:spPr>
          <a:xfrm>
            <a:off x="4343400" y="1691640"/>
            <a:ext cx="3611880" cy="3383280"/>
          </a:xfrm>
          <a:prstGeom prst="roundRect">
            <a:avLst>
              <a:gd fmla="val 3243" name="adj"/>
            </a:avLst>
          </a:prstGeom>
          <a:solidFill>
            <a:srgbClr val="F4F6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5"/>
          <p:cNvSpPr/>
          <p:nvPr/>
        </p:nvSpPr>
        <p:spPr>
          <a:xfrm>
            <a:off x="4617720" y="1965960"/>
            <a:ext cx="685800" cy="685800"/>
          </a:xfrm>
          <a:prstGeom prst="ellipse">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7" name="Google Shape;57;p5"/>
          <p:cNvPicPr preferRelativeResize="0"/>
          <p:nvPr/>
        </p:nvPicPr>
        <p:blipFill rotWithShape="1">
          <a:blip r:embed="rId4">
            <a:alphaModFix/>
          </a:blip>
          <a:srcRect b="0" l="0" r="0" t="0"/>
          <a:stretch/>
        </p:blipFill>
        <p:spPr>
          <a:xfrm>
            <a:off x="4796028" y="2144268"/>
            <a:ext cx="329184" cy="329184"/>
          </a:xfrm>
          <a:prstGeom prst="rect">
            <a:avLst/>
          </a:prstGeom>
          <a:noFill/>
          <a:ln>
            <a:noFill/>
          </a:ln>
        </p:spPr>
      </p:pic>
      <p:sp>
        <p:nvSpPr>
          <p:cNvPr id="58" name="Google Shape;58;p5"/>
          <p:cNvSpPr/>
          <p:nvPr/>
        </p:nvSpPr>
        <p:spPr>
          <a:xfrm>
            <a:off x="4617720" y="2834640"/>
            <a:ext cx="3063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700"/>
              <a:buFont typeface="Arial"/>
              <a:buNone/>
            </a:pPr>
            <a:r>
              <a:rPr b="1" lang="en-US" sz="1700">
                <a:solidFill>
                  <a:srgbClr val="1F2937"/>
                </a:solidFill>
                <a:latin typeface="Arial"/>
                <a:ea typeface="Arial"/>
                <a:cs typeface="Arial"/>
                <a:sym typeface="Arial"/>
              </a:rPr>
              <a:t>Modular blocks</a:t>
            </a:r>
            <a:endParaRPr sz="1700">
              <a:solidFill>
                <a:schemeClr val="dk1"/>
              </a:solidFill>
              <a:latin typeface="Calibri"/>
              <a:ea typeface="Calibri"/>
              <a:cs typeface="Calibri"/>
              <a:sym typeface="Calibri"/>
            </a:endParaRPr>
          </a:p>
        </p:txBody>
      </p:sp>
      <p:sp>
        <p:nvSpPr>
          <p:cNvPr id="59" name="Google Shape;59;p5"/>
          <p:cNvSpPr/>
          <p:nvPr/>
        </p:nvSpPr>
        <p:spPr>
          <a:xfrm>
            <a:off x="4617720" y="3246120"/>
            <a:ext cx="3063240" cy="1691640"/>
          </a:xfrm>
          <a:prstGeom prst="rect">
            <a:avLst/>
          </a:prstGeom>
          <a:noFill/>
          <a:ln>
            <a:noFill/>
          </a:ln>
        </p:spPr>
        <p:txBody>
          <a:bodyPr anchorCtr="0" anchor="ctr" bIns="0" lIns="0" spcFirstLastPara="1" rIns="0" wrap="square" tIns="0">
            <a:noAutofit/>
          </a:bodyPr>
          <a:lstStyle/>
          <a:p>
            <a:pPr indent="0" lvl="0" marL="0" marR="0" rtl="0" algn="just">
              <a:spcBef>
                <a:spcPts val="0"/>
              </a:spcBef>
              <a:spcAft>
                <a:spcPts val="0"/>
              </a:spcAft>
              <a:buClr>
                <a:srgbClr val="5B6B7C"/>
              </a:buClr>
              <a:buSzPts val="1300"/>
              <a:buFont typeface="Arial"/>
              <a:buNone/>
            </a:pPr>
            <a:r>
              <a:rPr lang="en-US" sz="1300">
                <a:solidFill>
                  <a:srgbClr val="5B6B7C"/>
                </a:solidFill>
                <a:latin typeface="Arial"/>
                <a:ea typeface="Arial"/>
                <a:cs typeface="Arial"/>
                <a:sym typeface="Arial"/>
              </a:rPr>
              <a:t>The project is split into small blocks that work as tutorials: spec, then code, then simulation/implementation</a:t>
            </a:r>
            <a:endParaRPr sz="1300">
              <a:solidFill>
                <a:schemeClr val="dk1"/>
              </a:solidFill>
              <a:latin typeface="Calibri"/>
              <a:ea typeface="Calibri"/>
              <a:cs typeface="Calibri"/>
              <a:sym typeface="Calibri"/>
            </a:endParaRPr>
          </a:p>
        </p:txBody>
      </p:sp>
      <p:sp>
        <p:nvSpPr>
          <p:cNvPr id="60" name="Google Shape;60;p5"/>
          <p:cNvSpPr/>
          <p:nvPr/>
        </p:nvSpPr>
        <p:spPr>
          <a:xfrm>
            <a:off x="8138160" y="1691640"/>
            <a:ext cx="3611880" cy="3383280"/>
          </a:xfrm>
          <a:prstGeom prst="roundRect">
            <a:avLst>
              <a:gd fmla="val 3243" name="adj"/>
            </a:avLst>
          </a:prstGeom>
          <a:solidFill>
            <a:srgbClr val="EAF6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5"/>
          <p:cNvSpPr/>
          <p:nvPr/>
        </p:nvSpPr>
        <p:spPr>
          <a:xfrm>
            <a:off x="8412480" y="1965960"/>
            <a:ext cx="685800" cy="685800"/>
          </a:xfrm>
          <a:prstGeom prst="ellipse">
            <a:avLst/>
          </a:prstGeom>
          <a:solidFill>
            <a:srgbClr val="D9770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2" name="Google Shape;62;p5"/>
          <p:cNvPicPr preferRelativeResize="0"/>
          <p:nvPr/>
        </p:nvPicPr>
        <p:blipFill rotWithShape="1">
          <a:blip r:embed="rId5">
            <a:alphaModFix/>
          </a:blip>
          <a:srcRect b="0" l="0" r="0" t="0"/>
          <a:stretch/>
        </p:blipFill>
        <p:spPr>
          <a:xfrm>
            <a:off x="8590788" y="2144268"/>
            <a:ext cx="329184" cy="329184"/>
          </a:xfrm>
          <a:prstGeom prst="rect">
            <a:avLst/>
          </a:prstGeom>
          <a:noFill/>
          <a:ln>
            <a:noFill/>
          </a:ln>
        </p:spPr>
      </p:pic>
      <p:sp>
        <p:nvSpPr>
          <p:cNvPr id="63" name="Google Shape;63;p5"/>
          <p:cNvSpPr/>
          <p:nvPr/>
        </p:nvSpPr>
        <p:spPr>
          <a:xfrm>
            <a:off x="8412480" y="2834640"/>
            <a:ext cx="3063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700"/>
              <a:buFont typeface="Arial"/>
              <a:buNone/>
            </a:pPr>
            <a:r>
              <a:rPr b="1" lang="en-US" sz="1700">
                <a:solidFill>
                  <a:srgbClr val="1F2937"/>
                </a:solidFill>
                <a:latin typeface="Arial"/>
                <a:ea typeface="Arial"/>
                <a:cs typeface="Arial"/>
                <a:sym typeface="Arial"/>
              </a:rPr>
              <a:t>End goal</a:t>
            </a:r>
            <a:endParaRPr sz="1700">
              <a:solidFill>
                <a:schemeClr val="dk1"/>
              </a:solidFill>
              <a:latin typeface="Calibri"/>
              <a:ea typeface="Calibri"/>
              <a:cs typeface="Calibri"/>
              <a:sym typeface="Calibri"/>
            </a:endParaRPr>
          </a:p>
        </p:txBody>
      </p:sp>
      <p:sp>
        <p:nvSpPr>
          <p:cNvPr id="64" name="Google Shape;64;p5"/>
          <p:cNvSpPr/>
          <p:nvPr/>
        </p:nvSpPr>
        <p:spPr>
          <a:xfrm>
            <a:off x="8412480" y="3246120"/>
            <a:ext cx="3063240" cy="1691640"/>
          </a:xfrm>
          <a:prstGeom prst="rect">
            <a:avLst/>
          </a:prstGeom>
          <a:noFill/>
          <a:ln>
            <a:noFill/>
          </a:ln>
        </p:spPr>
        <p:txBody>
          <a:bodyPr anchorCtr="0" anchor="ctr" bIns="0" lIns="0" spcFirstLastPara="1" rIns="0" wrap="square" tIns="0">
            <a:noAutofit/>
          </a:bodyPr>
          <a:lstStyle/>
          <a:p>
            <a:pPr indent="0" lvl="0" marL="0" marR="0" rtl="0" algn="just">
              <a:spcBef>
                <a:spcPts val="0"/>
              </a:spcBef>
              <a:spcAft>
                <a:spcPts val="0"/>
              </a:spcAft>
              <a:buClr>
                <a:srgbClr val="5B6B7C"/>
              </a:buClr>
              <a:buSzPts val="1300"/>
              <a:buFont typeface="Arial"/>
              <a:buNone/>
            </a:pPr>
            <a:r>
              <a:rPr lang="en-US" sz="1300">
                <a:solidFill>
                  <a:srgbClr val="5B6B7C"/>
                </a:solidFill>
                <a:latin typeface="Arial"/>
                <a:ea typeface="Arial"/>
                <a:cs typeface="Arial"/>
                <a:sym typeface="Arial"/>
              </a:rPr>
              <a:t>Anyone can implement a new feature on the CVA5 and see it run in simulation and on hardware.</a:t>
            </a:r>
            <a:endParaRPr sz="1300">
              <a:solidFill>
                <a:schemeClr val="dk1"/>
              </a:solidFill>
              <a:latin typeface="Calibri"/>
              <a:ea typeface="Calibri"/>
              <a:cs typeface="Calibri"/>
              <a:sym typeface="Calibri"/>
            </a:endParaRPr>
          </a:p>
        </p:txBody>
      </p:sp>
      <p:sp>
        <p:nvSpPr>
          <p:cNvPr id="65" name="Google Shape;65;p5"/>
          <p:cNvSpPr/>
          <p:nvPr/>
        </p:nvSpPr>
        <p:spPr>
          <a:xfrm>
            <a:off x="548640" y="5182750"/>
            <a:ext cx="11201400" cy="916125"/>
          </a:xfrm>
          <a:prstGeom prst="roundRect">
            <a:avLst>
              <a:gd fmla="val 7143" name="adj"/>
            </a:avLst>
          </a:prstGeom>
          <a:solidFill>
            <a:srgbClr val="F4F6F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300">
                <a:solidFill>
                  <a:srgbClr val="5B6B7C"/>
                </a:solidFill>
                <a:latin typeface="Arial"/>
                <a:ea typeface="Arial"/>
                <a:cs typeface="Arial"/>
                <a:sym typeface="Arial"/>
              </a:rPr>
              <a:t>Taiga project: </a:t>
            </a:r>
            <a:r>
              <a:rPr lang="en-US" sz="1300">
                <a:solidFill>
                  <a:srgbClr val="5B6B7C"/>
                </a:solidFill>
                <a:latin typeface="Arial"/>
                <a:ea typeface="Arial"/>
                <a:cs typeface="Arial"/>
                <a:sym typeface="Arial"/>
              </a:rPr>
              <a:t>Top-level system wrapper and the full build environment (toolchain, test suites, setup scripts) for the CVA5 Processor</a:t>
            </a:r>
            <a:br>
              <a:rPr lang="en-US" sz="1300">
                <a:solidFill>
                  <a:srgbClr val="5B6B7C"/>
                </a:solidFill>
                <a:latin typeface="Arial"/>
                <a:ea typeface="Arial"/>
                <a:cs typeface="Arial"/>
                <a:sym typeface="Arial"/>
              </a:rPr>
            </a:br>
            <a:br>
              <a:rPr lang="en-US" sz="1300">
                <a:solidFill>
                  <a:srgbClr val="5B6B7C"/>
                </a:solidFill>
                <a:latin typeface="Arial"/>
                <a:ea typeface="Arial"/>
                <a:cs typeface="Arial"/>
                <a:sym typeface="Arial"/>
              </a:rPr>
            </a:br>
            <a:r>
              <a:rPr lang="en-US" sz="1100">
                <a:solidFill>
                  <a:srgbClr val="5B6B7C"/>
                </a:solidFill>
                <a:latin typeface="Courier New"/>
                <a:ea typeface="Courier New"/>
                <a:cs typeface="Courier New"/>
                <a:sym typeface="Courier New"/>
              </a:rPr>
              <a:t>https://gitlab.com/sfu-rcl/taiga-project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0" name="Shape 70"/>
        <p:cNvGrpSpPr/>
        <p:nvPr/>
      </p:nvGrpSpPr>
      <p:grpSpPr>
        <a:xfrm>
          <a:off x="0" y="0"/>
          <a:ext cx="0" cy="0"/>
          <a:chOff x="0" y="0"/>
          <a:chExt cx="0" cy="0"/>
        </a:xfrm>
      </p:grpSpPr>
      <p:sp>
        <p:nvSpPr>
          <p:cNvPr id="71" name="Google Shape;71;p6"/>
          <p:cNvSpPr/>
          <p:nvPr/>
        </p:nvSpPr>
        <p:spPr>
          <a:xfrm>
            <a:off x="548640" y="292608"/>
            <a:ext cx="110642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3000"/>
              <a:buFont typeface="Arial"/>
              <a:buNone/>
            </a:pPr>
            <a:r>
              <a:rPr b="1" lang="en-US" sz="3000">
                <a:solidFill>
                  <a:srgbClr val="1F2937"/>
                </a:solidFill>
                <a:latin typeface="Arial"/>
                <a:ea typeface="Arial"/>
                <a:cs typeface="Arial"/>
                <a:sym typeface="Arial"/>
              </a:rPr>
              <a:t>The plan</a:t>
            </a:r>
            <a:endParaRPr sz="3000">
              <a:solidFill>
                <a:schemeClr val="dk1"/>
              </a:solidFill>
              <a:latin typeface="Calibri"/>
              <a:ea typeface="Calibri"/>
              <a:cs typeface="Calibri"/>
              <a:sym typeface="Calibri"/>
            </a:endParaRPr>
          </a:p>
        </p:txBody>
      </p:sp>
      <p:sp>
        <p:nvSpPr>
          <p:cNvPr id="72" name="Google Shape;72;p6"/>
          <p:cNvSpPr/>
          <p:nvPr/>
        </p:nvSpPr>
        <p:spPr>
          <a:xfrm>
            <a:off x="548640" y="896112"/>
            <a:ext cx="11064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C"/>
              </a:buClr>
              <a:buSzPts val="1400"/>
              <a:buFont typeface="Arial"/>
              <a:buNone/>
            </a:pPr>
            <a:r>
              <a:rPr lang="en-US" sz="1400">
                <a:solidFill>
                  <a:srgbClr val="5B6B7C"/>
                </a:solidFill>
                <a:latin typeface="Arial"/>
                <a:ea typeface="Arial"/>
                <a:cs typeface="Arial"/>
                <a:sym typeface="Arial"/>
              </a:rPr>
              <a:t>Where we are and where this goes</a:t>
            </a:r>
            <a:endParaRPr sz="1400">
              <a:solidFill>
                <a:schemeClr val="dk1"/>
              </a:solidFill>
              <a:latin typeface="Calibri"/>
              <a:ea typeface="Calibri"/>
              <a:cs typeface="Calibri"/>
              <a:sym typeface="Calibri"/>
            </a:endParaRPr>
          </a:p>
        </p:txBody>
      </p:sp>
      <p:cxnSp>
        <p:nvCxnSpPr>
          <p:cNvPr id="73" name="Google Shape;73;p6"/>
          <p:cNvCxnSpPr/>
          <p:nvPr/>
        </p:nvCxnSpPr>
        <p:spPr>
          <a:xfrm>
            <a:off x="1874520" y="1920240"/>
            <a:ext cx="8429854" cy="0"/>
          </a:xfrm>
          <a:prstGeom prst="straightConnector1">
            <a:avLst/>
          </a:prstGeom>
          <a:noFill/>
          <a:ln cap="flat" cmpd="sng" w="31750">
            <a:solidFill>
              <a:srgbClr val="C4CED8"/>
            </a:solidFill>
            <a:prstDash val="solid"/>
            <a:round/>
            <a:headEnd len="sm" w="sm" type="none"/>
            <a:tailEnd len="sm" w="sm" type="none"/>
          </a:ln>
        </p:spPr>
      </p:cxnSp>
      <p:sp>
        <p:nvSpPr>
          <p:cNvPr id="74" name="Google Shape;74;p6"/>
          <p:cNvSpPr/>
          <p:nvPr/>
        </p:nvSpPr>
        <p:spPr>
          <a:xfrm>
            <a:off x="1719072" y="1764792"/>
            <a:ext cx="310896" cy="310896"/>
          </a:xfrm>
          <a:prstGeom prst="ellipse">
            <a:avLst/>
          </a:prstGeom>
          <a:solidFill>
            <a:srgbClr val="EAF6F0"/>
          </a:solidFill>
          <a:ln cap="flat" cmpd="sng" w="19050">
            <a:solidFill>
              <a:srgbClr val="0E9F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6"/>
          <p:cNvSpPr/>
          <p:nvPr/>
        </p:nvSpPr>
        <p:spPr>
          <a:xfrm>
            <a:off x="1796796" y="1842516"/>
            <a:ext cx="155448" cy="155448"/>
          </a:xfrm>
          <a:prstGeom prst="ellipse">
            <a:avLst/>
          </a:prstGeom>
          <a:solidFill>
            <a:srgbClr val="0E9F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6"/>
          <p:cNvSpPr/>
          <p:nvPr/>
        </p:nvSpPr>
        <p:spPr>
          <a:xfrm>
            <a:off x="548640" y="1325880"/>
            <a:ext cx="2651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9F6E"/>
              </a:buClr>
              <a:buSzPts val="1600"/>
              <a:buFont typeface="Arial"/>
              <a:buNone/>
            </a:pPr>
            <a:r>
              <a:rPr b="1" lang="en-US" sz="1600">
                <a:solidFill>
                  <a:srgbClr val="0E9F6E"/>
                </a:solidFill>
                <a:latin typeface="Arial"/>
                <a:ea typeface="Arial"/>
                <a:cs typeface="Arial"/>
                <a:sym typeface="Arial"/>
              </a:rPr>
              <a:t>Q3 2026</a:t>
            </a:r>
            <a:endParaRPr sz="1600">
              <a:solidFill>
                <a:schemeClr val="dk1"/>
              </a:solidFill>
              <a:latin typeface="Calibri"/>
              <a:ea typeface="Calibri"/>
              <a:cs typeface="Calibri"/>
              <a:sym typeface="Calibri"/>
            </a:endParaRPr>
          </a:p>
        </p:txBody>
      </p:sp>
      <p:sp>
        <p:nvSpPr>
          <p:cNvPr id="77" name="Google Shape;77;p6"/>
          <p:cNvSpPr/>
          <p:nvPr/>
        </p:nvSpPr>
        <p:spPr>
          <a:xfrm>
            <a:off x="4606747" y="1842516"/>
            <a:ext cx="155448" cy="155448"/>
          </a:xfrm>
          <a:prstGeom prst="ellipse">
            <a:avLst/>
          </a:prstGeom>
          <a:solidFill>
            <a:srgbClr val="FFFFFF"/>
          </a:solidFill>
          <a:ln cap="flat" cmpd="sng" w="19050">
            <a:solidFill>
              <a:srgbClr val="5B6B7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6"/>
          <p:cNvSpPr/>
          <p:nvPr/>
        </p:nvSpPr>
        <p:spPr>
          <a:xfrm>
            <a:off x="3358591" y="1325880"/>
            <a:ext cx="2651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937"/>
              </a:buClr>
              <a:buSzPts val="1600"/>
              <a:buFont typeface="Arial"/>
              <a:buNone/>
            </a:pPr>
            <a:r>
              <a:rPr b="1" lang="en-US" sz="1600">
                <a:solidFill>
                  <a:srgbClr val="1F2937"/>
                </a:solidFill>
                <a:latin typeface="Arial"/>
                <a:ea typeface="Arial"/>
                <a:cs typeface="Arial"/>
                <a:sym typeface="Arial"/>
              </a:rPr>
              <a:t>Q4 2026</a:t>
            </a:r>
            <a:endParaRPr sz="1600">
              <a:solidFill>
                <a:schemeClr val="dk1"/>
              </a:solidFill>
              <a:latin typeface="Calibri"/>
              <a:ea typeface="Calibri"/>
              <a:cs typeface="Calibri"/>
              <a:sym typeface="Calibri"/>
            </a:endParaRPr>
          </a:p>
        </p:txBody>
      </p:sp>
      <p:sp>
        <p:nvSpPr>
          <p:cNvPr id="79" name="Google Shape;79;p6"/>
          <p:cNvSpPr/>
          <p:nvPr/>
        </p:nvSpPr>
        <p:spPr>
          <a:xfrm>
            <a:off x="7416698" y="1842516"/>
            <a:ext cx="155448" cy="155448"/>
          </a:xfrm>
          <a:prstGeom prst="ellipse">
            <a:avLst/>
          </a:prstGeom>
          <a:solidFill>
            <a:srgbClr val="FFFFFF"/>
          </a:solidFill>
          <a:ln cap="flat" cmpd="sng" w="19050">
            <a:solidFill>
              <a:srgbClr val="5B6B7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6"/>
          <p:cNvSpPr/>
          <p:nvPr/>
        </p:nvSpPr>
        <p:spPr>
          <a:xfrm>
            <a:off x="6168542" y="1325880"/>
            <a:ext cx="2651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937"/>
              </a:buClr>
              <a:buSzPts val="1600"/>
              <a:buFont typeface="Arial"/>
              <a:buNone/>
            </a:pPr>
            <a:r>
              <a:rPr b="1" lang="en-US" sz="1600">
                <a:solidFill>
                  <a:srgbClr val="1F2937"/>
                </a:solidFill>
                <a:latin typeface="Arial"/>
                <a:ea typeface="Arial"/>
                <a:cs typeface="Arial"/>
                <a:sym typeface="Arial"/>
              </a:rPr>
              <a:t>Q1 2027</a:t>
            </a:r>
            <a:endParaRPr sz="1600">
              <a:solidFill>
                <a:schemeClr val="dk1"/>
              </a:solidFill>
              <a:latin typeface="Calibri"/>
              <a:ea typeface="Calibri"/>
              <a:cs typeface="Calibri"/>
              <a:sym typeface="Calibri"/>
            </a:endParaRPr>
          </a:p>
        </p:txBody>
      </p:sp>
      <p:sp>
        <p:nvSpPr>
          <p:cNvPr id="81" name="Google Shape;81;p6"/>
          <p:cNvSpPr/>
          <p:nvPr/>
        </p:nvSpPr>
        <p:spPr>
          <a:xfrm>
            <a:off x="10226650" y="1842516"/>
            <a:ext cx="155448" cy="155448"/>
          </a:xfrm>
          <a:prstGeom prst="ellipse">
            <a:avLst/>
          </a:prstGeom>
          <a:solidFill>
            <a:srgbClr val="FFFFFF"/>
          </a:solidFill>
          <a:ln cap="flat" cmpd="sng" w="19050">
            <a:solidFill>
              <a:srgbClr val="5B6B7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6"/>
          <p:cNvSpPr/>
          <p:nvPr/>
        </p:nvSpPr>
        <p:spPr>
          <a:xfrm>
            <a:off x="8978494" y="1325880"/>
            <a:ext cx="2651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937"/>
              </a:buClr>
              <a:buSzPts val="1600"/>
              <a:buFont typeface="Arial"/>
              <a:buNone/>
            </a:pPr>
            <a:r>
              <a:rPr b="1" lang="en-US" sz="1600">
                <a:solidFill>
                  <a:srgbClr val="1F2937"/>
                </a:solidFill>
                <a:latin typeface="Arial"/>
                <a:ea typeface="Arial"/>
                <a:cs typeface="Arial"/>
                <a:sym typeface="Arial"/>
              </a:rPr>
              <a:t>Q2 2027</a:t>
            </a:r>
            <a:endParaRPr sz="1600">
              <a:solidFill>
                <a:schemeClr val="dk1"/>
              </a:solidFill>
              <a:latin typeface="Calibri"/>
              <a:ea typeface="Calibri"/>
              <a:cs typeface="Calibri"/>
              <a:sym typeface="Calibri"/>
            </a:endParaRPr>
          </a:p>
        </p:txBody>
      </p:sp>
      <p:sp>
        <p:nvSpPr>
          <p:cNvPr id="83" name="Google Shape;83;p6"/>
          <p:cNvSpPr/>
          <p:nvPr/>
        </p:nvSpPr>
        <p:spPr>
          <a:xfrm>
            <a:off x="548640" y="2121408"/>
            <a:ext cx="265176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9F6E"/>
              </a:buClr>
              <a:buSzPts val="1050"/>
              <a:buFont typeface="Arial"/>
              <a:buNone/>
            </a:pPr>
            <a:r>
              <a:rPr i="1" lang="en-US" sz="1050">
                <a:solidFill>
                  <a:srgbClr val="0E9F6E"/>
                </a:solidFill>
                <a:latin typeface="Arial"/>
                <a:ea typeface="Arial"/>
                <a:cs typeface="Arial"/>
                <a:sym typeface="Arial"/>
              </a:rPr>
              <a:t>this update</a:t>
            </a:r>
            <a:endParaRPr sz="1050">
              <a:solidFill>
                <a:schemeClr val="dk1"/>
              </a:solidFill>
              <a:latin typeface="Calibri"/>
              <a:ea typeface="Calibri"/>
              <a:cs typeface="Calibri"/>
              <a:sym typeface="Calibri"/>
            </a:endParaRPr>
          </a:p>
        </p:txBody>
      </p:sp>
      <p:sp>
        <p:nvSpPr>
          <p:cNvPr id="84" name="Google Shape;84;p6"/>
          <p:cNvSpPr/>
          <p:nvPr/>
        </p:nvSpPr>
        <p:spPr>
          <a:xfrm>
            <a:off x="548640" y="2514600"/>
            <a:ext cx="2651760" cy="3749040"/>
          </a:xfrm>
          <a:prstGeom prst="roundRect">
            <a:avLst>
              <a:gd fmla="val 3448" name="adj"/>
            </a:avLst>
          </a:prstGeom>
          <a:solidFill>
            <a:srgbClr val="EAF6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6"/>
          <p:cNvSpPr/>
          <p:nvPr/>
        </p:nvSpPr>
        <p:spPr>
          <a:xfrm>
            <a:off x="749808" y="2697480"/>
            <a:ext cx="2249424"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450"/>
              <a:buFont typeface="Arial"/>
              <a:buNone/>
            </a:pPr>
            <a:r>
              <a:rPr b="1" lang="en-US" sz="1450">
                <a:solidFill>
                  <a:srgbClr val="1F2937"/>
                </a:solidFill>
                <a:latin typeface="Arial"/>
                <a:ea typeface="Arial"/>
                <a:cs typeface="Arial"/>
                <a:sym typeface="Arial"/>
              </a:rPr>
              <a:t>Ramp up on CVA5</a:t>
            </a:r>
            <a:endParaRPr sz="1450">
              <a:solidFill>
                <a:schemeClr val="dk1"/>
              </a:solidFill>
              <a:latin typeface="Calibri"/>
              <a:ea typeface="Calibri"/>
              <a:cs typeface="Calibri"/>
              <a:sym typeface="Calibri"/>
            </a:endParaRPr>
          </a:p>
        </p:txBody>
      </p:sp>
      <p:sp>
        <p:nvSpPr>
          <p:cNvPr id="86" name="Google Shape;86;p6"/>
          <p:cNvSpPr/>
          <p:nvPr/>
        </p:nvSpPr>
        <p:spPr>
          <a:xfrm>
            <a:off x="749808" y="3246120"/>
            <a:ext cx="2286000" cy="2331720"/>
          </a:xfrm>
          <a:prstGeom prst="rect">
            <a:avLst/>
          </a:prstGeom>
          <a:noFill/>
          <a:ln>
            <a:noFill/>
          </a:ln>
        </p:spPr>
        <p:txBody>
          <a:bodyPr anchorCtr="0" anchor="t" bIns="0" lIns="0" spcFirstLastPara="1" rIns="0" wrap="square" tIns="0">
            <a:noAutofit/>
          </a:bodyPr>
          <a:lstStyle/>
          <a:p>
            <a:pPr indent="-171450" lvl="0" marL="171450" marR="0" rtl="0" algn="l">
              <a:spcBef>
                <a:spcPts val="0"/>
              </a:spcBef>
              <a:spcAft>
                <a:spcPts val="0"/>
              </a:spcAft>
              <a:buClr>
                <a:srgbClr val="5B6B7C"/>
              </a:buClr>
              <a:buSzPts val="1200"/>
              <a:buFont typeface="Arial"/>
              <a:buChar char="•"/>
            </a:pPr>
            <a:r>
              <a:rPr lang="en-US" sz="1200">
                <a:solidFill>
                  <a:srgbClr val="5B6B7C"/>
                </a:solidFill>
                <a:latin typeface="Arial"/>
                <a:ea typeface="Arial"/>
                <a:cs typeface="Arial"/>
                <a:sym typeface="Arial"/>
              </a:rPr>
              <a:t>Verilator simulation</a:t>
            </a:r>
            <a:endParaRPr/>
          </a:p>
          <a:p>
            <a:pPr indent="-171450" lvl="0" marL="171450" marR="0" rtl="0" algn="l">
              <a:spcBef>
                <a:spcPts val="800"/>
              </a:spcBef>
              <a:spcAft>
                <a:spcPts val="0"/>
              </a:spcAft>
              <a:buClr>
                <a:srgbClr val="5B6B7C"/>
              </a:buClr>
              <a:buSzPts val="1200"/>
              <a:buFont typeface="Arial"/>
              <a:buChar char="•"/>
            </a:pPr>
            <a:r>
              <a:rPr lang="en-US" sz="1200">
                <a:solidFill>
                  <a:srgbClr val="5B6B7C"/>
                </a:solidFill>
                <a:latin typeface="Arial"/>
                <a:ea typeface="Arial"/>
                <a:cs typeface="Arial"/>
                <a:sym typeface="Arial"/>
              </a:rPr>
              <a:t>Compiler to memory image flow</a:t>
            </a:r>
            <a:endParaRPr/>
          </a:p>
          <a:p>
            <a:pPr indent="-171450" lvl="0" marL="171450" marR="0" rtl="0" algn="l">
              <a:spcBef>
                <a:spcPts val="800"/>
              </a:spcBef>
              <a:spcAft>
                <a:spcPts val="0"/>
              </a:spcAft>
              <a:buClr>
                <a:srgbClr val="5B6B7C"/>
              </a:buClr>
              <a:buSzPts val="1200"/>
              <a:buFont typeface="Arial"/>
              <a:buChar char="•"/>
            </a:pPr>
            <a:r>
              <a:rPr lang="en-US" sz="1200">
                <a:solidFill>
                  <a:srgbClr val="5B6B7C"/>
                </a:solidFill>
                <a:latin typeface="Arial"/>
                <a:ea typeface="Arial"/>
                <a:cs typeface="Arial"/>
                <a:sym typeface="Arial"/>
              </a:rPr>
              <a:t>CVA5 running on FPGA</a:t>
            </a:r>
            <a:endParaRPr/>
          </a:p>
        </p:txBody>
      </p:sp>
      <p:sp>
        <p:nvSpPr>
          <p:cNvPr id="87" name="Google Shape;87;p6"/>
          <p:cNvSpPr/>
          <p:nvPr/>
        </p:nvSpPr>
        <p:spPr>
          <a:xfrm>
            <a:off x="3358591" y="2514600"/>
            <a:ext cx="2651760" cy="3749040"/>
          </a:xfrm>
          <a:prstGeom prst="roundRect">
            <a:avLst>
              <a:gd fmla="val 3448" name="adj"/>
            </a:avLst>
          </a:prstGeom>
          <a:solidFill>
            <a:srgbClr val="F4F6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6"/>
          <p:cNvSpPr/>
          <p:nvPr/>
        </p:nvSpPr>
        <p:spPr>
          <a:xfrm>
            <a:off x="3559759" y="2697480"/>
            <a:ext cx="2249424"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450"/>
              <a:buFont typeface="Arial"/>
              <a:buNone/>
            </a:pPr>
            <a:r>
              <a:rPr b="1" lang="en-US" sz="1450">
                <a:solidFill>
                  <a:srgbClr val="1F2937"/>
                </a:solidFill>
                <a:latin typeface="Arial"/>
                <a:ea typeface="Arial"/>
                <a:cs typeface="Arial"/>
                <a:sym typeface="Arial"/>
              </a:rPr>
              <a:t>Onboarding</a:t>
            </a:r>
            <a:endParaRPr sz="1450">
              <a:solidFill>
                <a:schemeClr val="dk1"/>
              </a:solidFill>
              <a:latin typeface="Calibri"/>
              <a:ea typeface="Calibri"/>
              <a:cs typeface="Calibri"/>
              <a:sym typeface="Calibri"/>
            </a:endParaRPr>
          </a:p>
        </p:txBody>
      </p:sp>
      <p:sp>
        <p:nvSpPr>
          <p:cNvPr id="89" name="Google Shape;89;p6"/>
          <p:cNvSpPr/>
          <p:nvPr/>
        </p:nvSpPr>
        <p:spPr>
          <a:xfrm>
            <a:off x="3559759" y="3246120"/>
            <a:ext cx="2249424" cy="2212848"/>
          </a:xfrm>
          <a:prstGeom prst="rect">
            <a:avLst/>
          </a:prstGeom>
          <a:noFill/>
          <a:ln>
            <a:noFill/>
          </a:ln>
        </p:spPr>
        <p:txBody>
          <a:bodyPr anchorCtr="0" anchor="t" bIns="0" lIns="0" spcFirstLastPara="1" rIns="0" wrap="square" tIns="0">
            <a:noAutofit/>
          </a:bodyPr>
          <a:lstStyle/>
          <a:p>
            <a:pPr indent="-171450" lvl="0" marL="171450" marR="0" rtl="0" algn="just">
              <a:spcBef>
                <a:spcPts val="0"/>
              </a:spcBef>
              <a:spcAft>
                <a:spcPts val="0"/>
              </a:spcAft>
              <a:buClr>
                <a:srgbClr val="5B6B7C"/>
              </a:buClr>
              <a:buSzPts val="1200"/>
              <a:buFont typeface="Arial"/>
              <a:buChar char="•"/>
            </a:pPr>
            <a:r>
              <a:rPr lang="en-US" sz="1200">
                <a:solidFill>
                  <a:srgbClr val="5B6B7C"/>
                </a:solidFill>
                <a:latin typeface="Arial"/>
                <a:ea typeface="Arial"/>
                <a:cs typeface="Arial"/>
                <a:sym typeface="Arial"/>
              </a:rPr>
              <a:t>Develop the onboarding and ramp up process for new adopters of CVA5. </a:t>
            </a:r>
            <a:endParaRPr/>
          </a:p>
          <a:p>
            <a:pPr indent="-171450" lvl="0" marL="171450" marR="0" rtl="0" algn="just">
              <a:spcBef>
                <a:spcPts val="0"/>
              </a:spcBef>
              <a:spcAft>
                <a:spcPts val="0"/>
              </a:spcAft>
              <a:buClr>
                <a:srgbClr val="5B6B7C"/>
              </a:buClr>
              <a:buSzPts val="1200"/>
              <a:buFont typeface="Arial"/>
              <a:buChar char="•"/>
            </a:pPr>
            <a:r>
              <a:rPr lang="en-US" sz="1200">
                <a:solidFill>
                  <a:srgbClr val="5B6B7C"/>
                </a:solidFill>
                <a:latin typeface="Arial"/>
                <a:ea typeface="Arial"/>
                <a:cs typeface="Arial"/>
                <a:sym typeface="Arial"/>
              </a:rPr>
              <a:t>The goal is to add a new feature to CVA5, for example TinyAI.</a:t>
            </a:r>
            <a:endParaRPr/>
          </a:p>
          <a:p>
            <a:pPr indent="-171450" lvl="0" marL="171450" marR="0" rtl="0" algn="just">
              <a:spcBef>
                <a:spcPts val="0"/>
              </a:spcBef>
              <a:spcAft>
                <a:spcPts val="0"/>
              </a:spcAft>
              <a:buClr>
                <a:srgbClr val="5B6B7C"/>
              </a:buClr>
              <a:buSzPts val="1200"/>
              <a:buFont typeface="Arial"/>
              <a:buChar char="•"/>
            </a:pPr>
            <a:r>
              <a:rPr lang="en-US" sz="1200">
                <a:solidFill>
                  <a:srgbClr val="5B6B7C"/>
                </a:solidFill>
                <a:latin typeface="Arial"/>
                <a:ea typeface="Arial"/>
                <a:cs typeface="Arial"/>
                <a:sym typeface="Arial"/>
              </a:rPr>
              <a:t>Also CVA5 software on QEMU or Renode.</a:t>
            </a:r>
            <a:endParaRPr sz="1200">
              <a:solidFill>
                <a:schemeClr val="dk1"/>
              </a:solidFill>
              <a:latin typeface="Calibri"/>
              <a:ea typeface="Calibri"/>
              <a:cs typeface="Calibri"/>
              <a:sym typeface="Calibri"/>
            </a:endParaRPr>
          </a:p>
        </p:txBody>
      </p:sp>
      <p:sp>
        <p:nvSpPr>
          <p:cNvPr id="90" name="Google Shape;90;p6"/>
          <p:cNvSpPr/>
          <p:nvPr/>
        </p:nvSpPr>
        <p:spPr>
          <a:xfrm>
            <a:off x="6168542" y="2514600"/>
            <a:ext cx="2651760" cy="3749040"/>
          </a:xfrm>
          <a:prstGeom prst="roundRect">
            <a:avLst>
              <a:gd fmla="val 3448" name="adj"/>
            </a:avLst>
          </a:prstGeom>
          <a:solidFill>
            <a:srgbClr val="F4F6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6"/>
          <p:cNvSpPr/>
          <p:nvPr/>
        </p:nvSpPr>
        <p:spPr>
          <a:xfrm>
            <a:off x="6369710" y="2697480"/>
            <a:ext cx="2249424"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450"/>
              <a:buFont typeface="Arial"/>
              <a:buNone/>
            </a:pPr>
            <a:r>
              <a:rPr b="1" lang="en-US" sz="1450">
                <a:solidFill>
                  <a:srgbClr val="1F2937"/>
                </a:solidFill>
                <a:latin typeface="Arial"/>
                <a:ea typeface="Arial"/>
                <a:cs typeface="Arial"/>
                <a:sym typeface="Arial"/>
              </a:rPr>
              <a:t>Conference</a:t>
            </a:r>
            <a:endParaRPr sz="1450">
              <a:solidFill>
                <a:schemeClr val="dk1"/>
              </a:solidFill>
              <a:latin typeface="Calibri"/>
              <a:ea typeface="Calibri"/>
              <a:cs typeface="Calibri"/>
              <a:sym typeface="Calibri"/>
            </a:endParaRPr>
          </a:p>
        </p:txBody>
      </p:sp>
      <p:sp>
        <p:nvSpPr>
          <p:cNvPr id="92" name="Google Shape;92;p6"/>
          <p:cNvSpPr/>
          <p:nvPr/>
        </p:nvSpPr>
        <p:spPr>
          <a:xfrm>
            <a:off x="6369710" y="3246120"/>
            <a:ext cx="2249424" cy="2212848"/>
          </a:xfrm>
          <a:prstGeom prst="rect">
            <a:avLst/>
          </a:prstGeom>
          <a:noFill/>
          <a:ln>
            <a:noFill/>
          </a:ln>
        </p:spPr>
        <p:txBody>
          <a:bodyPr anchorCtr="0" anchor="t" bIns="0" lIns="0" spcFirstLastPara="1" rIns="0" wrap="square" tIns="0">
            <a:noAutofit/>
          </a:bodyPr>
          <a:lstStyle/>
          <a:p>
            <a:pPr indent="-171450" lvl="0" marL="171450" marR="0" rtl="0" algn="just">
              <a:spcBef>
                <a:spcPts val="0"/>
              </a:spcBef>
              <a:spcAft>
                <a:spcPts val="0"/>
              </a:spcAft>
              <a:buClr>
                <a:srgbClr val="5B6B7C"/>
              </a:buClr>
              <a:buSzPts val="1200"/>
              <a:buFont typeface="Arial"/>
              <a:buChar char="•"/>
            </a:pPr>
            <a:r>
              <a:rPr lang="en-US" sz="1200">
                <a:solidFill>
                  <a:srgbClr val="5B6B7C"/>
                </a:solidFill>
                <a:latin typeface="Arial"/>
                <a:ea typeface="Arial"/>
                <a:cs typeface="Arial"/>
                <a:sym typeface="Arial"/>
              </a:rPr>
              <a:t>Prepare a paper, poster, presentation and demo for a conference</a:t>
            </a:r>
            <a:endParaRPr sz="1200">
              <a:solidFill>
                <a:schemeClr val="dk1"/>
              </a:solidFill>
              <a:latin typeface="Calibri"/>
              <a:ea typeface="Calibri"/>
              <a:cs typeface="Calibri"/>
              <a:sym typeface="Calibri"/>
            </a:endParaRPr>
          </a:p>
          <a:p>
            <a:pPr indent="-133350" lvl="0" marL="171450" marR="0" rtl="0" algn="l">
              <a:spcBef>
                <a:spcPts val="0"/>
              </a:spcBef>
              <a:spcAft>
                <a:spcPts val="0"/>
              </a:spcAft>
              <a:buClr>
                <a:schemeClr val="dk1"/>
              </a:buClr>
              <a:buSzPts val="600"/>
              <a:buFont typeface="Arial"/>
              <a:buNone/>
            </a:pPr>
            <a:r>
              <a:t/>
            </a:r>
            <a:endParaRPr sz="600">
              <a:solidFill>
                <a:schemeClr val="dk1"/>
              </a:solidFill>
              <a:latin typeface="Calibri"/>
              <a:ea typeface="Calibri"/>
              <a:cs typeface="Calibri"/>
              <a:sym typeface="Calibri"/>
            </a:endParaRPr>
          </a:p>
          <a:p>
            <a:pPr indent="-171450" lvl="0" marL="171450" marR="0" rtl="0" algn="l">
              <a:spcBef>
                <a:spcPts val="0"/>
              </a:spcBef>
              <a:spcAft>
                <a:spcPts val="0"/>
              </a:spcAft>
              <a:buClr>
                <a:srgbClr val="D97706"/>
              </a:buClr>
              <a:buSzPts val="1200"/>
              <a:buFont typeface="Arial"/>
              <a:buChar char="•"/>
            </a:pPr>
            <a:r>
              <a:rPr b="1" lang="en-US" sz="1200">
                <a:solidFill>
                  <a:srgbClr val="D97706"/>
                </a:solidFill>
                <a:latin typeface="Arial"/>
                <a:ea typeface="Arial"/>
                <a:cs typeface="Arial"/>
                <a:sym typeface="Arial"/>
              </a:rPr>
              <a:t>TBD</a:t>
            </a:r>
            <a:endParaRPr sz="1200">
              <a:solidFill>
                <a:schemeClr val="dk1"/>
              </a:solidFill>
              <a:latin typeface="Calibri"/>
              <a:ea typeface="Calibri"/>
              <a:cs typeface="Calibri"/>
              <a:sym typeface="Calibri"/>
            </a:endParaRPr>
          </a:p>
        </p:txBody>
      </p:sp>
      <p:sp>
        <p:nvSpPr>
          <p:cNvPr id="93" name="Google Shape;93;p6"/>
          <p:cNvSpPr/>
          <p:nvPr/>
        </p:nvSpPr>
        <p:spPr>
          <a:xfrm>
            <a:off x="8978494" y="2514600"/>
            <a:ext cx="2651760" cy="3749040"/>
          </a:xfrm>
          <a:prstGeom prst="roundRect">
            <a:avLst>
              <a:gd fmla="val 3448" name="adj"/>
            </a:avLst>
          </a:prstGeom>
          <a:solidFill>
            <a:srgbClr val="F4F6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6"/>
          <p:cNvSpPr/>
          <p:nvPr/>
        </p:nvSpPr>
        <p:spPr>
          <a:xfrm>
            <a:off x="9179662" y="2697480"/>
            <a:ext cx="2249424"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450"/>
              <a:buFont typeface="Arial"/>
              <a:buNone/>
            </a:pPr>
            <a:r>
              <a:rPr b="1" lang="en-US" sz="1450">
                <a:solidFill>
                  <a:srgbClr val="1F2937"/>
                </a:solidFill>
                <a:latin typeface="Arial"/>
                <a:ea typeface="Arial"/>
                <a:cs typeface="Arial"/>
                <a:sym typeface="Arial"/>
              </a:rPr>
              <a:t>Initial SW stack</a:t>
            </a:r>
            <a:endParaRPr sz="1450">
              <a:solidFill>
                <a:schemeClr val="dk1"/>
              </a:solidFill>
              <a:latin typeface="Calibri"/>
              <a:ea typeface="Calibri"/>
              <a:cs typeface="Calibri"/>
              <a:sym typeface="Calibri"/>
            </a:endParaRPr>
          </a:p>
        </p:txBody>
      </p:sp>
      <p:sp>
        <p:nvSpPr>
          <p:cNvPr id="95" name="Google Shape;95;p6"/>
          <p:cNvSpPr/>
          <p:nvPr/>
        </p:nvSpPr>
        <p:spPr>
          <a:xfrm>
            <a:off x="9179662" y="3246120"/>
            <a:ext cx="2249424" cy="2761488"/>
          </a:xfrm>
          <a:prstGeom prst="rect">
            <a:avLst/>
          </a:prstGeom>
          <a:noFill/>
          <a:ln>
            <a:noFill/>
          </a:ln>
        </p:spPr>
        <p:txBody>
          <a:bodyPr anchorCtr="0" anchor="t" bIns="0" lIns="0" spcFirstLastPara="1" rIns="0" wrap="square" tIns="0">
            <a:noAutofit/>
          </a:bodyPr>
          <a:lstStyle/>
          <a:p>
            <a:pPr indent="-171450" lvl="0" marL="171450" marR="0" rtl="0" algn="just">
              <a:spcBef>
                <a:spcPts val="0"/>
              </a:spcBef>
              <a:spcAft>
                <a:spcPts val="0"/>
              </a:spcAft>
              <a:buClr>
                <a:srgbClr val="5B6B7C"/>
              </a:buClr>
              <a:buSzPts val="1200"/>
              <a:buFont typeface="Arial"/>
              <a:buChar char="•"/>
            </a:pPr>
            <a:r>
              <a:rPr lang="en-US" sz="1200">
                <a:solidFill>
                  <a:srgbClr val="5B6B7C"/>
                </a:solidFill>
                <a:latin typeface="Arial"/>
                <a:ea typeface="Arial"/>
                <a:cs typeface="Arial"/>
                <a:sym typeface="Arial"/>
              </a:rPr>
              <a:t>Register map, bare metal boot code and APIs (SDK).</a:t>
            </a:r>
            <a:endParaRPr/>
          </a:p>
          <a:p>
            <a:pPr indent="-171450" lvl="0" marL="171450" marR="0" rtl="0" algn="just">
              <a:spcBef>
                <a:spcPts val="0"/>
              </a:spcBef>
              <a:spcAft>
                <a:spcPts val="0"/>
              </a:spcAft>
              <a:buClr>
                <a:srgbClr val="5B6B7C"/>
              </a:buClr>
              <a:buSzPts val="1200"/>
              <a:buFont typeface="Arial"/>
              <a:buChar char="•"/>
            </a:pPr>
            <a:r>
              <a:rPr lang="en-US" sz="1200">
                <a:solidFill>
                  <a:srgbClr val="5B6B7C"/>
                </a:solidFill>
                <a:latin typeface="Arial"/>
                <a:ea typeface="Arial"/>
                <a:cs typeface="Arial"/>
                <a:sym typeface="Arial"/>
              </a:rPr>
              <a:t>Instructions for developing a board support package (BSP) for CVA5 on different FPGA evaluation boards.</a:t>
            </a:r>
            <a:endParaRPr sz="12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0" name="Shape 100"/>
        <p:cNvGrpSpPr/>
        <p:nvPr/>
      </p:nvGrpSpPr>
      <p:grpSpPr>
        <a:xfrm>
          <a:off x="0" y="0"/>
          <a:ext cx="0" cy="0"/>
          <a:chOff x="0" y="0"/>
          <a:chExt cx="0" cy="0"/>
        </a:xfrm>
      </p:grpSpPr>
      <p:sp>
        <p:nvSpPr>
          <p:cNvPr id="101" name="Google Shape;101;p7"/>
          <p:cNvSpPr/>
          <p:nvPr/>
        </p:nvSpPr>
        <p:spPr>
          <a:xfrm>
            <a:off x="548640" y="292608"/>
            <a:ext cx="110642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3000"/>
              <a:buFont typeface="Arial"/>
              <a:buNone/>
            </a:pPr>
            <a:r>
              <a:rPr b="1" lang="en-US" sz="3000">
                <a:solidFill>
                  <a:srgbClr val="1F2937"/>
                </a:solidFill>
                <a:latin typeface="Arial"/>
                <a:ea typeface="Arial"/>
                <a:cs typeface="Arial"/>
                <a:sym typeface="Arial"/>
              </a:rPr>
              <a:t>Demo 1 — Simulation: compiler → hardware</a:t>
            </a:r>
            <a:endParaRPr sz="3000">
              <a:solidFill>
                <a:schemeClr val="dk1"/>
              </a:solidFill>
              <a:latin typeface="Calibri"/>
              <a:ea typeface="Calibri"/>
              <a:cs typeface="Calibri"/>
              <a:sym typeface="Calibri"/>
            </a:endParaRPr>
          </a:p>
        </p:txBody>
      </p:sp>
      <p:sp>
        <p:nvSpPr>
          <p:cNvPr id="102" name="Google Shape;102;p7"/>
          <p:cNvSpPr/>
          <p:nvPr/>
        </p:nvSpPr>
        <p:spPr>
          <a:xfrm>
            <a:off x="548640" y="896112"/>
            <a:ext cx="11064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C"/>
              </a:buClr>
              <a:buSzPts val="1400"/>
              <a:buFont typeface="Arial"/>
              <a:buNone/>
            </a:pPr>
            <a:r>
              <a:rPr lang="en-US" sz="1400">
                <a:solidFill>
                  <a:srgbClr val="5B6B7C"/>
                </a:solidFill>
                <a:latin typeface="Arial"/>
                <a:ea typeface="Arial"/>
                <a:cs typeface="Arial"/>
                <a:sym typeface="Arial"/>
              </a:rPr>
              <a:t>Verilator model · waveform and UART console output</a:t>
            </a:r>
            <a:endParaRPr sz="1400">
              <a:solidFill>
                <a:schemeClr val="dk1"/>
              </a:solidFill>
              <a:latin typeface="Calibri"/>
              <a:ea typeface="Calibri"/>
              <a:cs typeface="Calibri"/>
              <a:sym typeface="Calibri"/>
            </a:endParaRPr>
          </a:p>
        </p:txBody>
      </p:sp>
      <p:sp>
        <p:nvSpPr>
          <p:cNvPr id="103" name="Google Shape;103;p7"/>
          <p:cNvSpPr/>
          <p:nvPr/>
        </p:nvSpPr>
        <p:spPr>
          <a:xfrm>
            <a:off x="548640" y="1463040"/>
            <a:ext cx="5212080" cy="2880360"/>
          </a:xfrm>
          <a:prstGeom prst="roundRect">
            <a:avLst>
              <a:gd fmla="val 3810" name="adj"/>
            </a:avLst>
          </a:prstGeom>
          <a:solidFill>
            <a:srgbClr val="F4F6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4" name="Google Shape;104;p7"/>
          <p:cNvGrpSpPr/>
          <p:nvPr/>
        </p:nvGrpSpPr>
        <p:grpSpPr>
          <a:xfrm>
            <a:off x="822960" y="1691640"/>
            <a:ext cx="548640" cy="548640"/>
            <a:chOff x="822960" y="1691640"/>
            <a:chExt cx="548640" cy="548640"/>
          </a:xfrm>
        </p:grpSpPr>
        <p:sp>
          <p:nvSpPr>
            <p:cNvPr id="105" name="Google Shape;105;p7"/>
            <p:cNvSpPr/>
            <p:nvPr/>
          </p:nvSpPr>
          <p:spPr>
            <a:xfrm>
              <a:off x="822960" y="1691640"/>
              <a:ext cx="548640" cy="548640"/>
            </a:xfrm>
            <a:prstGeom prst="ellipse">
              <a:avLst/>
            </a:prstGeom>
            <a:solidFill>
              <a:srgbClr val="0E9F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6" name="Google Shape;106;p7"/>
            <p:cNvPicPr preferRelativeResize="0"/>
            <p:nvPr/>
          </p:nvPicPr>
          <p:blipFill rotWithShape="1">
            <a:blip r:embed="rId3">
              <a:alphaModFix/>
            </a:blip>
            <a:srcRect b="0" l="0" r="0" t="0"/>
            <a:stretch/>
          </p:blipFill>
          <p:spPr>
            <a:xfrm>
              <a:off x="999440" y="1834286"/>
              <a:ext cx="263347" cy="263347"/>
            </a:xfrm>
            <a:prstGeom prst="rect">
              <a:avLst/>
            </a:prstGeom>
            <a:noFill/>
            <a:ln>
              <a:noFill/>
            </a:ln>
          </p:spPr>
        </p:pic>
      </p:grpSp>
      <p:sp>
        <p:nvSpPr>
          <p:cNvPr id="107" name="Google Shape;107;p7"/>
          <p:cNvSpPr/>
          <p:nvPr/>
        </p:nvSpPr>
        <p:spPr>
          <a:xfrm>
            <a:off x="1554480" y="1783080"/>
            <a:ext cx="40233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600"/>
              <a:buFont typeface="Arial"/>
              <a:buNone/>
            </a:pPr>
            <a:r>
              <a:rPr b="1" lang="en-US" sz="1600">
                <a:solidFill>
                  <a:srgbClr val="1F2937"/>
                </a:solidFill>
                <a:latin typeface="Arial"/>
                <a:ea typeface="Arial"/>
                <a:cs typeface="Arial"/>
                <a:sym typeface="Arial"/>
              </a:rPr>
              <a:t>What you'll see</a:t>
            </a:r>
            <a:endParaRPr sz="1600">
              <a:solidFill>
                <a:schemeClr val="dk1"/>
              </a:solidFill>
              <a:latin typeface="Calibri"/>
              <a:ea typeface="Calibri"/>
              <a:cs typeface="Calibri"/>
              <a:sym typeface="Calibri"/>
            </a:endParaRPr>
          </a:p>
        </p:txBody>
      </p:sp>
      <p:sp>
        <p:nvSpPr>
          <p:cNvPr id="108" name="Google Shape;108;p7"/>
          <p:cNvSpPr/>
          <p:nvPr/>
        </p:nvSpPr>
        <p:spPr>
          <a:xfrm>
            <a:off x="1554480" y="2194560"/>
            <a:ext cx="3977640" cy="205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9F6E"/>
              </a:buClr>
              <a:buSzPts val="1300"/>
              <a:buFont typeface="Courier New"/>
              <a:buNone/>
            </a:pPr>
            <a:r>
              <a:rPr b="1" lang="en-US" sz="1300">
                <a:solidFill>
                  <a:srgbClr val="0E9F6E"/>
                </a:solidFill>
                <a:latin typeface="Courier New"/>
                <a:ea typeface="Courier New"/>
                <a:cs typeface="Courier New"/>
                <a:sym typeface="Courier New"/>
              </a:rPr>
              <a:t>make sim &amp;&amp; make run</a:t>
            </a:r>
            <a:endParaRPr sz="13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300"/>
              <a:buFont typeface="Calibri"/>
              <a:buNone/>
            </a:pPr>
            <a:r>
              <a:t/>
            </a:r>
            <a:endParaRPr sz="1300">
              <a:solidFill>
                <a:schemeClr val="dk1"/>
              </a:solidFill>
              <a:latin typeface="Calibri"/>
              <a:ea typeface="Calibri"/>
              <a:cs typeface="Calibri"/>
              <a:sym typeface="Calibri"/>
            </a:endParaRPr>
          </a:p>
          <a:p>
            <a:pPr indent="0" lvl="0" marL="0" marR="0" rtl="0" algn="l">
              <a:spcBef>
                <a:spcPts val="0"/>
              </a:spcBef>
              <a:spcAft>
                <a:spcPts val="0"/>
              </a:spcAft>
              <a:buClr>
                <a:srgbClr val="5B6B7C"/>
              </a:buClr>
              <a:buSzPts val="1300"/>
              <a:buFont typeface="Arial"/>
              <a:buNone/>
            </a:pPr>
            <a:r>
              <a:rPr lang="en-US" sz="1300">
                <a:solidFill>
                  <a:srgbClr val="5B6B7C"/>
                </a:solidFill>
                <a:latin typeface="Arial"/>
                <a:ea typeface="Arial"/>
                <a:cs typeface="Arial"/>
                <a:sym typeface="Arial"/>
              </a:rPr>
              <a:t>A tiny C program prints Hello World. In the waveform we follow each character from the store instruction to the UART register and out on the TX line.</a:t>
            </a:r>
            <a:endParaRPr sz="13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300"/>
              <a:buFont typeface="Calibri"/>
              <a:buNone/>
            </a:pPr>
            <a:r>
              <a:t/>
            </a:r>
            <a:endParaRPr sz="1300">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1300"/>
              <a:buFont typeface="Arial"/>
              <a:buNone/>
            </a:pPr>
            <a:r>
              <a:rPr i="1" lang="en-US" sz="1300">
                <a:solidFill>
                  <a:srgbClr val="1F2937"/>
                </a:solidFill>
                <a:latin typeface="Arial"/>
                <a:ea typeface="Arial"/>
                <a:cs typeface="Arial"/>
                <a:sym typeface="Arial"/>
              </a:rPr>
              <a:t>The work a compiler does, all the way down to hardware.</a:t>
            </a:r>
            <a:endParaRPr sz="1300">
              <a:solidFill>
                <a:schemeClr val="dk1"/>
              </a:solidFill>
              <a:latin typeface="Calibri"/>
              <a:ea typeface="Calibri"/>
              <a:cs typeface="Calibri"/>
              <a:sym typeface="Calibri"/>
            </a:endParaRPr>
          </a:p>
        </p:txBody>
      </p:sp>
      <p:sp>
        <p:nvSpPr>
          <p:cNvPr id="109" name="Google Shape;109;p7"/>
          <p:cNvSpPr/>
          <p:nvPr/>
        </p:nvSpPr>
        <p:spPr>
          <a:xfrm>
            <a:off x="548640" y="4526280"/>
            <a:ext cx="5212080" cy="1737360"/>
          </a:xfrm>
          <a:prstGeom prst="roundRect">
            <a:avLst>
              <a:gd fmla="val 6316" name="adj"/>
            </a:avLst>
          </a:prstGeom>
          <a:solidFill>
            <a:srgbClr val="EAF6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7"/>
          <p:cNvSpPr/>
          <p:nvPr/>
        </p:nvSpPr>
        <p:spPr>
          <a:xfrm>
            <a:off x="822960" y="4681728"/>
            <a:ext cx="46634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Arial"/>
              <a:buNone/>
            </a:pPr>
            <a:r>
              <a:rPr b="1" lang="en-US" sz="1300">
                <a:solidFill>
                  <a:srgbClr val="1F2937"/>
                </a:solidFill>
                <a:latin typeface="Arial"/>
                <a:ea typeface="Arial"/>
                <a:cs typeface="Arial"/>
                <a:sym typeface="Arial"/>
              </a:rPr>
              <a:t>Every stage is a file you can open</a:t>
            </a:r>
            <a:endParaRPr sz="1300">
              <a:solidFill>
                <a:schemeClr val="dk1"/>
              </a:solidFill>
              <a:latin typeface="Calibri"/>
              <a:ea typeface="Calibri"/>
              <a:cs typeface="Calibri"/>
              <a:sym typeface="Calibri"/>
            </a:endParaRPr>
          </a:p>
        </p:txBody>
      </p:sp>
      <p:sp>
        <p:nvSpPr>
          <p:cNvPr id="111" name="Google Shape;111;p7"/>
          <p:cNvSpPr/>
          <p:nvPr/>
        </p:nvSpPr>
        <p:spPr>
          <a:xfrm>
            <a:off x="822960" y="5047488"/>
            <a:ext cx="46634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1200"/>
              <a:buFont typeface="Courier New"/>
              <a:buNone/>
            </a:pPr>
            <a:r>
              <a:rPr b="1" lang="en-US" sz="1200">
                <a:solidFill>
                  <a:srgbClr val="2563EB"/>
                </a:solidFill>
                <a:latin typeface="Courier New"/>
                <a:ea typeface="Courier New"/>
                <a:cs typeface="Courier New"/>
                <a:sym typeface="Courier New"/>
              </a:rPr>
              <a:t>main.c, crt0.S</a:t>
            </a:r>
            <a:r>
              <a:rPr lang="en-US" sz="1200">
                <a:solidFill>
                  <a:srgbClr val="5B6B7C"/>
                </a:solidFill>
                <a:latin typeface="Arial"/>
                <a:ea typeface="Arial"/>
                <a:cs typeface="Arial"/>
                <a:sym typeface="Arial"/>
              </a:rPr>
              <a:t>  C source and startup code</a:t>
            </a:r>
            <a:endParaRPr sz="1200">
              <a:solidFill>
                <a:schemeClr val="dk1"/>
              </a:solidFill>
              <a:latin typeface="Calibri"/>
              <a:ea typeface="Calibri"/>
              <a:cs typeface="Calibri"/>
              <a:sym typeface="Calibri"/>
            </a:endParaRPr>
          </a:p>
        </p:txBody>
      </p:sp>
      <p:sp>
        <p:nvSpPr>
          <p:cNvPr id="112" name="Google Shape;112;p7"/>
          <p:cNvSpPr/>
          <p:nvPr/>
        </p:nvSpPr>
        <p:spPr>
          <a:xfrm>
            <a:off x="822960" y="5376672"/>
            <a:ext cx="46634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1200"/>
              <a:buFont typeface="Courier New"/>
              <a:buNone/>
            </a:pPr>
            <a:r>
              <a:rPr b="1" lang="en-US" sz="1200">
                <a:solidFill>
                  <a:srgbClr val="2563EB"/>
                </a:solidFill>
                <a:latin typeface="Courier New"/>
                <a:ea typeface="Courier New"/>
                <a:cs typeface="Courier New"/>
                <a:sym typeface="Courier New"/>
              </a:rPr>
              <a:t>main.elf</a:t>
            </a:r>
            <a:r>
              <a:rPr lang="en-US" sz="1200">
                <a:solidFill>
                  <a:srgbClr val="5B6B7C"/>
                </a:solidFill>
                <a:latin typeface="Arial"/>
                <a:ea typeface="Arial"/>
                <a:cs typeface="Arial"/>
                <a:sym typeface="Arial"/>
              </a:rPr>
              <a:t>  gcc output, then objdump gives the asm listing</a:t>
            </a:r>
            <a:endParaRPr sz="1200">
              <a:solidFill>
                <a:schemeClr val="dk1"/>
              </a:solidFill>
              <a:latin typeface="Calibri"/>
              <a:ea typeface="Calibri"/>
              <a:cs typeface="Calibri"/>
              <a:sym typeface="Calibri"/>
            </a:endParaRPr>
          </a:p>
        </p:txBody>
      </p:sp>
      <p:sp>
        <p:nvSpPr>
          <p:cNvPr id="113" name="Google Shape;113;p7"/>
          <p:cNvSpPr/>
          <p:nvPr/>
        </p:nvSpPr>
        <p:spPr>
          <a:xfrm>
            <a:off x="822960" y="5705856"/>
            <a:ext cx="46634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1200"/>
              <a:buFont typeface="Courier New"/>
              <a:buNone/>
            </a:pPr>
            <a:r>
              <a:rPr b="1" lang="en-US" sz="1200">
                <a:solidFill>
                  <a:srgbClr val="2563EB"/>
                </a:solidFill>
                <a:latin typeface="Courier New"/>
                <a:ea typeface="Courier New"/>
                <a:cs typeface="Courier New"/>
                <a:sym typeface="Courier New"/>
              </a:rPr>
              <a:t>program.hex, mem.mif</a:t>
            </a:r>
            <a:r>
              <a:rPr lang="en-US" sz="1200">
                <a:solidFill>
                  <a:srgbClr val="5B6B7C"/>
                </a:solidFill>
                <a:latin typeface="Arial"/>
                <a:ea typeface="Arial"/>
                <a:cs typeface="Arial"/>
                <a:sym typeface="Arial"/>
              </a:rPr>
              <a:t>  objcopy to raw binary, then the memory init file</a:t>
            </a:r>
            <a:endParaRPr sz="1200">
              <a:solidFill>
                <a:schemeClr val="dk1"/>
              </a:solidFill>
              <a:latin typeface="Calibri"/>
              <a:ea typeface="Calibri"/>
              <a:cs typeface="Calibri"/>
              <a:sym typeface="Calibri"/>
            </a:endParaRPr>
          </a:p>
        </p:txBody>
      </p:sp>
      <p:sp>
        <p:nvSpPr>
          <p:cNvPr id="114" name="Google Shape;114;p7"/>
          <p:cNvSpPr/>
          <p:nvPr/>
        </p:nvSpPr>
        <p:spPr>
          <a:xfrm>
            <a:off x="6035040" y="1463040"/>
            <a:ext cx="5577840" cy="4800600"/>
          </a:xfrm>
          <a:prstGeom prst="roundRect">
            <a:avLst>
              <a:gd fmla="val 2286" name="adj"/>
            </a:avLst>
          </a:prstGeom>
          <a:solidFill>
            <a:srgbClr val="1020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7"/>
          <p:cNvSpPr/>
          <p:nvPr/>
        </p:nvSpPr>
        <p:spPr>
          <a:xfrm>
            <a:off x="6263640" y="1664208"/>
            <a:ext cx="128016" cy="128016"/>
          </a:xfrm>
          <a:prstGeom prst="ellipse">
            <a:avLst/>
          </a:prstGeom>
          <a:solidFill>
            <a:srgbClr val="FF6B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7"/>
          <p:cNvSpPr/>
          <p:nvPr/>
        </p:nvSpPr>
        <p:spPr>
          <a:xfrm>
            <a:off x="6464808" y="1664208"/>
            <a:ext cx="128016" cy="128016"/>
          </a:xfrm>
          <a:prstGeom prst="ellipse">
            <a:avLst/>
          </a:prstGeom>
          <a:solidFill>
            <a:srgbClr val="FFC8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7"/>
          <p:cNvSpPr/>
          <p:nvPr/>
        </p:nvSpPr>
        <p:spPr>
          <a:xfrm>
            <a:off x="6665976" y="1664208"/>
            <a:ext cx="128016" cy="128016"/>
          </a:xfrm>
          <a:prstGeom prst="ellipse">
            <a:avLst/>
          </a:prstGeom>
          <a:solidFill>
            <a:srgbClr val="00E5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7"/>
          <p:cNvSpPr/>
          <p:nvPr/>
        </p:nvSpPr>
        <p:spPr>
          <a:xfrm>
            <a:off x="6355080" y="2011680"/>
            <a:ext cx="5029200" cy="411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7E2EC"/>
              </a:buClr>
              <a:buSzPts val="1250"/>
              <a:buFont typeface="Courier New"/>
              <a:buNone/>
            </a:pPr>
            <a:r>
              <a:rPr lang="en-US" sz="1250">
                <a:solidFill>
                  <a:srgbClr val="D7E2EC"/>
                </a:solidFill>
                <a:latin typeface="Courier New"/>
                <a:ea typeface="Courier New"/>
                <a:cs typeface="Courier New"/>
                <a:sym typeface="Courier New"/>
              </a:rPr>
              <a:t>$ cd examples/sw</a:t>
            </a:r>
            <a:endParaRPr sz="1250">
              <a:solidFill>
                <a:schemeClr val="dk1"/>
              </a:solidFill>
              <a:latin typeface="Calibri"/>
              <a:ea typeface="Calibri"/>
              <a:cs typeface="Calibri"/>
              <a:sym typeface="Calibri"/>
            </a:endParaRPr>
          </a:p>
          <a:p>
            <a:pPr indent="0" lvl="0" marL="0" marR="0" rtl="0" algn="l">
              <a:spcBef>
                <a:spcPts val="0"/>
              </a:spcBef>
              <a:spcAft>
                <a:spcPts val="0"/>
              </a:spcAft>
              <a:buClr>
                <a:srgbClr val="D7E2EC"/>
              </a:buClr>
              <a:buSzPts val="1250"/>
              <a:buFont typeface="Courier New"/>
              <a:buNone/>
            </a:pPr>
            <a:r>
              <a:rPr lang="en-US" sz="1250">
                <a:solidFill>
                  <a:srgbClr val="D7E2EC"/>
                </a:solidFill>
                <a:latin typeface="Courier New"/>
                <a:ea typeface="Courier New"/>
                <a:cs typeface="Courier New"/>
                <a:sym typeface="Courier New"/>
              </a:rPr>
              <a:t>$ make sim        </a:t>
            </a:r>
            <a:r>
              <a:rPr lang="en-US" sz="1250">
                <a:solidFill>
                  <a:srgbClr val="7B8FA3"/>
                </a:solidFill>
                <a:latin typeface="Courier New"/>
                <a:ea typeface="Courier New"/>
                <a:cs typeface="Courier New"/>
                <a:sym typeface="Courier New"/>
              </a:rPr>
              <a:t># build Verilator model</a:t>
            </a:r>
            <a:endParaRPr sz="1250">
              <a:solidFill>
                <a:schemeClr val="dk1"/>
              </a:solidFill>
              <a:latin typeface="Calibri"/>
              <a:ea typeface="Calibri"/>
              <a:cs typeface="Calibri"/>
              <a:sym typeface="Calibri"/>
            </a:endParaRPr>
          </a:p>
          <a:p>
            <a:pPr indent="0" lvl="0" marL="0" marR="0" rtl="0" algn="l">
              <a:spcBef>
                <a:spcPts val="0"/>
              </a:spcBef>
              <a:spcAft>
                <a:spcPts val="0"/>
              </a:spcAft>
              <a:buClr>
                <a:srgbClr val="D7E2EC"/>
              </a:buClr>
              <a:buSzPts val="1250"/>
              <a:buFont typeface="Courier New"/>
              <a:buNone/>
            </a:pPr>
            <a:r>
              <a:rPr lang="en-US" sz="1250">
                <a:solidFill>
                  <a:srgbClr val="D7E2EC"/>
                </a:solidFill>
                <a:latin typeface="Courier New"/>
                <a:ea typeface="Courier New"/>
                <a:cs typeface="Courier New"/>
                <a:sym typeface="Courier New"/>
              </a:rPr>
              <a:t>$ make run        </a:t>
            </a:r>
            <a:r>
              <a:rPr lang="en-US" sz="1250">
                <a:solidFill>
                  <a:srgbClr val="7B8FA3"/>
                </a:solidFill>
                <a:latin typeface="Courier New"/>
                <a:ea typeface="Courier New"/>
                <a:cs typeface="Courier New"/>
                <a:sym typeface="Courier New"/>
              </a:rPr>
              <a:t># compile C, run on sim</a:t>
            </a:r>
            <a:endParaRPr sz="125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50"/>
              <a:buFont typeface="Calibri"/>
              <a:buNone/>
            </a:pPr>
            <a:r>
              <a:t/>
            </a:r>
            <a:endParaRPr sz="1250">
              <a:solidFill>
                <a:schemeClr val="dk1"/>
              </a:solidFill>
              <a:latin typeface="Calibri"/>
              <a:ea typeface="Calibri"/>
              <a:cs typeface="Calibri"/>
              <a:sym typeface="Calibri"/>
            </a:endParaRPr>
          </a:p>
          <a:p>
            <a:pPr indent="0" lvl="0" marL="0" marR="0" rtl="0" algn="l">
              <a:spcBef>
                <a:spcPts val="0"/>
              </a:spcBef>
              <a:spcAft>
                <a:spcPts val="0"/>
              </a:spcAft>
              <a:buClr>
                <a:srgbClr val="7B8FA3"/>
              </a:buClr>
              <a:buSzPts val="1250"/>
              <a:buFont typeface="Courier New"/>
              <a:buNone/>
            </a:pPr>
            <a:r>
              <a:rPr lang="en-US" sz="1250">
                <a:solidFill>
                  <a:srgbClr val="7B8FA3"/>
                </a:solidFill>
                <a:latin typeface="Courier New"/>
                <a:ea typeface="Courier New"/>
                <a:cs typeface="Courier New"/>
                <a:sym typeface="Courier New"/>
              </a:rPr>
              <a:t>cva5-sim &lt;log&gt; &lt;sig&gt; &lt;program&gt; &lt;trace&gt;</a:t>
            </a:r>
            <a:endParaRPr sz="125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50"/>
              <a:buFont typeface="Calibri"/>
              <a:buNone/>
            </a:pPr>
            <a:r>
              <a:t/>
            </a:r>
            <a:endParaRPr sz="1250">
              <a:solidFill>
                <a:schemeClr val="dk1"/>
              </a:solidFill>
              <a:latin typeface="Calibri"/>
              <a:ea typeface="Calibri"/>
              <a:cs typeface="Calibri"/>
              <a:sym typeface="Calibri"/>
            </a:endParaRPr>
          </a:p>
          <a:p>
            <a:pPr indent="0" lvl="0" marL="0" marR="0" rtl="0" algn="l">
              <a:spcBef>
                <a:spcPts val="0"/>
              </a:spcBef>
              <a:spcAft>
                <a:spcPts val="0"/>
              </a:spcAft>
              <a:buClr>
                <a:srgbClr val="00E5A0"/>
              </a:buClr>
              <a:buSzPts val="1250"/>
              <a:buFont typeface="Courier New"/>
              <a:buNone/>
            </a:pPr>
            <a:r>
              <a:rPr b="1" lang="en-US" sz="1250">
                <a:solidFill>
                  <a:srgbClr val="00E5A0"/>
                </a:solidFill>
                <a:latin typeface="Courier New"/>
                <a:ea typeface="Courier New"/>
                <a:cs typeface="Courier New"/>
                <a:sym typeface="Courier New"/>
              </a:rPr>
              <a:t>Hello World!</a:t>
            </a:r>
            <a:endParaRPr sz="1250">
              <a:solidFill>
                <a:schemeClr val="dk1"/>
              </a:solidFill>
              <a:latin typeface="Calibri"/>
              <a:ea typeface="Calibri"/>
              <a:cs typeface="Calibri"/>
              <a:sym typeface="Calibri"/>
            </a:endParaRPr>
          </a:p>
          <a:p>
            <a:pPr indent="0" lvl="0" marL="0" marR="0" rtl="0" algn="l">
              <a:spcBef>
                <a:spcPts val="0"/>
              </a:spcBef>
              <a:spcAft>
                <a:spcPts val="0"/>
              </a:spcAft>
              <a:buClr>
                <a:srgbClr val="00E5A0"/>
              </a:buClr>
              <a:buSzPts val="1250"/>
              <a:buFont typeface="Courier New"/>
              <a:buNone/>
            </a:pPr>
            <a:r>
              <a:rPr b="1" lang="en-US" sz="1250">
                <a:solidFill>
                  <a:srgbClr val="00E5A0"/>
                </a:solidFill>
                <a:latin typeface="Courier New"/>
                <a:ea typeface="Courier New"/>
                <a:cs typeface="Courier New"/>
                <a:sym typeface="Courier New"/>
              </a:rPr>
              <a:t>Hello World!</a:t>
            </a:r>
            <a:endParaRPr sz="1250">
              <a:solidFill>
                <a:schemeClr val="dk1"/>
              </a:solidFill>
              <a:latin typeface="Calibri"/>
              <a:ea typeface="Calibri"/>
              <a:cs typeface="Calibri"/>
              <a:sym typeface="Calibri"/>
            </a:endParaRPr>
          </a:p>
          <a:p>
            <a:pPr indent="0" lvl="0" marL="0" marR="0" rtl="0" algn="l">
              <a:spcBef>
                <a:spcPts val="0"/>
              </a:spcBef>
              <a:spcAft>
                <a:spcPts val="0"/>
              </a:spcAft>
              <a:buClr>
                <a:srgbClr val="00E5A0"/>
              </a:buClr>
              <a:buSzPts val="1250"/>
              <a:buFont typeface="Courier New"/>
              <a:buNone/>
            </a:pPr>
            <a:r>
              <a:rPr b="1" lang="en-US" sz="1250">
                <a:solidFill>
                  <a:srgbClr val="00E5A0"/>
                </a:solidFill>
                <a:latin typeface="Courier New"/>
                <a:ea typeface="Courier New"/>
                <a:cs typeface="Courier New"/>
                <a:sym typeface="Courier New"/>
              </a:rPr>
              <a:t>Hello World!</a:t>
            </a:r>
            <a:endParaRPr sz="125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50"/>
              <a:buFont typeface="Calibri"/>
              <a:buNone/>
            </a:pPr>
            <a:r>
              <a:t/>
            </a:r>
            <a:endParaRPr sz="1250">
              <a:solidFill>
                <a:schemeClr val="dk1"/>
              </a:solidFill>
              <a:latin typeface="Calibri"/>
              <a:ea typeface="Calibri"/>
              <a:cs typeface="Calibri"/>
              <a:sym typeface="Calibri"/>
            </a:endParaRPr>
          </a:p>
          <a:p>
            <a:pPr indent="0" lvl="0" marL="0" marR="0" rtl="0" algn="l">
              <a:spcBef>
                <a:spcPts val="0"/>
              </a:spcBef>
              <a:spcAft>
                <a:spcPts val="0"/>
              </a:spcAft>
              <a:buClr>
                <a:srgbClr val="FFC857"/>
              </a:buClr>
              <a:buSzPts val="1250"/>
              <a:buFont typeface="Courier New"/>
              <a:buNone/>
            </a:pPr>
            <a:r>
              <a:rPr lang="en-US" sz="1250">
                <a:solidFill>
                  <a:srgbClr val="FFC857"/>
                </a:solidFill>
                <a:latin typeface="Courier New"/>
                <a:ea typeface="Courier New"/>
                <a:cs typeface="Courier New"/>
                <a:sym typeface="Courier New"/>
              </a:rPr>
              <a:t>sim done: addi x0,x0,10 retired</a:t>
            </a:r>
            <a:endParaRPr sz="125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50"/>
              <a:buFont typeface="Calibri"/>
              <a:buNone/>
            </a:pPr>
            <a:r>
              <a:t/>
            </a:r>
            <a:endParaRPr sz="1250">
              <a:solidFill>
                <a:schemeClr val="dk1"/>
              </a:solidFill>
              <a:latin typeface="Calibri"/>
              <a:ea typeface="Calibri"/>
              <a:cs typeface="Calibri"/>
              <a:sym typeface="Calibri"/>
            </a:endParaRPr>
          </a:p>
          <a:p>
            <a:pPr indent="0" lvl="0" marL="0" marR="0" rtl="0" algn="l">
              <a:spcBef>
                <a:spcPts val="0"/>
              </a:spcBef>
              <a:spcAft>
                <a:spcPts val="0"/>
              </a:spcAft>
              <a:buClr>
                <a:srgbClr val="D7E2EC"/>
              </a:buClr>
              <a:buSzPts val="1250"/>
              <a:buFont typeface="Courier New"/>
              <a:buNone/>
            </a:pPr>
            <a:r>
              <a:rPr lang="en-US" sz="1250">
                <a:solidFill>
                  <a:srgbClr val="D7E2EC"/>
                </a:solidFill>
                <a:latin typeface="Courier New"/>
                <a:ea typeface="Courier New"/>
                <a:cs typeface="Courier New"/>
                <a:sym typeface="Courier New"/>
              </a:rPr>
              <a:t>$ gtkwave trace.fst   </a:t>
            </a:r>
            <a:r>
              <a:rPr lang="en-US" sz="1250">
                <a:solidFill>
                  <a:srgbClr val="7B8FA3"/>
                </a:solidFill>
                <a:latin typeface="Courier New"/>
                <a:ea typeface="Courier New"/>
                <a:cs typeface="Courier New"/>
                <a:sym typeface="Courier New"/>
              </a:rPr>
              <a:t># live waveform →</a:t>
            </a:r>
            <a:endParaRPr sz="125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3" name="Shape 123"/>
        <p:cNvGrpSpPr/>
        <p:nvPr/>
      </p:nvGrpSpPr>
      <p:grpSpPr>
        <a:xfrm>
          <a:off x="0" y="0"/>
          <a:ext cx="0" cy="0"/>
          <a:chOff x="0" y="0"/>
          <a:chExt cx="0" cy="0"/>
        </a:xfrm>
      </p:grpSpPr>
      <p:sp>
        <p:nvSpPr>
          <p:cNvPr id="124" name="Google Shape;124;p8"/>
          <p:cNvSpPr/>
          <p:nvPr/>
        </p:nvSpPr>
        <p:spPr>
          <a:xfrm>
            <a:off x="548640" y="292608"/>
            <a:ext cx="110642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3000"/>
              <a:buFont typeface="Arial"/>
              <a:buNone/>
            </a:pPr>
            <a:r>
              <a:rPr b="1" lang="en-US" sz="3000">
                <a:solidFill>
                  <a:srgbClr val="1F2937"/>
                </a:solidFill>
                <a:latin typeface="Arial"/>
                <a:ea typeface="Arial"/>
                <a:cs typeface="Arial"/>
                <a:sym typeface="Arial"/>
              </a:rPr>
              <a:t>Demo 2 — FPGA: same program, real silicon</a:t>
            </a:r>
            <a:endParaRPr sz="3000">
              <a:solidFill>
                <a:schemeClr val="dk1"/>
              </a:solidFill>
              <a:latin typeface="Calibri"/>
              <a:ea typeface="Calibri"/>
              <a:cs typeface="Calibri"/>
              <a:sym typeface="Calibri"/>
            </a:endParaRPr>
          </a:p>
        </p:txBody>
      </p:sp>
      <p:sp>
        <p:nvSpPr>
          <p:cNvPr id="125" name="Google Shape;125;p8"/>
          <p:cNvSpPr/>
          <p:nvPr/>
        </p:nvSpPr>
        <p:spPr>
          <a:xfrm>
            <a:off x="548640" y="896112"/>
            <a:ext cx="11064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C"/>
              </a:buClr>
              <a:buSzPts val="1400"/>
              <a:buFont typeface="Arial"/>
              <a:buNone/>
            </a:pPr>
            <a:r>
              <a:rPr lang="en-US" sz="1400">
                <a:solidFill>
                  <a:srgbClr val="5B6B7C"/>
                </a:solidFill>
                <a:latin typeface="Arial"/>
                <a:ea typeface="Arial"/>
                <a:cs typeface="Arial"/>
                <a:sym typeface="Arial"/>
              </a:rPr>
              <a:t>PYNQ-Z2 (Zynq-7020) · Vivado 2025.1 · live UART output</a:t>
            </a:r>
            <a:endParaRPr sz="1400">
              <a:solidFill>
                <a:schemeClr val="dk1"/>
              </a:solidFill>
              <a:latin typeface="Calibri"/>
              <a:ea typeface="Calibri"/>
              <a:cs typeface="Calibri"/>
              <a:sym typeface="Calibri"/>
            </a:endParaRPr>
          </a:p>
        </p:txBody>
      </p:sp>
      <p:sp>
        <p:nvSpPr>
          <p:cNvPr id="126" name="Google Shape;126;p8"/>
          <p:cNvSpPr/>
          <p:nvPr/>
        </p:nvSpPr>
        <p:spPr>
          <a:xfrm>
            <a:off x="548640" y="1463040"/>
            <a:ext cx="6035040" cy="3200400"/>
          </a:xfrm>
          <a:prstGeom prst="roundRect">
            <a:avLst>
              <a:gd fmla="val 3429" name="adj"/>
            </a:avLst>
          </a:prstGeom>
          <a:solidFill>
            <a:srgbClr val="F4F6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8"/>
          <p:cNvSpPr/>
          <p:nvPr/>
        </p:nvSpPr>
        <p:spPr>
          <a:xfrm>
            <a:off x="1327356" y="1701732"/>
            <a:ext cx="5486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400"/>
              <a:buFont typeface="Arial"/>
              <a:buNone/>
            </a:pPr>
            <a:r>
              <a:rPr b="1" lang="en-US" sz="1400">
                <a:solidFill>
                  <a:srgbClr val="1F2937"/>
                </a:solidFill>
                <a:latin typeface="Arial"/>
                <a:ea typeface="Arial"/>
                <a:cs typeface="Arial"/>
                <a:sym typeface="Arial"/>
              </a:rPr>
              <a:t>What you'll see</a:t>
            </a:r>
            <a:endParaRPr sz="1400">
              <a:solidFill>
                <a:schemeClr val="dk1"/>
              </a:solidFill>
              <a:latin typeface="Calibri"/>
              <a:ea typeface="Calibri"/>
              <a:cs typeface="Calibri"/>
              <a:sym typeface="Calibri"/>
            </a:endParaRPr>
          </a:p>
        </p:txBody>
      </p:sp>
      <p:sp>
        <p:nvSpPr>
          <p:cNvPr id="128" name="Google Shape;128;p8"/>
          <p:cNvSpPr/>
          <p:nvPr/>
        </p:nvSpPr>
        <p:spPr>
          <a:xfrm>
            <a:off x="822960" y="2286000"/>
            <a:ext cx="1417320" cy="868680"/>
          </a:xfrm>
          <a:prstGeom prst="roundRect">
            <a:avLst>
              <a:gd fmla="val 6316" name="adj"/>
            </a:avLst>
          </a:prstGeom>
          <a:solidFill>
            <a:srgbClr val="FFFFFF"/>
          </a:solidFill>
          <a:ln cap="flat" cmpd="sng" w="19050">
            <a:solidFill>
              <a:srgbClr val="2563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8"/>
          <p:cNvSpPr/>
          <p:nvPr/>
        </p:nvSpPr>
        <p:spPr>
          <a:xfrm>
            <a:off x="822960" y="2391156"/>
            <a:ext cx="141732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937"/>
              </a:buClr>
              <a:buSzPts val="1200"/>
              <a:buFont typeface="Arial"/>
              <a:buNone/>
            </a:pPr>
            <a:r>
              <a:rPr b="1" lang="en-US" sz="1200">
                <a:solidFill>
                  <a:srgbClr val="1F2937"/>
                </a:solidFill>
                <a:latin typeface="Arial"/>
                <a:ea typeface="Arial"/>
                <a:cs typeface="Arial"/>
                <a:sym typeface="Arial"/>
              </a:rPr>
              <a:t>clk_wiz</a:t>
            </a:r>
            <a:endParaRPr sz="1200">
              <a:solidFill>
                <a:schemeClr val="dk1"/>
              </a:solidFill>
              <a:latin typeface="Calibri"/>
              <a:ea typeface="Calibri"/>
              <a:cs typeface="Calibri"/>
              <a:sym typeface="Calibri"/>
            </a:endParaRPr>
          </a:p>
        </p:txBody>
      </p:sp>
      <p:sp>
        <p:nvSpPr>
          <p:cNvPr id="130" name="Google Shape;130;p8"/>
          <p:cNvSpPr/>
          <p:nvPr/>
        </p:nvSpPr>
        <p:spPr>
          <a:xfrm>
            <a:off x="822960" y="2738628"/>
            <a:ext cx="141732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B7C"/>
              </a:buClr>
              <a:buSzPts val="950"/>
              <a:buFont typeface="Arial"/>
              <a:buNone/>
            </a:pPr>
            <a:r>
              <a:rPr lang="en-US" sz="950">
                <a:solidFill>
                  <a:srgbClr val="5B6B7C"/>
                </a:solidFill>
                <a:latin typeface="Arial"/>
                <a:ea typeface="Arial"/>
                <a:cs typeface="Arial"/>
                <a:sym typeface="Arial"/>
              </a:rPr>
              <a:t>125→100 MHz</a:t>
            </a:r>
            <a:endParaRPr sz="950">
              <a:solidFill>
                <a:schemeClr val="dk1"/>
              </a:solidFill>
              <a:latin typeface="Calibri"/>
              <a:ea typeface="Calibri"/>
              <a:cs typeface="Calibri"/>
              <a:sym typeface="Calibri"/>
            </a:endParaRPr>
          </a:p>
        </p:txBody>
      </p:sp>
      <p:sp>
        <p:nvSpPr>
          <p:cNvPr id="131" name="Google Shape;131;p8"/>
          <p:cNvSpPr/>
          <p:nvPr/>
        </p:nvSpPr>
        <p:spPr>
          <a:xfrm>
            <a:off x="822960" y="3429000"/>
            <a:ext cx="1417320" cy="868680"/>
          </a:xfrm>
          <a:prstGeom prst="roundRect">
            <a:avLst>
              <a:gd fmla="val 6316" name="adj"/>
            </a:avLst>
          </a:prstGeom>
          <a:solidFill>
            <a:srgbClr val="FFFFFF"/>
          </a:solidFill>
          <a:ln cap="flat" cmpd="sng" w="19050">
            <a:solidFill>
              <a:srgbClr val="D977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8"/>
          <p:cNvSpPr/>
          <p:nvPr/>
        </p:nvSpPr>
        <p:spPr>
          <a:xfrm>
            <a:off x="822960" y="3534156"/>
            <a:ext cx="141732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937"/>
              </a:buClr>
              <a:buSzPts val="1200"/>
              <a:buFont typeface="Arial"/>
              <a:buNone/>
            </a:pPr>
            <a:r>
              <a:rPr b="1" lang="en-US" sz="1200">
                <a:solidFill>
                  <a:srgbClr val="1F2937"/>
                </a:solidFill>
                <a:latin typeface="Arial"/>
                <a:ea typeface="Arial"/>
                <a:cs typeface="Arial"/>
                <a:sym typeface="Arial"/>
              </a:rPr>
              <a:t>reset</a:t>
            </a:r>
            <a:endParaRPr sz="1200">
              <a:solidFill>
                <a:schemeClr val="dk1"/>
              </a:solidFill>
              <a:latin typeface="Calibri"/>
              <a:ea typeface="Calibri"/>
              <a:cs typeface="Calibri"/>
              <a:sym typeface="Calibri"/>
            </a:endParaRPr>
          </a:p>
        </p:txBody>
      </p:sp>
      <p:sp>
        <p:nvSpPr>
          <p:cNvPr id="133" name="Google Shape;133;p8"/>
          <p:cNvSpPr/>
          <p:nvPr/>
        </p:nvSpPr>
        <p:spPr>
          <a:xfrm>
            <a:off x="822960" y="3881628"/>
            <a:ext cx="141732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B7C"/>
              </a:buClr>
              <a:buSzPts val="950"/>
              <a:buFont typeface="Arial"/>
              <a:buNone/>
            </a:pPr>
            <a:r>
              <a:rPr lang="en-US" sz="950">
                <a:solidFill>
                  <a:srgbClr val="5B6B7C"/>
                </a:solidFill>
                <a:latin typeface="Arial"/>
                <a:ea typeface="Arial"/>
                <a:cs typeface="Arial"/>
                <a:sym typeface="Arial"/>
              </a:rPr>
              <a:t>SW0 switch</a:t>
            </a:r>
            <a:endParaRPr sz="950">
              <a:solidFill>
                <a:schemeClr val="dk1"/>
              </a:solidFill>
              <a:latin typeface="Calibri"/>
              <a:ea typeface="Calibri"/>
              <a:cs typeface="Calibri"/>
              <a:sym typeface="Calibri"/>
            </a:endParaRPr>
          </a:p>
        </p:txBody>
      </p:sp>
      <p:sp>
        <p:nvSpPr>
          <p:cNvPr id="134" name="Google Shape;134;p8"/>
          <p:cNvSpPr/>
          <p:nvPr/>
        </p:nvSpPr>
        <p:spPr>
          <a:xfrm>
            <a:off x="2697480" y="2377440"/>
            <a:ext cx="1737360" cy="1920240"/>
          </a:xfrm>
          <a:prstGeom prst="roundRect">
            <a:avLst>
              <a:gd fmla="val 3158" name="adj"/>
            </a:avLst>
          </a:prstGeom>
          <a:solidFill>
            <a:srgbClr val="FFFFFF"/>
          </a:solidFill>
          <a:ln cap="flat" cmpd="sng" w="19050">
            <a:solidFill>
              <a:srgbClr val="0E9F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8"/>
          <p:cNvSpPr/>
          <p:nvPr/>
        </p:nvSpPr>
        <p:spPr>
          <a:xfrm>
            <a:off x="2697480" y="3008376"/>
            <a:ext cx="17373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937"/>
              </a:buClr>
              <a:buSzPts val="1200"/>
              <a:buFont typeface="Arial"/>
              <a:buNone/>
            </a:pPr>
            <a:r>
              <a:rPr b="1" lang="en-US" sz="1200">
                <a:solidFill>
                  <a:srgbClr val="1F2937"/>
                </a:solidFill>
                <a:latin typeface="Arial"/>
                <a:ea typeface="Arial"/>
                <a:cs typeface="Arial"/>
                <a:sym typeface="Arial"/>
              </a:rPr>
              <a:t>CVA5</a:t>
            </a:r>
            <a:endParaRPr sz="1200">
              <a:solidFill>
                <a:schemeClr val="dk1"/>
              </a:solidFill>
              <a:latin typeface="Calibri"/>
              <a:ea typeface="Calibri"/>
              <a:cs typeface="Calibri"/>
              <a:sym typeface="Calibri"/>
            </a:endParaRPr>
          </a:p>
        </p:txBody>
      </p:sp>
      <p:sp>
        <p:nvSpPr>
          <p:cNvPr id="136" name="Google Shape;136;p8"/>
          <p:cNvSpPr/>
          <p:nvPr/>
        </p:nvSpPr>
        <p:spPr>
          <a:xfrm>
            <a:off x="2697480" y="3355848"/>
            <a:ext cx="173736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B7C"/>
              </a:buClr>
              <a:buSzPts val="950"/>
              <a:buFont typeface="Arial"/>
              <a:buNone/>
            </a:pPr>
            <a:r>
              <a:rPr lang="en-US" sz="950">
                <a:solidFill>
                  <a:srgbClr val="5B6B7C"/>
                </a:solidFill>
                <a:latin typeface="Arial"/>
                <a:ea typeface="Arial"/>
                <a:cs typeface="Arial"/>
                <a:sym typeface="Arial"/>
              </a:rPr>
              <a:t>RV32IM + BRAM</a:t>
            </a:r>
            <a:endParaRPr sz="950">
              <a:solidFill>
                <a:schemeClr val="dk1"/>
              </a:solidFill>
              <a:latin typeface="Calibri"/>
              <a:ea typeface="Calibri"/>
              <a:cs typeface="Calibri"/>
              <a:sym typeface="Calibri"/>
            </a:endParaRPr>
          </a:p>
        </p:txBody>
      </p:sp>
      <p:sp>
        <p:nvSpPr>
          <p:cNvPr id="137" name="Google Shape;137;p8"/>
          <p:cNvSpPr/>
          <p:nvPr/>
        </p:nvSpPr>
        <p:spPr>
          <a:xfrm>
            <a:off x="4892040" y="2788920"/>
            <a:ext cx="1463040" cy="1097280"/>
          </a:xfrm>
          <a:prstGeom prst="roundRect">
            <a:avLst>
              <a:gd fmla="val 5000" name="adj"/>
            </a:avLst>
          </a:prstGeom>
          <a:solidFill>
            <a:srgbClr val="FFFFFF"/>
          </a:solidFill>
          <a:ln cap="flat" cmpd="sng" w="19050">
            <a:solidFill>
              <a:srgbClr val="2563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8"/>
          <p:cNvSpPr/>
          <p:nvPr/>
        </p:nvSpPr>
        <p:spPr>
          <a:xfrm>
            <a:off x="4892040" y="3008376"/>
            <a:ext cx="14630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937"/>
              </a:buClr>
              <a:buSzPts val="1200"/>
              <a:buFont typeface="Arial"/>
              <a:buNone/>
            </a:pPr>
            <a:r>
              <a:rPr b="1" lang="en-US" sz="1200">
                <a:solidFill>
                  <a:srgbClr val="1F2937"/>
                </a:solidFill>
                <a:latin typeface="Arial"/>
                <a:ea typeface="Arial"/>
                <a:cs typeface="Arial"/>
                <a:sym typeface="Arial"/>
              </a:rPr>
              <a:t>AXI UART</a:t>
            </a:r>
            <a:endParaRPr sz="1200">
              <a:solidFill>
                <a:schemeClr val="dk1"/>
              </a:solidFill>
              <a:latin typeface="Calibri"/>
              <a:ea typeface="Calibri"/>
              <a:cs typeface="Calibri"/>
              <a:sym typeface="Calibri"/>
            </a:endParaRPr>
          </a:p>
          <a:p>
            <a:pPr indent="0" lvl="0" marL="0" marR="0" rtl="0" algn="ctr">
              <a:spcBef>
                <a:spcPts val="0"/>
              </a:spcBef>
              <a:spcAft>
                <a:spcPts val="0"/>
              </a:spcAft>
              <a:buClr>
                <a:srgbClr val="1F2937"/>
              </a:buClr>
              <a:buSzPts val="1200"/>
              <a:buFont typeface="Arial"/>
              <a:buNone/>
            </a:pPr>
            <a:r>
              <a:rPr b="1" lang="en-US" sz="1200">
                <a:solidFill>
                  <a:srgbClr val="1F2937"/>
                </a:solidFill>
                <a:latin typeface="Arial"/>
                <a:ea typeface="Arial"/>
                <a:cs typeface="Arial"/>
                <a:sym typeface="Arial"/>
              </a:rPr>
              <a:t>Lite</a:t>
            </a:r>
            <a:endParaRPr sz="1200">
              <a:solidFill>
                <a:schemeClr val="dk1"/>
              </a:solidFill>
              <a:latin typeface="Calibri"/>
              <a:ea typeface="Calibri"/>
              <a:cs typeface="Calibri"/>
              <a:sym typeface="Calibri"/>
            </a:endParaRPr>
          </a:p>
        </p:txBody>
      </p:sp>
      <p:sp>
        <p:nvSpPr>
          <p:cNvPr id="139" name="Google Shape;139;p8"/>
          <p:cNvSpPr/>
          <p:nvPr/>
        </p:nvSpPr>
        <p:spPr>
          <a:xfrm>
            <a:off x="4892040" y="3355848"/>
            <a:ext cx="146304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B7C"/>
              </a:buClr>
              <a:buSzPts val="950"/>
              <a:buFont typeface="Arial"/>
              <a:buNone/>
            </a:pPr>
            <a:r>
              <a:rPr lang="en-US" sz="950">
                <a:solidFill>
                  <a:srgbClr val="5B6B7C"/>
                </a:solidFill>
                <a:latin typeface="Arial"/>
                <a:ea typeface="Arial"/>
                <a:cs typeface="Arial"/>
                <a:sym typeface="Arial"/>
              </a:rPr>
              <a:t>9600 8N1</a:t>
            </a:r>
            <a:endParaRPr sz="950">
              <a:solidFill>
                <a:schemeClr val="dk1"/>
              </a:solidFill>
              <a:latin typeface="Calibri"/>
              <a:ea typeface="Calibri"/>
              <a:cs typeface="Calibri"/>
              <a:sym typeface="Calibri"/>
            </a:endParaRPr>
          </a:p>
        </p:txBody>
      </p:sp>
      <p:cxnSp>
        <p:nvCxnSpPr>
          <p:cNvPr id="140" name="Google Shape;140;p8"/>
          <p:cNvCxnSpPr/>
          <p:nvPr/>
        </p:nvCxnSpPr>
        <p:spPr>
          <a:xfrm>
            <a:off x="2240280" y="2715768"/>
            <a:ext cx="457200" cy="0"/>
          </a:xfrm>
          <a:prstGeom prst="straightConnector1">
            <a:avLst/>
          </a:prstGeom>
          <a:noFill/>
          <a:ln cap="flat" cmpd="sng" w="22225">
            <a:solidFill>
              <a:srgbClr val="5B6B7C"/>
            </a:solidFill>
            <a:prstDash val="solid"/>
            <a:round/>
            <a:headEnd len="sm" w="sm" type="none"/>
            <a:tailEnd len="med" w="med" type="triangle"/>
          </a:ln>
        </p:spPr>
      </p:cxnSp>
      <p:cxnSp>
        <p:nvCxnSpPr>
          <p:cNvPr id="141" name="Google Shape;141;p8"/>
          <p:cNvCxnSpPr/>
          <p:nvPr/>
        </p:nvCxnSpPr>
        <p:spPr>
          <a:xfrm>
            <a:off x="2240280" y="3858768"/>
            <a:ext cx="457200" cy="0"/>
          </a:xfrm>
          <a:prstGeom prst="straightConnector1">
            <a:avLst/>
          </a:prstGeom>
          <a:noFill/>
          <a:ln cap="flat" cmpd="sng" w="22225">
            <a:solidFill>
              <a:srgbClr val="5B6B7C"/>
            </a:solidFill>
            <a:prstDash val="solid"/>
            <a:round/>
            <a:headEnd len="sm" w="sm" type="none"/>
            <a:tailEnd len="med" w="med" type="triangle"/>
          </a:ln>
        </p:spPr>
      </p:cxnSp>
      <p:cxnSp>
        <p:nvCxnSpPr>
          <p:cNvPr id="142" name="Google Shape;142;p8"/>
          <p:cNvCxnSpPr/>
          <p:nvPr/>
        </p:nvCxnSpPr>
        <p:spPr>
          <a:xfrm>
            <a:off x="4434840" y="3337560"/>
            <a:ext cx="457200" cy="0"/>
          </a:xfrm>
          <a:prstGeom prst="straightConnector1">
            <a:avLst/>
          </a:prstGeom>
          <a:noFill/>
          <a:ln cap="flat" cmpd="sng" w="22225">
            <a:solidFill>
              <a:srgbClr val="5B6B7C"/>
            </a:solidFill>
            <a:prstDash val="solid"/>
            <a:round/>
            <a:headEnd len="sm" w="sm" type="none"/>
            <a:tailEnd len="med" w="med" type="triangle"/>
          </a:ln>
        </p:spPr>
      </p:cxnSp>
      <p:sp>
        <p:nvSpPr>
          <p:cNvPr id="143" name="Google Shape;143;p8"/>
          <p:cNvSpPr/>
          <p:nvPr/>
        </p:nvSpPr>
        <p:spPr>
          <a:xfrm>
            <a:off x="548640" y="4846320"/>
            <a:ext cx="6035040" cy="1417320"/>
          </a:xfrm>
          <a:prstGeom prst="roundRect">
            <a:avLst>
              <a:gd fmla="val 7742" name="adj"/>
            </a:avLst>
          </a:prstGeom>
          <a:solidFill>
            <a:srgbClr val="EAF6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8"/>
          <p:cNvSpPr/>
          <p:nvPr/>
        </p:nvSpPr>
        <p:spPr>
          <a:xfrm>
            <a:off x="822960" y="4983480"/>
            <a:ext cx="5486400" cy="114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Arial"/>
              <a:buNone/>
            </a:pPr>
            <a:r>
              <a:rPr b="1" lang="en-US" sz="1300">
                <a:solidFill>
                  <a:srgbClr val="1F2937"/>
                </a:solidFill>
                <a:latin typeface="Arial"/>
                <a:ea typeface="Arial"/>
                <a:cs typeface="Arial"/>
                <a:sym typeface="Arial"/>
              </a:rPr>
              <a:t>Same binary, both worlds.  </a:t>
            </a:r>
            <a:r>
              <a:rPr lang="en-US" sz="1300">
                <a:solidFill>
                  <a:srgbClr val="5B6B7C"/>
                </a:solidFill>
                <a:latin typeface="Arial"/>
                <a:ea typeface="Arial"/>
                <a:cs typeface="Arial"/>
                <a:sym typeface="Arial"/>
              </a:rPr>
              <a:t>program.hex for simulation and mem.mif for the FPGA block RAM share one format. </a:t>
            </a:r>
            <a:r>
              <a:rPr b="1" lang="en-US" sz="1300">
                <a:solidFill>
                  <a:srgbClr val="0E9F6E"/>
                </a:solidFill>
                <a:latin typeface="Courier New"/>
                <a:ea typeface="Courier New"/>
                <a:cs typeface="Courier New"/>
                <a:sym typeface="Courier New"/>
              </a:rPr>
              <a:t>make mif</a:t>
            </a:r>
            <a:r>
              <a:rPr lang="en-US" sz="1300">
                <a:solidFill>
                  <a:srgbClr val="5B6B7C"/>
                </a:solidFill>
                <a:latin typeface="Arial"/>
                <a:ea typeface="Arial"/>
                <a:cs typeface="Arial"/>
                <a:sym typeface="Arial"/>
              </a:rPr>
              <a:t> rebuilds the FPGA image straight from main.c.</a:t>
            </a:r>
            <a:endParaRPr sz="1300">
              <a:solidFill>
                <a:schemeClr val="dk1"/>
              </a:solidFill>
              <a:latin typeface="Calibri"/>
              <a:ea typeface="Calibri"/>
              <a:cs typeface="Calibri"/>
              <a:sym typeface="Calibri"/>
            </a:endParaRPr>
          </a:p>
        </p:txBody>
      </p:sp>
      <p:sp>
        <p:nvSpPr>
          <p:cNvPr id="145" name="Google Shape;145;p8"/>
          <p:cNvSpPr/>
          <p:nvPr/>
        </p:nvSpPr>
        <p:spPr>
          <a:xfrm>
            <a:off x="6858000" y="1463040"/>
            <a:ext cx="4754880" cy="4800600"/>
          </a:xfrm>
          <a:prstGeom prst="roundRect">
            <a:avLst>
              <a:gd fmla="val 2308" name="adj"/>
            </a:avLst>
          </a:prstGeom>
          <a:solidFill>
            <a:srgbClr val="1020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8"/>
          <p:cNvSpPr/>
          <p:nvPr/>
        </p:nvSpPr>
        <p:spPr>
          <a:xfrm>
            <a:off x="7086600" y="1664208"/>
            <a:ext cx="128016" cy="128016"/>
          </a:xfrm>
          <a:prstGeom prst="ellipse">
            <a:avLst/>
          </a:prstGeom>
          <a:solidFill>
            <a:srgbClr val="FF6B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8"/>
          <p:cNvSpPr/>
          <p:nvPr/>
        </p:nvSpPr>
        <p:spPr>
          <a:xfrm>
            <a:off x="7287768" y="1664208"/>
            <a:ext cx="128016" cy="128016"/>
          </a:xfrm>
          <a:prstGeom prst="ellipse">
            <a:avLst/>
          </a:prstGeom>
          <a:solidFill>
            <a:srgbClr val="FFC8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8"/>
          <p:cNvSpPr/>
          <p:nvPr/>
        </p:nvSpPr>
        <p:spPr>
          <a:xfrm>
            <a:off x="7488936" y="1664208"/>
            <a:ext cx="128016" cy="128016"/>
          </a:xfrm>
          <a:prstGeom prst="ellipse">
            <a:avLst/>
          </a:prstGeom>
          <a:solidFill>
            <a:srgbClr val="00E5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8"/>
          <p:cNvSpPr/>
          <p:nvPr/>
        </p:nvSpPr>
        <p:spPr>
          <a:xfrm>
            <a:off x="7178040" y="2011680"/>
            <a:ext cx="4206240" cy="411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7B8FA3"/>
              </a:buClr>
              <a:buSzPts val="1300"/>
              <a:buFont typeface="Courier New"/>
              <a:buNone/>
            </a:pPr>
            <a:r>
              <a:rPr lang="en-US" sz="1300">
                <a:solidFill>
                  <a:srgbClr val="7B8FA3"/>
                </a:solidFill>
                <a:latin typeface="Courier New"/>
                <a:ea typeface="Courier New"/>
                <a:cs typeface="Courier New"/>
                <a:sym typeface="Courier New"/>
              </a:rPr>
              <a:t>PuTTY — COM4 @ 9600 8N1</a:t>
            </a:r>
            <a:endParaRPr sz="13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300"/>
              <a:buFont typeface="Calibri"/>
              <a:buNone/>
            </a:pPr>
            <a:r>
              <a:t/>
            </a:r>
            <a:endParaRPr sz="1300">
              <a:solidFill>
                <a:schemeClr val="dk1"/>
              </a:solidFill>
              <a:latin typeface="Calibri"/>
              <a:ea typeface="Calibri"/>
              <a:cs typeface="Calibri"/>
              <a:sym typeface="Calibri"/>
            </a:endParaRPr>
          </a:p>
          <a:p>
            <a:pPr indent="0" lvl="0" marL="0" marR="0" rtl="0" algn="l">
              <a:spcBef>
                <a:spcPts val="0"/>
              </a:spcBef>
              <a:spcAft>
                <a:spcPts val="0"/>
              </a:spcAft>
              <a:buClr>
                <a:srgbClr val="00E5A0"/>
              </a:buClr>
              <a:buSzPts val="1300"/>
              <a:buFont typeface="Courier New"/>
              <a:buNone/>
            </a:pPr>
            <a:r>
              <a:rPr b="1" lang="en-US" sz="1300">
                <a:solidFill>
                  <a:srgbClr val="00E5A0"/>
                </a:solidFill>
                <a:latin typeface="Courier New"/>
                <a:ea typeface="Courier New"/>
                <a:cs typeface="Courier New"/>
                <a:sym typeface="Courier New"/>
              </a:rPr>
              <a:t>Hello World!</a:t>
            </a:r>
            <a:endParaRPr sz="1300">
              <a:solidFill>
                <a:schemeClr val="dk1"/>
              </a:solidFill>
              <a:latin typeface="Calibri"/>
              <a:ea typeface="Calibri"/>
              <a:cs typeface="Calibri"/>
              <a:sym typeface="Calibri"/>
            </a:endParaRPr>
          </a:p>
          <a:p>
            <a:pPr indent="0" lvl="0" marL="0" marR="0" rtl="0" algn="l">
              <a:spcBef>
                <a:spcPts val="0"/>
              </a:spcBef>
              <a:spcAft>
                <a:spcPts val="0"/>
              </a:spcAft>
              <a:buClr>
                <a:srgbClr val="00E5A0"/>
              </a:buClr>
              <a:buSzPts val="1300"/>
              <a:buFont typeface="Courier New"/>
              <a:buNone/>
            </a:pPr>
            <a:r>
              <a:rPr b="1" lang="en-US" sz="1300">
                <a:solidFill>
                  <a:srgbClr val="00E5A0"/>
                </a:solidFill>
                <a:latin typeface="Courier New"/>
                <a:ea typeface="Courier New"/>
                <a:cs typeface="Courier New"/>
                <a:sym typeface="Courier New"/>
              </a:rPr>
              <a:t>Hello World!</a:t>
            </a:r>
            <a:endParaRPr sz="1300">
              <a:solidFill>
                <a:schemeClr val="dk1"/>
              </a:solidFill>
              <a:latin typeface="Calibri"/>
              <a:ea typeface="Calibri"/>
              <a:cs typeface="Calibri"/>
              <a:sym typeface="Calibri"/>
            </a:endParaRPr>
          </a:p>
          <a:p>
            <a:pPr indent="0" lvl="0" marL="0" marR="0" rtl="0" algn="l">
              <a:spcBef>
                <a:spcPts val="0"/>
              </a:spcBef>
              <a:spcAft>
                <a:spcPts val="0"/>
              </a:spcAft>
              <a:buClr>
                <a:srgbClr val="00E5A0"/>
              </a:buClr>
              <a:buSzPts val="1300"/>
              <a:buFont typeface="Courier New"/>
              <a:buNone/>
            </a:pPr>
            <a:r>
              <a:rPr b="1" lang="en-US" sz="1300">
                <a:solidFill>
                  <a:srgbClr val="00E5A0"/>
                </a:solidFill>
                <a:latin typeface="Courier New"/>
                <a:ea typeface="Courier New"/>
                <a:cs typeface="Courier New"/>
                <a:sym typeface="Courier New"/>
              </a:rPr>
              <a:t>Hello World!</a:t>
            </a:r>
            <a:endParaRPr sz="1300">
              <a:solidFill>
                <a:schemeClr val="dk1"/>
              </a:solidFill>
              <a:latin typeface="Calibri"/>
              <a:ea typeface="Calibri"/>
              <a:cs typeface="Calibri"/>
              <a:sym typeface="Calibri"/>
            </a:endParaRPr>
          </a:p>
          <a:p>
            <a:pPr indent="0" lvl="0" marL="0" marR="0" rtl="0" algn="l">
              <a:spcBef>
                <a:spcPts val="0"/>
              </a:spcBef>
              <a:spcAft>
                <a:spcPts val="0"/>
              </a:spcAft>
              <a:buClr>
                <a:srgbClr val="00E5A0"/>
              </a:buClr>
              <a:buSzPts val="1300"/>
              <a:buFont typeface="Courier New"/>
              <a:buNone/>
            </a:pPr>
            <a:r>
              <a:rPr b="1" lang="en-US" sz="1300">
                <a:solidFill>
                  <a:srgbClr val="00E5A0"/>
                </a:solidFill>
                <a:latin typeface="Courier New"/>
                <a:ea typeface="Courier New"/>
                <a:cs typeface="Courier New"/>
                <a:sym typeface="Courier New"/>
              </a:rPr>
              <a:t>Hello World!</a:t>
            </a:r>
            <a:endParaRPr sz="13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300"/>
              <a:buFont typeface="Calibri"/>
              <a:buNone/>
            </a:pPr>
            <a:r>
              <a:t/>
            </a:r>
            <a:endParaRPr sz="1300">
              <a:solidFill>
                <a:schemeClr val="dk1"/>
              </a:solidFill>
              <a:latin typeface="Calibri"/>
              <a:ea typeface="Calibri"/>
              <a:cs typeface="Calibri"/>
              <a:sym typeface="Calibri"/>
            </a:endParaRPr>
          </a:p>
          <a:p>
            <a:pPr indent="0" lvl="0" marL="0" marR="0" rtl="0" algn="l">
              <a:spcBef>
                <a:spcPts val="0"/>
              </a:spcBef>
              <a:spcAft>
                <a:spcPts val="0"/>
              </a:spcAft>
              <a:buClr>
                <a:srgbClr val="D7E2EC"/>
              </a:buClr>
              <a:buSzPts val="1300"/>
              <a:buFont typeface="Courier New"/>
              <a:buNone/>
            </a:pPr>
            <a:r>
              <a:rPr lang="en-US" sz="1300">
                <a:solidFill>
                  <a:srgbClr val="D7E2EC"/>
                </a:solidFill>
                <a:latin typeface="Courier New"/>
                <a:ea typeface="Courier New"/>
                <a:cs typeface="Courier New"/>
                <a:sym typeface="Courier New"/>
              </a:rPr>
              <a:t>one line per second,</a:t>
            </a:r>
            <a:endParaRPr sz="1300">
              <a:solidFill>
                <a:schemeClr val="dk1"/>
              </a:solidFill>
              <a:latin typeface="Calibri"/>
              <a:ea typeface="Calibri"/>
              <a:cs typeface="Calibri"/>
              <a:sym typeface="Calibri"/>
            </a:endParaRPr>
          </a:p>
          <a:p>
            <a:pPr indent="0" lvl="0" marL="0" marR="0" rtl="0" algn="l">
              <a:spcBef>
                <a:spcPts val="0"/>
              </a:spcBef>
              <a:spcAft>
                <a:spcPts val="0"/>
              </a:spcAft>
              <a:buClr>
                <a:srgbClr val="7B8FA3"/>
              </a:buClr>
              <a:buSzPts val="1300"/>
              <a:buFont typeface="Courier New"/>
              <a:buNone/>
            </a:pPr>
            <a:r>
              <a:rPr lang="en-US" sz="1300">
                <a:solidFill>
                  <a:srgbClr val="7B8FA3"/>
                </a:solidFill>
                <a:latin typeface="Courier New"/>
                <a:ea typeface="Courier New"/>
                <a:cs typeface="Courier New"/>
                <a:sym typeface="Courier New"/>
              </a:rPr>
              <a:t>usleep() timed to the</a:t>
            </a:r>
            <a:endParaRPr sz="1300">
              <a:solidFill>
                <a:schemeClr val="dk1"/>
              </a:solidFill>
              <a:latin typeface="Calibri"/>
              <a:ea typeface="Calibri"/>
              <a:cs typeface="Calibri"/>
              <a:sym typeface="Calibri"/>
            </a:endParaRPr>
          </a:p>
          <a:p>
            <a:pPr indent="0" lvl="0" marL="0" marR="0" rtl="0" algn="l">
              <a:spcBef>
                <a:spcPts val="0"/>
              </a:spcBef>
              <a:spcAft>
                <a:spcPts val="0"/>
              </a:spcAft>
              <a:buClr>
                <a:srgbClr val="7B8FA3"/>
              </a:buClr>
              <a:buSzPts val="1300"/>
              <a:buFont typeface="Courier New"/>
              <a:buNone/>
            </a:pPr>
            <a:r>
              <a:rPr lang="en-US" sz="1300">
                <a:solidFill>
                  <a:srgbClr val="7B8FA3"/>
                </a:solidFill>
                <a:latin typeface="Courier New"/>
                <a:ea typeface="Courier New"/>
                <a:cs typeface="Courier New"/>
                <a:sym typeface="Courier New"/>
              </a:rPr>
              <a:t>100 MHz core clock</a:t>
            </a:r>
            <a:endParaRPr sz="13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300"/>
              <a:buFont typeface="Calibri"/>
              <a:buNone/>
            </a:pPr>
            <a:r>
              <a:t/>
            </a:r>
            <a:endParaRPr sz="1300">
              <a:solidFill>
                <a:schemeClr val="dk1"/>
              </a:solidFill>
              <a:latin typeface="Calibri"/>
              <a:ea typeface="Calibri"/>
              <a:cs typeface="Calibri"/>
              <a:sym typeface="Calibri"/>
            </a:endParaRPr>
          </a:p>
          <a:p>
            <a:pPr indent="0" lvl="0" marL="0" marR="0" rtl="0" algn="l">
              <a:spcBef>
                <a:spcPts val="0"/>
              </a:spcBef>
              <a:spcAft>
                <a:spcPts val="0"/>
              </a:spcAft>
              <a:buClr>
                <a:srgbClr val="FFC857"/>
              </a:buClr>
              <a:buSzPts val="1300"/>
              <a:buFont typeface="Courier New"/>
              <a:buNone/>
            </a:pPr>
            <a:r>
              <a:rPr lang="en-US" sz="1300">
                <a:solidFill>
                  <a:srgbClr val="FFC857"/>
                </a:solidFill>
                <a:latin typeface="Courier New"/>
                <a:ea typeface="Courier New"/>
                <a:cs typeface="Courier New"/>
                <a:sym typeface="Courier New"/>
              </a:rPr>
              <a:t>SW0 ↓ reset · ↑ run</a:t>
            </a:r>
            <a:endParaRPr sz="1300">
              <a:solidFill>
                <a:schemeClr val="dk1"/>
              </a:solidFill>
              <a:latin typeface="Calibri"/>
              <a:ea typeface="Calibri"/>
              <a:cs typeface="Calibri"/>
              <a:sym typeface="Calibri"/>
            </a:endParaRPr>
          </a:p>
        </p:txBody>
      </p:sp>
      <p:grpSp>
        <p:nvGrpSpPr>
          <p:cNvPr id="150" name="Google Shape;150;p8"/>
          <p:cNvGrpSpPr/>
          <p:nvPr/>
        </p:nvGrpSpPr>
        <p:grpSpPr>
          <a:xfrm>
            <a:off x="658929" y="1591056"/>
            <a:ext cx="548640" cy="548640"/>
            <a:chOff x="822960" y="1691640"/>
            <a:chExt cx="548640" cy="548640"/>
          </a:xfrm>
        </p:grpSpPr>
        <p:sp>
          <p:nvSpPr>
            <p:cNvPr id="151" name="Google Shape;151;p8"/>
            <p:cNvSpPr/>
            <p:nvPr/>
          </p:nvSpPr>
          <p:spPr>
            <a:xfrm>
              <a:off x="822960" y="1691640"/>
              <a:ext cx="548640" cy="548640"/>
            </a:xfrm>
            <a:prstGeom prst="ellipse">
              <a:avLst/>
            </a:prstGeom>
            <a:solidFill>
              <a:srgbClr val="0E9F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2" name="Google Shape;152;p8"/>
            <p:cNvPicPr preferRelativeResize="0"/>
            <p:nvPr/>
          </p:nvPicPr>
          <p:blipFill rotWithShape="1">
            <a:blip r:embed="rId3">
              <a:alphaModFix/>
            </a:blip>
            <a:srcRect b="0" l="0" r="0" t="0"/>
            <a:stretch/>
          </p:blipFill>
          <p:spPr>
            <a:xfrm>
              <a:off x="999440" y="1834286"/>
              <a:ext cx="263347" cy="263347"/>
            </a:xfrm>
            <a:prstGeom prst="rect">
              <a:avLst/>
            </a:prstGeom>
            <a:noFill/>
            <a:ln>
              <a:noFill/>
            </a:ln>
          </p:spPr>
        </p:pic>
      </p:gr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