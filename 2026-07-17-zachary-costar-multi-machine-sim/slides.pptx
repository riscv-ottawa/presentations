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Inter SemiBold"/>
      <p:regular r:id="rId17"/>
      <p:bold r:id="rId18"/>
      <p:italic r:id="rId19"/>
      <p:boldItalic r:id="rId20"/>
    </p:embeddedFont>
    <p:embeddedFont>
      <p:font typeface="Inter"/>
      <p:bold r:id="rId21"/>
      <p:boldItalic r:id="rId22"/>
    </p:embeddedFont>
    <p:embeddedFont>
      <p:font typeface="JetBrains Mono SemiBold"/>
      <p:regular r:id="rId23"/>
      <p:bold r:id="rId24"/>
      <p:italic r:id="rId25"/>
      <p:boldItalic r:id="rId26"/>
    </p:embeddedFont>
    <p:embeddedFont>
      <p:font typeface="Inter Medium"/>
      <p:regular r:id="rId27"/>
      <p:bold r:id="rId28"/>
      <p:italic r:id="rId29"/>
      <p:boldItalic r:id="rId30"/>
    </p:embeddedFont>
    <p:embeddedFont>
      <p:font typeface="JetBrains Mon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SemiBold-boldItalic.fntdata"/><Relationship Id="rId22" Type="http://schemas.openxmlformats.org/officeDocument/2006/relationships/font" Target="fonts/Inter-boldItalic.fntdata"/><Relationship Id="rId21" Type="http://schemas.openxmlformats.org/officeDocument/2006/relationships/font" Target="fonts/Inter-bold.fntdata"/><Relationship Id="rId24" Type="http://schemas.openxmlformats.org/officeDocument/2006/relationships/font" Target="fonts/JetBrainsMonoSemiBold-bold.fntdata"/><Relationship Id="rId23" Type="http://schemas.openxmlformats.org/officeDocument/2006/relationships/font" Target="fonts/JetBrainsMono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JetBrainsMonoSemiBold-boldItalic.fntdata"/><Relationship Id="rId25" Type="http://schemas.openxmlformats.org/officeDocument/2006/relationships/font" Target="fonts/JetBrainsMonoSemiBold-italic.fntdata"/><Relationship Id="rId28" Type="http://schemas.openxmlformats.org/officeDocument/2006/relationships/font" Target="fonts/InterMedium-bold.fntdata"/><Relationship Id="rId27" Type="http://schemas.openxmlformats.org/officeDocument/2006/relationships/font" Target="fonts/InterMedium-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Medium-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JetBrainsMono-regular.fntdata"/><Relationship Id="rId30" Type="http://schemas.openxmlformats.org/officeDocument/2006/relationships/font" Target="fonts/InterMedium-boldItalic.fntdata"/><Relationship Id="rId11" Type="http://schemas.openxmlformats.org/officeDocument/2006/relationships/slide" Target="slides/slide6.xml"/><Relationship Id="rId33" Type="http://schemas.openxmlformats.org/officeDocument/2006/relationships/font" Target="fonts/JetBrainsMono-italic.fntdata"/><Relationship Id="rId10" Type="http://schemas.openxmlformats.org/officeDocument/2006/relationships/slide" Target="slides/slide5.xml"/><Relationship Id="rId32" Type="http://schemas.openxmlformats.org/officeDocument/2006/relationships/font" Target="fonts/JetBrainsMon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JetBrainsMon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nterSemiBold-regular.fntdata"/><Relationship Id="rId16" Type="http://schemas.openxmlformats.org/officeDocument/2006/relationships/slide" Target="slides/slide11.xml"/><Relationship Id="rId19" Type="http://schemas.openxmlformats.org/officeDocument/2006/relationships/font" Target="fonts/InterSemiBold-italic.fntdata"/><Relationship Id="rId18" Type="http://schemas.openxmlformats.org/officeDocument/2006/relationships/font" Target="fonts/Inter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9329e7f76_2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9329e7f76_2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9329e7f76_2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9329e7f76_2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9329e7f76_2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9329e7f76_2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9329e7f76_2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9329e7f76_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9329e7f76_2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9329e7f76_2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9329e7f76_2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9329e7f76_2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9329e7f76_2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f9329e7f76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9329e7f76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f9329e7f76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f9329e7f76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f9329e7f76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9329e7f76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f9329e7f76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f9329e7f76_1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f9329e7f76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9329e7f76_13_0)">
  <p:cSld name="Generated (g3f9329e7f76_13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16.png"/><Relationship Id="rId8"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6" name="Google Shape;56;p14"/>
          <p:cNvPicPr preferRelativeResize="0"/>
          <p:nvPr/>
        </p:nvPicPr>
        <p:blipFill rotWithShape="1">
          <a:blip r:embed="rId3">
            <a:alphaModFix/>
          </a:blip>
          <a:srcRect b="0" l="0" r="0" t="0"/>
          <a:stretch/>
        </p:blipFill>
        <p:spPr>
          <a:xfrm>
            <a:off x="9525" y="9525"/>
            <a:ext cx="8877300" cy="4876800"/>
          </a:xfrm>
          <a:prstGeom prst="rect">
            <a:avLst/>
          </a:prstGeom>
          <a:noFill/>
          <a:ln>
            <a:noFill/>
          </a:ln>
        </p:spPr>
      </p:pic>
      <p:sp>
        <p:nvSpPr>
          <p:cNvPr id="57" name="Google Shape;57;p14"/>
          <p:cNvSpPr/>
          <p:nvPr/>
        </p:nvSpPr>
        <p:spPr>
          <a:xfrm>
            <a:off x="476250" y="476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14"/>
          <p:cNvSpPr txBox="1"/>
          <p:nvPr/>
        </p:nvSpPr>
        <p:spPr>
          <a:xfrm>
            <a:off x="381000" y="1238250"/>
            <a:ext cx="51435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960">
                <a:solidFill>
                  <a:srgbClr val="4338CA"/>
                </a:solidFill>
                <a:latin typeface="Inter"/>
                <a:ea typeface="Inter"/>
                <a:cs typeface="Inter"/>
                <a:sym typeface="Inter"/>
              </a:rPr>
              <a:t>costar:</a:t>
            </a:r>
            <a:endParaRPr b="1" sz="2960">
              <a:solidFill>
                <a:srgbClr val="4338CA"/>
              </a:solidFill>
              <a:latin typeface="Inter"/>
              <a:ea typeface="Inter"/>
              <a:cs typeface="Inter"/>
              <a:sym typeface="Inter"/>
            </a:endParaRPr>
          </a:p>
          <a:p>
            <a:pPr indent="0" lvl="0" marL="0" rtl="0" algn="l">
              <a:spcBef>
                <a:spcPts val="300"/>
              </a:spcBef>
              <a:spcAft>
                <a:spcPts val="0"/>
              </a:spcAft>
              <a:buNone/>
            </a:pPr>
            <a:r>
              <a:rPr b="1" lang="en" sz="2960">
                <a:solidFill>
                  <a:srgbClr val="1A1A1A"/>
                </a:solidFill>
                <a:latin typeface="Inter"/>
                <a:ea typeface="Inter"/>
                <a:cs typeface="Inter"/>
                <a:sym typeface="Inter"/>
              </a:rPr>
              <a:t>Discovering Native-Speed</a:t>
            </a:r>
            <a:endParaRPr b="1" sz="2960">
              <a:solidFill>
                <a:srgbClr val="1A1A1A"/>
              </a:solidFill>
              <a:latin typeface="Inter"/>
              <a:ea typeface="Inter"/>
              <a:cs typeface="Inter"/>
              <a:sym typeface="Inter"/>
            </a:endParaRPr>
          </a:p>
          <a:p>
            <a:pPr indent="0" lvl="0" marL="0" rtl="0" algn="l">
              <a:spcBef>
                <a:spcPts val="300"/>
              </a:spcBef>
              <a:spcAft>
                <a:spcPts val="0"/>
              </a:spcAft>
              <a:buNone/>
            </a:pPr>
            <a:r>
              <a:rPr b="1" lang="en" sz="2960">
                <a:solidFill>
                  <a:srgbClr val="1A1A1A"/>
                </a:solidFill>
                <a:latin typeface="Inter"/>
                <a:ea typeface="Inter"/>
                <a:cs typeface="Inter"/>
                <a:sym typeface="Inter"/>
              </a:rPr>
              <a:t>Multi-Machine Simulation</a:t>
            </a:r>
            <a:endParaRPr b="1" sz="2960">
              <a:solidFill>
                <a:srgbClr val="1A1A1A"/>
              </a:solidFill>
              <a:latin typeface="Inter"/>
              <a:ea typeface="Inter"/>
              <a:cs typeface="Inter"/>
              <a:sym typeface="Inter"/>
            </a:endParaRPr>
          </a:p>
          <a:p>
            <a:pPr indent="0" lvl="0" marL="0" rtl="0" algn="l">
              <a:spcBef>
                <a:spcPts val="1500"/>
              </a:spcBef>
              <a:spcAft>
                <a:spcPts val="0"/>
              </a:spcAft>
              <a:buNone/>
            </a:pPr>
            <a:r>
              <a:rPr b="0" lang="en" sz="1388">
                <a:solidFill>
                  <a:srgbClr val="4338CA"/>
                </a:solidFill>
                <a:latin typeface="Inter"/>
                <a:ea typeface="Inter"/>
                <a:cs typeface="Inter"/>
                <a:sym typeface="Inter"/>
              </a:rPr>
              <a:t>What if </a:t>
            </a:r>
            <a:r>
              <a:rPr b="0" lang="en" sz="1249">
                <a:solidFill>
                  <a:srgbClr val="4338CA"/>
                </a:solidFill>
                <a:highlight>
                  <a:srgbClr val="F1F5F9"/>
                </a:highlight>
                <a:latin typeface="JetBrains Mono"/>
                <a:ea typeface="JetBrains Mono"/>
                <a:cs typeface="JetBrains Mono"/>
                <a:sym typeface="JetBrains Mono"/>
              </a:rPr>
              <a:t>native_sim</a:t>
            </a:r>
            <a:r>
              <a:rPr b="0" lang="en" sz="1388">
                <a:solidFill>
                  <a:srgbClr val="4338CA"/>
                </a:solidFill>
                <a:latin typeface="Inter"/>
                <a:ea typeface="Inter"/>
                <a:cs typeface="Inter"/>
                <a:sym typeface="Inter"/>
              </a:rPr>
              <a:t> scaled to a whole system?</a:t>
            </a:r>
            <a:endParaRPr b="0" sz="1388">
              <a:solidFill>
                <a:srgbClr val="4338CA"/>
              </a:solidFill>
              <a:latin typeface="Inter"/>
              <a:ea typeface="Inter"/>
              <a:cs typeface="Inter"/>
              <a:sym typeface="Inter"/>
            </a:endParaRPr>
          </a:p>
          <a:p>
            <a:pPr indent="0" lvl="0" marL="0" rtl="0" algn="l">
              <a:spcBef>
                <a:spcPts val="600"/>
              </a:spcBef>
              <a:spcAft>
                <a:spcPts val="0"/>
              </a:spcAft>
              <a:buNone/>
            </a:pPr>
            <a:r>
              <a:rPr b="0" lang="en" sz="1203">
                <a:solidFill>
                  <a:srgbClr val="5F6368"/>
                </a:solidFill>
                <a:latin typeface="Inter"/>
                <a:ea typeface="Inter"/>
                <a:cs typeface="Inter"/>
                <a:sym typeface="Inter"/>
              </a:rPr>
              <a:t>A guided exploration toward costar: native-speed, deterministic, multi-machine RTOS simulation.</a:t>
            </a:r>
            <a:endParaRPr b="0" sz="1203">
              <a:solidFill>
                <a:srgbClr val="5F6368"/>
              </a:solidFill>
              <a:latin typeface="Inter"/>
              <a:ea typeface="Inter"/>
              <a:cs typeface="Inter"/>
              <a:sym typeface="Inter"/>
            </a:endParaRPr>
          </a:p>
        </p:txBody>
      </p:sp>
      <p:sp>
        <p:nvSpPr>
          <p:cNvPr id="59" name="Google Shape;59;p14"/>
          <p:cNvSpPr/>
          <p:nvPr/>
        </p:nvSpPr>
        <p:spPr>
          <a:xfrm>
            <a:off x="381000" y="3771900"/>
            <a:ext cx="762000" cy="38100"/>
          </a:xfrm>
          <a:prstGeom prst="roundRect">
            <a:avLst>
              <a:gd fmla="val 50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txBox="1"/>
          <p:nvPr/>
        </p:nvSpPr>
        <p:spPr>
          <a:xfrm>
            <a:off x="381000" y="3952875"/>
            <a:ext cx="5143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A1A1A"/>
                </a:solidFill>
                <a:latin typeface="Inter"/>
                <a:ea typeface="Inter"/>
                <a:cs typeface="Inter"/>
                <a:sym typeface="Inter"/>
              </a:rPr>
              <a:t>Zachary MM</a:t>
            </a:r>
            <a:endParaRPr b="1" sz="1300">
              <a:solidFill>
                <a:srgbClr val="1A1A1A"/>
              </a:solidFill>
              <a:latin typeface="Inter"/>
              <a:ea typeface="Inter"/>
              <a:cs typeface="Inter"/>
              <a:sym typeface="Inter"/>
            </a:endParaRPr>
          </a:p>
          <a:p>
            <a:pPr indent="0" lvl="0" marL="0" rtl="0" algn="l">
              <a:spcBef>
                <a:spcPts val="300"/>
              </a:spcBef>
              <a:spcAft>
                <a:spcPts val="0"/>
              </a:spcAft>
              <a:buNone/>
            </a:pPr>
            <a:r>
              <a:rPr lang="en" sz="1100">
                <a:solidFill>
                  <a:srgbClr val="4338CA"/>
                </a:solidFill>
                <a:latin typeface="JetBrains Mono"/>
                <a:ea typeface="JetBrains Mono"/>
                <a:cs typeface="JetBrains Mono"/>
                <a:sym typeface="JetBrains Mono"/>
              </a:rPr>
              <a:t>github.com/zacharyvmm/costar</a:t>
            </a:r>
            <a:endParaRPr sz="1100">
              <a:solidFill>
                <a:srgbClr val="4338CA"/>
              </a:solidFill>
              <a:latin typeface="JetBrains Mono"/>
              <a:ea typeface="JetBrains Mono"/>
              <a:cs typeface="JetBrains Mono"/>
              <a:sym typeface="JetBrains Mono"/>
            </a:endParaRPr>
          </a:p>
        </p:txBody>
      </p:sp>
      <p:grpSp>
        <p:nvGrpSpPr>
          <p:cNvPr id="61" name="Google Shape;61;p14"/>
          <p:cNvGrpSpPr/>
          <p:nvPr/>
        </p:nvGrpSpPr>
        <p:grpSpPr>
          <a:xfrm>
            <a:off x="5810250" y="1333500"/>
            <a:ext cx="2952900" cy="2952900"/>
            <a:chOff x="0" y="0"/>
            <a:chExt cx="2952900" cy="2952900"/>
          </a:xfrm>
        </p:grpSpPr>
        <p:sp>
          <p:nvSpPr>
            <p:cNvPr id="62" name="Google Shape;62;p14"/>
            <p:cNvSpPr/>
            <p:nvPr/>
          </p:nvSpPr>
          <p:spPr>
            <a:xfrm>
              <a:off x="0" y="0"/>
              <a:ext cx="2952900" cy="2952900"/>
            </a:xfrm>
            <a:prstGeom prst="roundRect">
              <a:avLst>
                <a:gd fmla="val 2580"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14"/>
            <p:cNvSpPr txBox="1"/>
            <p:nvPr/>
          </p:nvSpPr>
          <p:spPr>
            <a:xfrm>
              <a:off x="190500" y="142875"/>
              <a:ext cx="25719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rgbClr val="0D9488"/>
                  </a:solidFill>
                  <a:latin typeface="Inter"/>
                  <a:ea typeface="Inter"/>
                  <a:cs typeface="Inter"/>
                  <a:sym typeface="Inter"/>
                </a:rPr>
                <a:t>Deterministic Sync Topology</a:t>
              </a:r>
              <a:endParaRPr/>
            </a:p>
          </p:txBody>
        </p:sp>
        <p:sp>
          <p:nvSpPr>
            <p:cNvPr id="64" name="Google Shape;64;p14"/>
            <p:cNvSpPr/>
            <p:nvPr/>
          </p:nvSpPr>
          <p:spPr>
            <a:xfrm>
              <a:off x="952500" y="771525"/>
              <a:ext cx="714300" cy="514500"/>
            </a:xfrm>
            <a:custGeom>
              <a:rect b="b" l="l" r="r" t="t"/>
              <a:pathLst>
                <a:path extrusionOk="0" h="120000" w="120000">
                  <a:moveTo>
                    <a:pt x="0" y="0"/>
                  </a:moveTo>
                  <a:cubicBezTo>
                    <a:pt x="48000" y="0"/>
                    <a:pt x="64000" y="120000"/>
                    <a:pt x="120000" y="120000"/>
                  </a:cubicBezTo>
                </a:path>
              </a:pathLst>
            </a:custGeom>
            <a:solidFill>
              <a:srgbClr val="000000">
                <a:alpha val="0"/>
              </a:srgbClr>
            </a:solidFill>
            <a:ln cap="flat" cmpd="sng" w="1905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4"/>
            <p:cNvSpPr/>
            <p:nvPr/>
          </p:nvSpPr>
          <p:spPr>
            <a:xfrm>
              <a:off x="952500" y="1285875"/>
              <a:ext cx="714300" cy="0"/>
            </a:xfrm>
            <a:custGeom>
              <a:rect b="b" l="l" r="r" t="t"/>
              <a:pathLst>
                <a:path extrusionOk="0" h="120000" w="120000">
                  <a:moveTo>
                    <a:pt x="0" y="0"/>
                  </a:moveTo>
                  <a:lnTo>
                    <a:pt x="120000" y="0"/>
                  </a:lnTo>
                </a:path>
              </a:pathLst>
            </a:custGeom>
            <a:solidFill>
              <a:srgbClr val="000000">
                <a:alpha val="0"/>
              </a:srgbClr>
            </a:solidFill>
            <a:ln cap="flat" cmpd="sng" w="1905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 name="Google Shape;66;p14"/>
            <p:cNvSpPr/>
            <p:nvPr/>
          </p:nvSpPr>
          <p:spPr>
            <a:xfrm>
              <a:off x="952500" y="1285875"/>
              <a:ext cx="714300" cy="514500"/>
            </a:xfrm>
            <a:custGeom>
              <a:rect b="b" l="l" r="r" t="t"/>
              <a:pathLst>
                <a:path extrusionOk="0" h="120000" w="120000">
                  <a:moveTo>
                    <a:pt x="0" y="120000"/>
                  </a:moveTo>
                  <a:cubicBezTo>
                    <a:pt x="48000" y="120000"/>
                    <a:pt x="64000" y="0"/>
                    <a:pt x="120000" y="0"/>
                  </a:cubicBezTo>
                </a:path>
              </a:pathLst>
            </a:custGeom>
            <a:solidFill>
              <a:srgbClr val="000000">
                <a:alpha val="0"/>
              </a:srgbClr>
            </a:solidFill>
            <a:ln cap="flat" cmpd="sng" w="1905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 name="Google Shape;67;p14"/>
            <p:cNvSpPr/>
            <p:nvPr/>
          </p:nvSpPr>
          <p:spPr>
            <a:xfrm>
              <a:off x="190500" y="619125"/>
              <a:ext cx="762000" cy="304800"/>
            </a:xfrm>
            <a:prstGeom prst="roundRect">
              <a:avLst>
                <a:gd fmla="val 12500"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 name="Google Shape;68;p14"/>
            <p:cNvSpPr txBox="1"/>
            <p:nvPr/>
          </p:nvSpPr>
          <p:spPr>
            <a:xfrm>
              <a:off x="190500" y="619125"/>
              <a:ext cx="7620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1A1A1A"/>
                  </a:solidFill>
                  <a:latin typeface="JetBrains Mono SemiBold"/>
                  <a:ea typeface="JetBrains Mono SemiBold"/>
                  <a:cs typeface="JetBrains Mono SemiBold"/>
                  <a:sym typeface="JetBrains Mono SemiBold"/>
                </a:rPr>
                <a:t>node_01 </a:t>
              </a:r>
              <a:r>
                <a:rPr b="0" lang="en" sz="800">
                  <a:solidFill>
                    <a:srgbClr val="4338CA"/>
                  </a:solidFill>
                  <a:latin typeface="JetBrains Mono SemiBold"/>
                  <a:ea typeface="JetBrains Mono SemiBold"/>
                  <a:cs typeface="JetBrains Mono SemiBold"/>
                  <a:sym typeface="JetBrains Mono SemiBold"/>
                </a:rPr>
                <a:t>(RTOS)</a:t>
              </a:r>
              <a:endParaRPr b="0" sz="800">
                <a:solidFill>
                  <a:srgbClr val="1A1A1A"/>
                </a:solidFill>
                <a:latin typeface="JetBrains Mono SemiBold"/>
                <a:ea typeface="JetBrains Mono SemiBold"/>
                <a:cs typeface="JetBrains Mono SemiBold"/>
                <a:sym typeface="JetBrains Mono SemiBold"/>
              </a:endParaRPr>
            </a:p>
          </p:txBody>
        </p:sp>
        <p:sp>
          <p:nvSpPr>
            <p:cNvPr id="69" name="Google Shape;69;p14"/>
            <p:cNvSpPr/>
            <p:nvPr/>
          </p:nvSpPr>
          <p:spPr>
            <a:xfrm>
              <a:off x="190500" y="1133475"/>
              <a:ext cx="762000" cy="304800"/>
            </a:xfrm>
            <a:prstGeom prst="roundRect">
              <a:avLst>
                <a:gd fmla="val 12500"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14"/>
            <p:cNvSpPr txBox="1"/>
            <p:nvPr/>
          </p:nvSpPr>
          <p:spPr>
            <a:xfrm>
              <a:off x="190500" y="1133475"/>
              <a:ext cx="7620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1A1A1A"/>
                  </a:solidFill>
                  <a:latin typeface="JetBrains Mono SemiBold"/>
                  <a:ea typeface="JetBrains Mono SemiBold"/>
                  <a:cs typeface="JetBrains Mono SemiBold"/>
                  <a:sym typeface="JetBrains Mono SemiBold"/>
                </a:rPr>
                <a:t>node_02 </a:t>
              </a:r>
              <a:r>
                <a:rPr b="0" lang="en" sz="800">
                  <a:solidFill>
                    <a:srgbClr val="4338CA"/>
                  </a:solidFill>
                  <a:latin typeface="JetBrains Mono SemiBold"/>
                  <a:ea typeface="JetBrains Mono SemiBold"/>
                  <a:cs typeface="JetBrains Mono SemiBold"/>
                  <a:sym typeface="JetBrains Mono SemiBold"/>
                </a:rPr>
                <a:t>(RTOS)</a:t>
              </a:r>
              <a:endParaRPr b="0" sz="800">
                <a:solidFill>
                  <a:srgbClr val="1A1A1A"/>
                </a:solidFill>
                <a:latin typeface="JetBrains Mono SemiBold"/>
                <a:ea typeface="JetBrains Mono SemiBold"/>
                <a:cs typeface="JetBrains Mono SemiBold"/>
                <a:sym typeface="JetBrains Mono SemiBold"/>
              </a:endParaRPr>
            </a:p>
          </p:txBody>
        </p:sp>
        <p:sp>
          <p:nvSpPr>
            <p:cNvPr id="71" name="Google Shape;71;p14"/>
            <p:cNvSpPr/>
            <p:nvPr/>
          </p:nvSpPr>
          <p:spPr>
            <a:xfrm>
              <a:off x="190500" y="1647825"/>
              <a:ext cx="762000" cy="304800"/>
            </a:xfrm>
            <a:prstGeom prst="roundRect">
              <a:avLst>
                <a:gd fmla="val 12500"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14"/>
            <p:cNvSpPr txBox="1"/>
            <p:nvPr/>
          </p:nvSpPr>
          <p:spPr>
            <a:xfrm>
              <a:off x="190500" y="1647825"/>
              <a:ext cx="7620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1A1A1A"/>
                  </a:solidFill>
                  <a:latin typeface="JetBrains Mono SemiBold"/>
                  <a:ea typeface="JetBrains Mono SemiBold"/>
                  <a:cs typeface="JetBrains Mono SemiBold"/>
                  <a:sym typeface="JetBrains Mono SemiBold"/>
                </a:rPr>
                <a:t>node_03 </a:t>
              </a:r>
              <a:r>
                <a:rPr b="0" lang="en" sz="800">
                  <a:solidFill>
                    <a:srgbClr val="4338CA"/>
                  </a:solidFill>
                  <a:latin typeface="JetBrains Mono SemiBold"/>
                  <a:ea typeface="JetBrains Mono SemiBold"/>
                  <a:cs typeface="JetBrains Mono SemiBold"/>
                  <a:sym typeface="JetBrains Mono SemiBold"/>
                </a:rPr>
                <a:t>(RTOS)</a:t>
              </a:r>
              <a:endParaRPr b="0" sz="800">
                <a:solidFill>
                  <a:srgbClr val="1A1A1A"/>
                </a:solidFill>
                <a:latin typeface="JetBrains Mono SemiBold"/>
                <a:ea typeface="JetBrains Mono SemiBold"/>
                <a:cs typeface="JetBrains Mono SemiBold"/>
                <a:sym typeface="JetBrains Mono SemiBold"/>
              </a:endParaRPr>
            </a:p>
          </p:txBody>
        </p:sp>
        <p:sp>
          <p:nvSpPr>
            <p:cNvPr id="73" name="Google Shape;73;p14"/>
            <p:cNvSpPr/>
            <p:nvPr/>
          </p:nvSpPr>
          <p:spPr>
            <a:xfrm>
              <a:off x="1666875" y="1095375"/>
              <a:ext cx="1095300" cy="381000"/>
            </a:xfrm>
            <a:prstGeom prst="roundRect">
              <a:avLst>
                <a:gd fmla="val 15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p14"/>
            <p:cNvSpPr txBox="1"/>
            <p:nvPr/>
          </p:nvSpPr>
          <p:spPr>
            <a:xfrm>
              <a:off x="1666875" y="1095375"/>
              <a:ext cx="10953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FFFFF"/>
                  </a:solidFill>
                  <a:latin typeface="JetBrains Mono"/>
                  <a:ea typeface="JetBrains Mono"/>
                  <a:cs typeface="JetBrains Mono"/>
                  <a:sym typeface="JetBrains Mono"/>
                </a:rPr>
                <a:t>COSTAR SYNC</a:t>
              </a:r>
              <a:endParaRPr b="1" sz="800">
                <a:solidFill>
                  <a:srgbClr val="FFFFFF"/>
                </a:solidFill>
                <a:latin typeface="JetBrains Mono"/>
                <a:ea typeface="JetBrains Mono"/>
                <a:cs typeface="JetBrains Mono"/>
                <a:sym typeface="JetBrains Mono"/>
              </a:endParaRPr>
            </a:p>
          </p:txBody>
        </p:sp>
        <p:sp>
          <p:nvSpPr>
            <p:cNvPr id="75" name="Google Shape;75;p14"/>
            <p:cNvSpPr/>
            <p:nvPr/>
          </p:nvSpPr>
          <p:spPr>
            <a:xfrm>
              <a:off x="1276350" y="990600"/>
              <a:ext cx="76200" cy="76200"/>
            </a:xfrm>
            <a:prstGeom prst="ellipse">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4"/>
            <p:cNvSpPr/>
            <p:nvPr/>
          </p:nvSpPr>
          <p:spPr>
            <a:xfrm>
              <a:off x="1276350" y="1247775"/>
              <a:ext cx="76200" cy="76200"/>
            </a:xfrm>
            <a:prstGeom prst="ellipse">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4"/>
            <p:cNvSpPr/>
            <p:nvPr/>
          </p:nvSpPr>
          <p:spPr>
            <a:xfrm>
              <a:off x="1276350" y="1504950"/>
              <a:ext cx="76200" cy="76200"/>
            </a:xfrm>
            <a:prstGeom prst="ellipse">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8" name="Google Shape;78;p14"/>
            <p:cNvPicPr preferRelativeResize="0"/>
            <p:nvPr/>
          </p:nvPicPr>
          <p:blipFill rotWithShape="1">
            <a:blip r:embed="rId4">
              <a:alphaModFix/>
            </a:blip>
            <a:srcRect b="0" l="0" r="0" t="0"/>
            <a:stretch/>
          </p:blipFill>
          <p:spPr>
            <a:xfrm>
              <a:off x="185738" y="2281238"/>
              <a:ext cx="2581200" cy="485700"/>
            </a:xfrm>
            <a:prstGeom prst="rect">
              <a:avLst/>
            </a:prstGeom>
            <a:noFill/>
            <a:ln>
              <a:noFill/>
            </a:ln>
          </p:spPr>
        </p:pic>
        <p:sp>
          <p:nvSpPr>
            <p:cNvPr id="79" name="Google Shape;79;p14"/>
            <p:cNvSpPr txBox="1"/>
            <p:nvPr/>
          </p:nvSpPr>
          <p:spPr>
            <a:xfrm>
              <a:off x="285750" y="2286000"/>
              <a:ext cx="2381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750">
                  <a:solidFill>
                    <a:srgbClr val="5F6368"/>
                  </a:solidFill>
                  <a:latin typeface="JetBrains Mono"/>
                  <a:ea typeface="JetBrains Mono"/>
                  <a:cs typeface="JetBrains Mono"/>
                  <a:sym typeface="JetBrains Mono"/>
                </a:rPr>
                <a:t>sim_rate: </a:t>
              </a:r>
              <a:r>
                <a:rPr b="1" lang="en" sz="750">
                  <a:solidFill>
                    <a:srgbClr val="0D9488"/>
                  </a:solidFill>
                  <a:latin typeface="JetBrains Mono"/>
                  <a:ea typeface="JetBrains Mono"/>
                  <a:cs typeface="JetBrains Mono"/>
                  <a:sym typeface="JetBrains Mono"/>
                </a:rPr>
                <a:t>NATIVE (1:1)</a:t>
              </a:r>
              <a:endParaRPr sz="750">
                <a:solidFill>
                  <a:srgbClr val="5F6368"/>
                </a:solidFill>
                <a:latin typeface="JetBrains Mono"/>
                <a:ea typeface="JetBrains Mono"/>
                <a:cs typeface="JetBrains Mono"/>
                <a:sym typeface="JetBrains Mono"/>
              </a:endParaRPr>
            </a:p>
            <a:p>
              <a:pPr indent="0" lvl="0" marL="0" rtl="0" algn="l">
                <a:spcBef>
                  <a:spcPts val="150"/>
                </a:spcBef>
                <a:spcAft>
                  <a:spcPts val="0"/>
                </a:spcAft>
                <a:buNone/>
              </a:pPr>
              <a:r>
                <a:rPr lang="en" sz="750">
                  <a:solidFill>
                    <a:srgbClr val="5F6368"/>
                  </a:solidFill>
                  <a:latin typeface="JetBrains Mono"/>
                  <a:ea typeface="JetBrains Mono"/>
                  <a:cs typeface="JetBrains Mono"/>
                  <a:sym typeface="JetBrains Mono"/>
                </a:rPr>
                <a:t>precision: </a:t>
              </a:r>
              <a:r>
                <a:rPr b="1" lang="en" sz="750">
                  <a:solidFill>
                    <a:srgbClr val="4338CA"/>
                  </a:solidFill>
                  <a:latin typeface="JetBrains Mono"/>
                  <a:ea typeface="JetBrains Mono"/>
                  <a:cs typeface="JetBrains Mono"/>
                  <a:sym typeface="JetBrains Mono"/>
                </a:rPr>
                <a:t>DETERMINISTIC</a:t>
              </a:r>
              <a:endParaRPr sz="750">
                <a:solidFill>
                  <a:srgbClr val="5F6368"/>
                </a:solidFill>
                <a:latin typeface="JetBrains Mono"/>
                <a:ea typeface="JetBrains Mono"/>
                <a:cs typeface="JetBrains Mono"/>
                <a:sym typeface="JetBrains Mono"/>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 name="Google Shape;85;p15"/>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5"/>
          <p:cNvSpPr txBox="1"/>
          <p:nvPr/>
        </p:nvSpPr>
        <p:spPr>
          <a:xfrm>
            <a:off x="381000" y="333375"/>
            <a:ext cx="595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40">
                <a:solidFill>
                  <a:srgbClr val="1A1A1A"/>
                </a:solidFill>
                <a:latin typeface="Inter"/>
                <a:ea typeface="Inter"/>
                <a:cs typeface="Inter"/>
                <a:sym typeface="Inter"/>
              </a:rPr>
              <a:t>Start with the Wish List</a:t>
            </a:r>
            <a:endParaRPr b="1" sz="2040">
              <a:solidFill>
                <a:srgbClr val="1A1A1A"/>
              </a:solidFill>
              <a:latin typeface="Inter"/>
              <a:ea typeface="Inter"/>
              <a:cs typeface="Inter"/>
              <a:sym typeface="Inter"/>
            </a:endParaRPr>
          </a:p>
          <a:p>
            <a:pPr indent="0" lvl="0" marL="0" rtl="0" algn="l">
              <a:spcBef>
                <a:spcPts val="300"/>
              </a:spcBef>
              <a:spcAft>
                <a:spcPts val="0"/>
              </a:spcAft>
              <a:buNone/>
            </a:pPr>
            <a:r>
              <a:rPr b="0" lang="en" sz="1190">
                <a:solidFill>
                  <a:srgbClr val="4338CA"/>
                </a:solidFill>
                <a:latin typeface="Inter"/>
                <a:ea typeface="Inter"/>
                <a:cs typeface="Inter"/>
                <a:sym typeface="Inter"/>
              </a:rPr>
              <a:t>Embedded CI that Feels Like Web/Backend</a:t>
            </a:r>
            <a:endParaRPr b="0" sz="1190">
              <a:solidFill>
                <a:srgbClr val="4338CA"/>
              </a:solidFill>
              <a:latin typeface="Inter"/>
              <a:ea typeface="Inter"/>
              <a:cs typeface="Inter"/>
              <a:sym typeface="Inter"/>
            </a:endParaRPr>
          </a:p>
        </p:txBody>
      </p:sp>
      <p:grpSp>
        <p:nvGrpSpPr>
          <p:cNvPr id="87" name="Google Shape;87;p15"/>
          <p:cNvGrpSpPr/>
          <p:nvPr/>
        </p:nvGrpSpPr>
        <p:grpSpPr>
          <a:xfrm>
            <a:off x="381000" y="1143000"/>
            <a:ext cx="8382000" cy="904800"/>
            <a:chOff x="381000" y="1143000"/>
            <a:chExt cx="8382000" cy="904800"/>
          </a:xfrm>
        </p:grpSpPr>
        <p:sp>
          <p:nvSpPr>
            <p:cNvPr id="88" name="Google Shape;88;p15"/>
            <p:cNvSpPr txBox="1"/>
            <p:nvPr/>
          </p:nvSpPr>
          <p:spPr>
            <a:xfrm>
              <a:off x="381000" y="1143000"/>
              <a:ext cx="40005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1A1A1A"/>
                  </a:solidFill>
                  <a:latin typeface="Inter"/>
                  <a:ea typeface="Inter"/>
                  <a:cs typeface="Inter"/>
                  <a:sym typeface="Inter"/>
                </a:rPr>
                <a:t>What would embedded continuous integration look like if it operated with the speed and flexibility of modern web and backend CI pipelines? The goal is to ensure that every single commit can run a realistic, multi-node firmware scenario without relying on expensive, slow physical hardware grids.</a:t>
              </a:r>
              <a:endParaRPr b="0" sz="1100">
                <a:solidFill>
                  <a:srgbClr val="1A1A1A"/>
                </a:solidFill>
                <a:latin typeface="Inter"/>
                <a:ea typeface="Inter"/>
                <a:cs typeface="Inter"/>
                <a:sym typeface="Inter"/>
              </a:endParaRPr>
            </a:p>
          </p:txBody>
        </p:sp>
        <p:sp>
          <p:nvSpPr>
            <p:cNvPr id="89" name="Google Shape;89;p15"/>
            <p:cNvSpPr txBox="1"/>
            <p:nvPr/>
          </p:nvSpPr>
          <p:spPr>
            <a:xfrm>
              <a:off x="4762500" y="1143000"/>
              <a:ext cx="40005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1A1A1A"/>
                  </a:solidFill>
                  <a:latin typeface="Inter"/>
                  <a:ea typeface="Inter"/>
                  <a:cs typeface="Inter"/>
                  <a:sym typeface="Inter"/>
                </a:rPr>
                <a:t>To achieve this ideal state, the simulation environment must be strictly deterministic, allowing developers to diff outputs against golden traces reliably. It must be exceptionally fast to execute on every single pull request without causing pipeline bottlenecks.</a:t>
              </a:r>
              <a:endParaRPr b="0" sz="1100">
                <a:solidFill>
                  <a:srgbClr val="1A1A1A"/>
                </a:solidFill>
                <a:latin typeface="Inter"/>
                <a:ea typeface="Inter"/>
                <a:cs typeface="Inter"/>
                <a:sym typeface="Inter"/>
              </a:endParaRPr>
            </a:p>
          </p:txBody>
        </p:sp>
      </p:grpSp>
      <p:cxnSp>
        <p:nvCxnSpPr>
          <p:cNvPr id="90" name="Google Shape;90;p15"/>
          <p:cNvCxnSpPr/>
          <p:nvPr/>
        </p:nvCxnSpPr>
        <p:spPr>
          <a:xfrm>
            <a:off x="381000" y="2190750"/>
            <a:ext cx="8382000" cy="0"/>
          </a:xfrm>
          <a:prstGeom prst="straightConnector1">
            <a:avLst/>
          </a:prstGeom>
          <a:solidFill>
            <a:srgbClr val="FFFFFF"/>
          </a:solidFill>
          <a:ln cap="flat" cmpd="sng" w="9525">
            <a:solidFill>
              <a:srgbClr val="CBD5E1"/>
            </a:solidFill>
            <a:prstDash val="solid"/>
            <a:round/>
            <a:headEnd len="sm" w="sm" type="none"/>
            <a:tailEnd len="sm" w="sm" type="none"/>
          </a:ln>
        </p:spPr>
      </p:cxnSp>
      <p:grpSp>
        <p:nvGrpSpPr>
          <p:cNvPr id="91" name="Google Shape;91;p15"/>
          <p:cNvGrpSpPr/>
          <p:nvPr/>
        </p:nvGrpSpPr>
        <p:grpSpPr>
          <a:xfrm>
            <a:off x="381000" y="2333625"/>
            <a:ext cx="8382000" cy="1333575"/>
            <a:chOff x="381000" y="2333625"/>
            <a:chExt cx="8382000" cy="1333575"/>
          </a:xfrm>
        </p:grpSpPr>
        <p:sp>
          <p:nvSpPr>
            <p:cNvPr id="92" name="Google Shape;92;p15"/>
            <p:cNvSpPr/>
            <p:nvPr/>
          </p:nvSpPr>
          <p:spPr>
            <a:xfrm>
              <a:off x="381000" y="2333625"/>
              <a:ext cx="2476500" cy="28500"/>
            </a:xfrm>
            <a:prstGeom prst="roundRect">
              <a:avLst>
                <a:gd fmla="val 50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5"/>
            <p:cNvSpPr txBox="1"/>
            <p:nvPr/>
          </p:nvSpPr>
          <p:spPr>
            <a:xfrm>
              <a:off x="381000" y="2476500"/>
              <a:ext cx="24765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4338CA"/>
                  </a:solidFill>
                  <a:latin typeface="Inter"/>
                  <a:ea typeface="Inter"/>
                  <a:cs typeface="Inter"/>
                  <a:sym typeface="Inter"/>
                </a:rPr>
                <a:t>01 / Simultaneous</a:t>
              </a:r>
              <a:endParaRPr b="1" sz="1200">
                <a:solidFill>
                  <a:srgbClr val="4338CA"/>
                </a:solidFill>
                <a:latin typeface="Inter"/>
                <a:ea typeface="Inter"/>
                <a:cs typeface="Inter"/>
                <a:sym typeface="Inter"/>
              </a:endParaRPr>
            </a:p>
            <a:p>
              <a:pPr indent="0" lvl="0" marL="0" rtl="0" algn="l">
                <a:spcBef>
                  <a:spcPts val="600"/>
                </a:spcBef>
                <a:spcAft>
                  <a:spcPts val="0"/>
                </a:spcAft>
                <a:buNone/>
              </a:pPr>
              <a:r>
                <a:rPr b="0" lang="en" sz="1100">
                  <a:solidFill>
                    <a:srgbClr val="5F6368"/>
                  </a:solidFill>
                  <a:latin typeface="Inter"/>
                  <a:ea typeface="Inter"/>
                  <a:cs typeface="Inter"/>
                  <a:sym typeface="Inter"/>
                </a:rPr>
                <a:t>Instant execution of multiple MCUs and RTOSes simultaneously.</a:t>
              </a:r>
              <a:endParaRPr b="0" sz="1100">
                <a:solidFill>
                  <a:srgbClr val="5F6368"/>
                </a:solidFill>
                <a:latin typeface="Inter"/>
                <a:ea typeface="Inter"/>
                <a:cs typeface="Inter"/>
                <a:sym typeface="Inter"/>
              </a:endParaRPr>
            </a:p>
          </p:txBody>
        </p:sp>
        <p:sp>
          <p:nvSpPr>
            <p:cNvPr id="94" name="Google Shape;94;p15"/>
            <p:cNvSpPr/>
            <p:nvPr/>
          </p:nvSpPr>
          <p:spPr>
            <a:xfrm>
              <a:off x="3333750" y="2333625"/>
              <a:ext cx="2476500" cy="285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txBox="1"/>
            <p:nvPr/>
          </p:nvSpPr>
          <p:spPr>
            <a:xfrm>
              <a:off x="3333750" y="2476500"/>
              <a:ext cx="24765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D9488"/>
                  </a:solidFill>
                  <a:latin typeface="Inter"/>
                  <a:ea typeface="Inter"/>
                  <a:cs typeface="Inter"/>
                  <a:sym typeface="Inter"/>
                </a:rPr>
                <a:t>02 / Virtual Topology</a:t>
              </a:r>
              <a:endParaRPr b="1" sz="1200">
                <a:solidFill>
                  <a:srgbClr val="0D9488"/>
                </a:solidFill>
                <a:latin typeface="Inter"/>
                <a:ea typeface="Inter"/>
                <a:cs typeface="Inter"/>
                <a:sym typeface="Inter"/>
              </a:endParaRPr>
            </a:p>
            <a:p>
              <a:pPr indent="0" lvl="0" marL="0" rtl="0" algn="l">
                <a:spcBef>
                  <a:spcPts val="600"/>
                </a:spcBef>
                <a:spcAft>
                  <a:spcPts val="0"/>
                </a:spcAft>
                <a:buNone/>
              </a:pPr>
              <a:r>
                <a:rPr b="0" lang="en" sz="1100">
                  <a:solidFill>
                    <a:srgbClr val="5F6368"/>
                  </a:solidFill>
                  <a:latin typeface="Inter"/>
                  <a:ea typeface="Inter"/>
                  <a:cs typeface="Inter"/>
                  <a:sym typeface="Inter"/>
                </a:rPr>
                <a:t>Comprehensive virtual devices and simulated network interconnects.</a:t>
              </a:r>
              <a:endParaRPr b="0" sz="1100">
                <a:solidFill>
                  <a:srgbClr val="5F6368"/>
                </a:solidFill>
                <a:latin typeface="Inter"/>
                <a:ea typeface="Inter"/>
                <a:cs typeface="Inter"/>
                <a:sym typeface="Inter"/>
              </a:endParaRPr>
            </a:p>
          </p:txBody>
        </p:sp>
        <p:sp>
          <p:nvSpPr>
            <p:cNvPr id="96" name="Google Shape;96;p15"/>
            <p:cNvSpPr/>
            <p:nvPr/>
          </p:nvSpPr>
          <p:spPr>
            <a:xfrm>
              <a:off x="6286500" y="2333625"/>
              <a:ext cx="2476500" cy="28500"/>
            </a:xfrm>
            <a:prstGeom prst="roundRect">
              <a:avLst>
                <a:gd fmla="val 50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6286500" y="2476500"/>
              <a:ext cx="24765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4338CA"/>
                  </a:solidFill>
                  <a:latin typeface="Inter"/>
                  <a:ea typeface="Inter"/>
                  <a:cs typeface="Inter"/>
                  <a:sym typeface="Inter"/>
                </a:rPr>
                <a:t>03 / Deterministic</a:t>
              </a:r>
              <a:endParaRPr b="1" sz="1200">
                <a:solidFill>
                  <a:srgbClr val="4338CA"/>
                </a:solidFill>
                <a:latin typeface="Inter"/>
                <a:ea typeface="Inter"/>
                <a:cs typeface="Inter"/>
                <a:sym typeface="Inter"/>
              </a:endParaRPr>
            </a:p>
            <a:p>
              <a:pPr indent="0" lvl="0" marL="0" rtl="0" algn="l">
                <a:spcBef>
                  <a:spcPts val="600"/>
                </a:spcBef>
                <a:spcAft>
                  <a:spcPts val="0"/>
                </a:spcAft>
                <a:buNone/>
              </a:pPr>
              <a:r>
                <a:rPr b="0" lang="en" sz="1100">
                  <a:solidFill>
                    <a:srgbClr val="5F6368"/>
                  </a:solidFill>
                  <a:latin typeface="Inter"/>
                  <a:ea typeface="Inter"/>
                  <a:cs typeface="Inter"/>
                  <a:sym typeface="Inter"/>
                </a:rPr>
                <a:t>100% replayable failures to completely eliminate 'heisenbugs'.</a:t>
              </a:r>
              <a:endParaRPr b="0" sz="1100">
                <a:solidFill>
                  <a:srgbClr val="5F6368"/>
                </a:solidFill>
                <a:latin typeface="Inter"/>
                <a:ea typeface="Inter"/>
                <a:cs typeface="Inter"/>
                <a:sym typeface="Inter"/>
              </a:endParaRPr>
            </a:p>
          </p:txBody>
        </p:sp>
      </p:grpSp>
      <p:grpSp>
        <p:nvGrpSpPr>
          <p:cNvPr id="98" name="Google Shape;98;p15"/>
          <p:cNvGrpSpPr/>
          <p:nvPr/>
        </p:nvGrpSpPr>
        <p:grpSpPr>
          <a:xfrm>
            <a:off x="381000" y="3857625"/>
            <a:ext cx="8382000" cy="809700"/>
            <a:chOff x="381000" y="3857625"/>
            <a:chExt cx="8382000" cy="809700"/>
          </a:xfrm>
        </p:grpSpPr>
        <p:sp>
          <p:nvSpPr>
            <p:cNvPr id="99" name="Google Shape;99;p15"/>
            <p:cNvSpPr/>
            <p:nvPr/>
          </p:nvSpPr>
          <p:spPr>
            <a:xfrm>
              <a:off x="381000" y="3857625"/>
              <a:ext cx="8382000" cy="809700"/>
            </a:xfrm>
            <a:prstGeom prst="roundRect">
              <a:avLst>
                <a:gd fmla="val 705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p:nvPr/>
          </p:nvSpPr>
          <p:spPr>
            <a:xfrm>
              <a:off x="381000" y="3857625"/>
              <a:ext cx="57300" cy="809700"/>
            </a:xfrm>
            <a:prstGeom prst="roundRect">
              <a:avLst>
                <a:gd fmla="val 33333"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txBox="1"/>
            <p:nvPr/>
          </p:nvSpPr>
          <p:spPr>
            <a:xfrm>
              <a:off x="666750" y="3857625"/>
              <a:ext cx="78105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 sz="1150">
                  <a:solidFill>
                    <a:srgbClr val="4338CA"/>
                  </a:solidFill>
                  <a:latin typeface="Inter"/>
                  <a:ea typeface="Inter"/>
                  <a:cs typeface="Inter"/>
                  <a:sym typeface="Inter"/>
                </a:rPr>
                <a:t>The Infrastructure Paradigm:</a:t>
              </a:r>
              <a:r>
                <a:rPr b="0" i="0" lang="en" sz="1150">
                  <a:solidFill>
                    <a:srgbClr val="1A1A1A"/>
                  </a:solidFill>
                  <a:latin typeface="Inter"/>
                  <a:ea typeface="Inter"/>
                  <a:cs typeface="Inter"/>
                  <a:sym typeface="Inter"/>
                </a:rPr>
                <a:t> If we solve this core infrastructure challenge, simulation stops being an occasional, difficult-to-maintain demo and becomes a seamless, normal part of the daily development loop.</a:t>
              </a:r>
              <a:endParaRPr b="0" i="0" sz="1150">
                <a:solidFill>
                  <a:srgbClr val="1A1A1A"/>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16"/>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6"/>
          <p:cNvSpPr txBox="1"/>
          <p:nvPr/>
        </p:nvSpPr>
        <p:spPr>
          <a:xfrm>
            <a:off x="381000" y="238125"/>
            <a:ext cx="67629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200">
                <a:solidFill>
                  <a:srgbClr val="1A1A1A"/>
                </a:solidFill>
                <a:latin typeface="Inter"/>
                <a:ea typeface="Inter"/>
                <a:cs typeface="Inter"/>
                <a:sym typeface="Inter"/>
              </a:rPr>
              <a:t>Two Tools Proving Pieces of the Answer</a:t>
            </a:r>
            <a:endParaRPr b="1" sz="2200">
              <a:solidFill>
                <a:srgbClr val="1A1A1A"/>
              </a:solidFill>
              <a:latin typeface="Inter"/>
              <a:ea typeface="Inter"/>
              <a:cs typeface="Inter"/>
              <a:sym typeface="Inter"/>
            </a:endParaRPr>
          </a:p>
          <a:p>
            <a:pPr indent="0" lvl="0" marL="0" rtl="0" algn="l">
              <a:spcBef>
                <a:spcPts val="150"/>
              </a:spcBef>
              <a:spcAft>
                <a:spcPts val="0"/>
              </a:spcAft>
              <a:buNone/>
            </a:pPr>
            <a:r>
              <a:rPr b="0" lang="en" sz="1400">
                <a:solidFill>
                  <a:srgbClr val="4338CA"/>
                </a:solidFill>
                <a:latin typeface="Inter Medium"/>
                <a:ea typeface="Inter Medium"/>
                <a:cs typeface="Inter Medium"/>
                <a:sym typeface="Inter Medium"/>
              </a:rPr>
              <a:t>Renode &amp; Zephyr Native_Sim Trade-offs</a:t>
            </a:r>
            <a:endParaRPr b="0" sz="1400">
              <a:solidFill>
                <a:srgbClr val="4338CA"/>
              </a:solidFill>
              <a:latin typeface="Inter Medium"/>
              <a:ea typeface="Inter Medium"/>
              <a:cs typeface="Inter Medium"/>
              <a:sym typeface="Inter Medium"/>
            </a:endParaRPr>
          </a:p>
        </p:txBody>
      </p:sp>
      <p:grpSp>
        <p:nvGrpSpPr>
          <p:cNvPr id="108" name="Google Shape;108;p16"/>
          <p:cNvGrpSpPr/>
          <p:nvPr/>
        </p:nvGrpSpPr>
        <p:grpSpPr>
          <a:xfrm>
            <a:off x="381000" y="1143000"/>
            <a:ext cx="4048200" cy="2428800"/>
            <a:chOff x="0" y="0"/>
            <a:chExt cx="4048200" cy="2428800"/>
          </a:xfrm>
        </p:grpSpPr>
        <p:sp>
          <p:nvSpPr>
            <p:cNvPr id="109" name="Google Shape;109;p16"/>
            <p:cNvSpPr/>
            <p:nvPr/>
          </p:nvSpPr>
          <p:spPr>
            <a:xfrm>
              <a:off x="0" y="0"/>
              <a:ext cx="4048200" cy="2428800"/>
            </a:xfrm>
            <a:prstGeom prst="roundRect">
              <a:avLst>
                <a:gd fmla="val 3137"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6"/>
            <p:cNvSpPr/>
            <p:nvPr/>
          </p:nvSpPr>
          <p:spPr>
            <a:xfrm>
              <a:off x="0" y="0"/>
              <a:ext cx="4048200" cy="381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1" name="Google Shape;111;p16"/>
            <p:cNvGrpSpPr/>
            <p:nvPr/>
          </p:nvGrpSpPr>
          <p:grpSpPr>
            <a:xfrm>
              <a:off x="209550" y="171450"/>
              <a:ext cx="266700" cy="247650"/>
              <a:chOff x="19050" y="19050"/>
              <a:chExt cx="266700" cy="247650"/>
            </a:xfrm>
          </p:grpSpPr>
          <p:sp>
            <p:nvSpPr>
              <p:cNvPr id="112" name="Google Shape;112;p16"/>
              <p:cNvSpPr/>
              <p:nvPr/>
            </p:nvSpPr>
            <p:spPr>
              <a:xfrm>
                <a:off x="114300" y="19050"/>
                <a:ext cx="76200" cy="76200"/>
              </a:xfrm>
              <a:prstGeom prst="ellipse">
                <a:avLst/>
              </a:prstGeom>
              <a:solidFill>
                <a:srgbClr val="000000">
                  <a:alpha val="0"/>
                </a:srgbClr>
              </a:solidFill>
              <a:ln cap="flat" cmpd="sng" w="19050">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6"/>
              <p:cNvSpPr/>
              <p:nvPr/>
            </p:nvSpPr>
            <p:spPr>
              <a:xfrm>
                <a:off x="19050" y="190500"/>
                <a:ext cx="76200" cy="76200"/>
              </a:xfrm>
              <a:prstGeom prst="ellipse">
                <a:avLst/>
              </a:prstGeom>
              <a:solidFill>
                <a:srgbClr val="000000">
                  <a:alpha val="0"/>
                </a:srgbClr>
              </a:solidFill>
              <a:ln cap="flat" cmpd="sng" w="19050">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6"/>
              <p:cNvSpPr/>
              <p:nvPr/>
            </p:nvSpPr>
            <p:spPr>
              <a:xfrm>
                <a:off x="209550" y="190500"/>
                <a:ext cx="76200" cy="76200"/>
              </a:xfrm>
              <a:prstGeom prst="ellipse">
                <a:avLst/>
              </a:prstGeom>
              <a:solidFill>
                <a:srgbClr val="000000">
                  <a:alpha val="0"/>
                </a:srgbClr>
              </a:solidFill>
              <a:ln cap="flat" cmpd="sng" w="19050">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6"/>
              <p:cNvSpPr/>
              <p:nvPr/>
            </p:nvSpPr>
            <p:spPr>
              <a:xfrm>
                <a:off x="76200" y="85725"/>
                <a:ext cx="152400" cy="142800"/>
              </a:xfrm>
              <a:custGeom>
                <a:rect b="b" l="l" r="r" t="t"/>
                <a:pathLst>
                  <a:path extrusionOk="0" fill="none" h="120000" w="120000">
                    <a:moveTo>
                      <a:pt x="45000" y="0"/>
                    </a:moveTo>
                    <a:lnTo>
                      <a:pt x="0" y="96000"/>
                    </a:lnTo>
                    <a:moveTo>
                      <a:pt x="75000" y="0"/>
                    </a:moveTo>
                    <a:lnTo>
                      <a:pt x="120000" y="96000"/>
                    </a:lnTo>
                    <a:moveTo>
                      <a:pt x="15000" y="120000"/>
                    </a:moveTo>
                    <a:lnTo>
                      <a:pt x="105000" y="120000"/>
                    </a:lnTo>
                  </a:path>
                </a:pathLst>
              </a:custGeom>
              <a:solidFill>
                <a:srgbClr val="FFFFFF"/>
              </a:solidFill>
              <a:ln cap="rnd" cmpd="sng" w="19050">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6" name="Google Shape;116;p16"/>
            <p:cNvSpPr txBox="1"/>
            <p:nvPr/>
          </p:nvSpPr>
          <p:spPr>
            <a:xfrm>
              <a:off x="571500" y="133350"/>
              <a:ext cx="3286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1A1A1A"/>
                  </a:solidFill>
                  <a:latin typeface="Inter SemiBold"/>
                  <a:ea typeface="Inter SemiBold"/>
                  <a:cs typeface="Inter SemiBold"/>
                  <a:sym typeface="Inter SemiBold"/>
                </a:rPr>
                <a:t>Renode</a:t>
              </a:r>
              <a:endParaRPr/>
            </a:p>
          </p:txBody>
        </p:sp>
        <p:sp>
          <p:nvSpPr>
            <p:cNvPr id="117" name="Google Shape;117;p16"/>
            <p:cNvSpPr txBox="1"/>
            <p:nvPr/>
          </p:nvSpPr>
          <p:spPr>
            <a:xfrm>
              <a:off x="190500" y="571500"/>
              <a:ext cx="36672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0D9488"/>
                  </a:solidFill>
                  <a:latin typeface="Inter SemiBold"/>
                  <a:ea typeface="Inter SemiBold"/>
                  <a:cs typeface="Inter SemiBold"/>
                  <a:sym typeface="Inter SemiBold"/>
                </a:rPr>
                <a:t>Multi-Node Mindset</a:t>
              </a:r>
              <a:endParaRPr b="0" sz="1000">
                <a:solidFill>
                  <a:srgbClr val="0D9488"/>
                </a:solidFill>
                <a:latin typeface="Inter SemiBold"/>
                <a:ea typeface="Inter SemiBold"/>
                <a:cs typeface="Inter SemiBold"/>
                <a:sym typeface="Inter SemiBold"/>
              </a:endParaRPr>
            </a:p>
            <a:p>
              <a:pPr indent="0" lvl="0" marL="0" rtl="0" algn="l">
                <a:spcBef>
                  <a:spcPts val="750"/>
                </a:spcBef>
                <a:spcAft>
                  <a:spcPts val="0"/>
                </a:spcAft>
                <a:buNone/>
              </a:pPr>
              <a:r>
                <a:rPr lang="en" sz="1150">
                  <a:solidFill>
                    <a:srgbClr val="5F6368"/>
                  </a:solidFill>
                  <a:latin typeface="Inter"/>
                  <a:ea typeface="Inter"/>
                  <a:cs typeface="Inter"/>
                  <a:sym typeface="Inter"/>
                </a:rPr>
                <a:t>Offers excellent multi-node system simulation and real ISA emulation, delivering high hardware fidelity.</a:t>
              </a:r>
              <a:endParaRPr sz="1150">
                <a:solidFill>
                  <a:srgbClr val="5F6368"/>
                </a:solidFill>
                <a:latin typeface="Inter"/>
                <a:ea typeface="Inter"/>
                <a:cs typeface="Inter"/>
                <a:sym typeface="Inter"/>
              </a:endParaRPr>
            </a:p>
            <a:p>
              <a:pPr indent="0" lvl="0" marL="0" rtl="0" algn="l">
                <a:spcBef>
                  <a:spcPts val="900"/>
                </a:spcBef>
                <a:spcAft>
                  <a:spcPts val="0"/>
                </a:spcAft>
                <a:buNone/>
              </a:pPr>
              <a:r>
                <a:rPr b="0" lang="en" sz="1150">
                  <a:solidFill>
                    <a:srgbClr val="4338CA"/>
                  </a:solidFill>
                  <a:latin typeface="Inter SemiBold"/>
                  <a:ea typeface="Inter SemiBold"/>
                  <a:cs typeface="Inter SemiBold"/>
                  <a:sym typeface="Inter SemiBold"/>
                </a:rPr>
                <a:t>Trade-off:</a:t>
              </a:r>
              <a:r>
                <a:rPr lang="en" sz="1150">
                  <a:solidFill>
                    <a:srgbClr val="1A1A1A"/>
                  </a:solidFill>
                  <a:latin typeface="Inter"/>
                  <a:ea typeface="Inter"/>
                  <a:cs typeface="Inter"/>
                  <a:sym typeface="Inter"/>
                </a:rPr>
                <a:t> Full instruction-set translation comes at the cost of execution speed.</a:t>
              </a:r>
              <a:endParaRPr sz="1150">
                <a:solidFill>
                  <a:srgbClr val="1A1A1A"/>
                </a:solidFill>
                <a:latin typeface="Inter"/>
                <a:ea typeface="Inter"/>
                <a:cs typeface="Inter"/>
                <a:sym typeface="Inter"/>
              </a:endParaRPr>
            </a:p>
          </p:txBody>
        </p:sp>
      </p:grpSp>
      <p:grpSp>
        <p:nvGrpSpPr>
          <p:cNvPr id="118" name="Google Shape;118;p16"/>
          <p:cNvGrpSpPr/>
          <p:nvPr/>
        </p:nvGrpSpPr>
        <p:grpSpPr>
          <a:xfrm>
            <a:off x="4714875" y="1143000"/>
            <a:ext cx="4048200" cy="2428800"/>
            <a:chOff x="0" y="0"/>
            <a:chExt cx="4048200" cy="2428800"/>
          </a:xfrm>
        </p:grpSpPr>
        <p:sp>
          <p:nvSpPr>
            <p:cNvPr id="119" name="Google Shape;119;p16"/>
            <p:cNvSpPr/>
            <p:nvPr/>
          </p:nvSpPr>
          <p:spPr>
            <a:xfrm>
              <a:off x="0" y="0"/>
              <a:ext cx="4048200" cy="2428800"/>
            </a:xfrm>
            <a:prstGeom prst="roundRect">
              <a:avLst>
                <a:gd fmla="val 3137"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p:nvPr/>
          </p:nvSpPr>
          <p:spPr>
            <a:xfrm>
              <a:off x="0" y="0"/>
              <a:ext cx="4048200" cy="38100"/>
            </a:xfrm>
            <a:prstGeom prst="roundRect">
              <a:avLst>
                <a:gd fmla="val 50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1" name="Google Shape;121;p16"/>
            <p:cNvGrpSpPr/>
            <p:nvPr/>
          </p:nvGrpSpPr>
          <p:grpSpPr>
            <a:xfrm>
              <a:off x="209550" y="171450"/>
              <a:ext cx="266700" cy="266700"/>
              <a:chOff x="19050" y="19050"/>
              <a:chExt cx="266700" cy="266700"/>
            </a:xfrm>
          </p:grpSpPr>
          <p:sp>
            <p:nvSpPr>
              <p:cNvPr id="122" name="Google Shape;122;p16"/>
              <p:cNvSpPr/>
              <p:nvPr/>
            </p:nvSpPr>
            <p:spPr>
              <a:xfrm>
                <a:off x="57150" y="57150"/>
                <a:ext cx="190500" cy="190500"/>
              </a:xfrm>
              <a:prstGeom prst="roundRect">
                <a:avLst>
                  <a:gd fmla="val 10000" name="adj"/>
                </a:avLst>
              </a:prstGeom>
              <a:solidFill>
                <a:srgbClr val="000000">
                  <a:alpha val="0"/>
                </a:srgbClr>
              </a:solidFill>
              <a:ln cap="flat" cmpd="sng" w="19050">
                <a:solidFill>
                  <a:srgbClr val="4338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6"/>
              <p:cNvSpPr/>
              <p:nvPr/>
            </p:nvSpPr>
            <p:spPr>
              <a:xfrm>
                <a:off x="19050" y="19050"/>
                <a:ext cx="266700" cy="266700"/>
              </a:xfrm>
              <a:custGeom>
                <a:rect b="b" l="l" r="r" t="t"/>
                <a:pathLst>
                  <a:path extrusionOk="0" fill="none" h="120000" w="120000">
                    <a:moveTo>
                      <a:pt x="17143" y="34286"/>
                    </a:moveTo>
                    <a:lnTo>
                      <a:pt x="0" y="34286"/>
                    </a:lnTo>
                    <a:moveTo>
                      <a:pt x="17143" y="60000"/>
                    </a:moveTo>
                    <a:lnTo>
                      <a:pt x="0" y="60000"/>
                    </a:lnTo>
                    <a:moveTo>
                      <a:pt x="17143" y="85714"/>
                    </a:moveTo>
                    <a:lnTo>
                      <a:pt x="0" y="85714"/>
                    </a:lnTo>
                    <a:moveTo>
                      <a:pt x="102857" y="34286"/>
                    </a:moveTo>
                    <a:lnTo>
                      <a:pt x="120000" y="34286"/>
                    </a:lnTo>
                    <a:moveTo>
                      <a:pt x="102857" y="60000"/>
                    </a:moveTo>
                    <a:lnTo>
                      <a:pt x="120000" y="60000"/>
                    </a:lnTo>
                    <a:moveTo>
                      <a:pt x="102857" y="85714"/>
                    </a:moveTo>
                    <a:lnTo>
                      <a:pt x="120000" y="85714"/>
                    </a:lnTo>
                    <a:moveTo>
                      <a:pt x="34286" y="17143"/>
                    </a:moveTo>
                    <a:lnTo>
                      <a:pt x="34286" y="0"/>
                    </a:lnTo>
                    <a:moveTo>
                      <a:pt x="60000" y="17143"/>
                    </a:moveTo>
                    <a:lnTo>
                      <a:pt x="60000" y="0"/>
                    </a:lnTo>
                    <a:moveTo>
                      <a:pt x="85714" y="17143"/>
                    </a:moveTo>
                    <a:lnTo>
                      <a:pt x="85714" y="0"/>
                    </a:lnTo>
                    <a:moveTo>
                      <a:pt x="34286" y="102857"/>
                    </a:moveTo>
                    <a:lnTo>
                      <a:pt x="34286" y="120000"/>
                    </a:lnTo>
                    <a:moveTo>
                      <a:pt x="60000" y="102857"/>
                    </a:moveTo>
                    <a:lnTo>
                      <a:pt x="60000" y="120000"/>
                    </a:lnTo>
                    <a:moveTo>
                      <a:pt x="85714" y="102857"/>
                    </a:moveTo>
                    <a:lnTo>
                      <a:pt x="85714" y="120000"/>
                    </a:lnTo>
                  </a:path>
                </a:pathLst>
              </a:custGeom>
              <a:solidFill>
                <a:srgbClr val="FFFFFF"/>
              </a:solidFill>
              <a:ln cap="rnd" cmpd="sng" w="19050">
                <a:solidFill>
                  <a:srgbClr val="4338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24" name="Google Shape;124;p16"/>
            <p:cNvSpPr txBox="1"/>
            <p:nvPr/>
          </p:nvSpPr>
          <p:spPr>
            <a:xfrm>
              <a:off x="571500" y="133350"/>
              <a:ext cx="3286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1A1A1A"/>
                  </a:solidFill>
                  <a:latin typeface="Inter SemiBold"/>
                  <a:ea typeface="Inter SemiBold"/>
                  <a:cs typeface="Inter SemiBold"/>
                  <a:sym typeface="Inter SemiBold"/>
                </a:rPr>
                <a:t>Zephyr native_sim</a:t>
              </a:r>
              <a:endParaRPr/>
            </a:p>
          </p:txBody>
        </p:sp>
        <p:sp>
          <p:nvSpPr>
            <p:cNvPr id="125" name="Google Shape;125;p16"/>
            <p:cNvSpPr txBox="1"/>
            <p:nvPr/>
          </p:nvSpPr>
          <p:spPr>
            <a:xfrm>
              <a:off x="190500" y="571500"/>
              <a:ext cx="36672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4338CA"/>
                  </a:solidFill>
                  <a:latin typeface="Inter SemiBold"/>
                  <a:ea typeface="Inter SemiBold"/>
                  <a:cs typeface="Inter SemiBold"/>
                  <a:sym typeface="Inter SemiBold"/>
                </a:rPr>
                <a:t>Host-Native Speed Mindset</a:t>
              </a:r>
              <a:endParaRPr b="0" sz="1000">
                <a:solidFill>
                  <a:srgbClr val="4338CA"/>
                </a:solidFill>
                <a:latin typeface="Inter SemiBold"/>
                <a:ea typeface="Inter SemiBold"/>
                <a:cs typeface="Inter SemiBold"/>
                <a:sym typeface="Inter SemiBold"/>
              </a:endParaRPr>
            </a:p>
            <a:p>
              <a:pPr indent="0" lvl="0" marL="0" rtl="0" algn="l">
                <a:spcBef>
                  <a:spcPts val="750"/>
                </a:spcBef>
                <a:spcAft>
                  <a:spcPts val="0"/>
                </a:spcAft>
                <a:buNone/>
              </a:pPr>
              <a:r>
                <a:rPr lang="en" sz="1150">
                  <a:solidFill>
                    <a:srgbClr val="5F6368"/>
                  </a:solidFill>
                  <a:latin typeface="Inter"/>
                  <a:ea typeface="Inter"/>
                  <a:cs typeface="Inter"/>
                  <a:sym typeface="Inter"/>
                </a:rPr>
                <a:t>Compiles the Zephyr application as a host executable, resulting in incredibly fast execution with very low overhead.</a:t>
              </a:r>
              <a:endParaRPr sz="1150">
                <a:solidFill>
                  <a:srgbClr val="5F6368"/>
                </a:solidFill>
                <a:latin typeface="Inter"/>
                <a:ea typeface="Inter"/>
                <a:cs typeface="Inter"/>
                <a:sym typeface="Inter"/>
              </a:endParaRPr>
            </a:p>
            <a:p>
              <a:pPr indent="0" lvl="0" marL="0" rtl="0" algn="l">
                <a:spcBef>
                  <a:spcPts val="900"/>
                </a:spcBef>
                <a:spcAft>
                  <a:spcPts val="0"/>
                </a:spcAft>
                <a:buNone/>
              </a:pPr>
              <a:r>
                <a:rPr b="0" lang="en" sz="1150">
                  <a:solidFill>
                    <a:srgbClr val="4338CA"/>
                  </a:solidFill>
                  <a:latin typeface="Inter SemiBold"/>
                  <a:ea typeface="Inter SemiBold"/>
                  <a:cs typeface="Inter SemiBold"/>
                  <a:sym typeface="Inter SemiBold"/>
                </a:rPr>
                <a:t>Trade-off:</a:t>
              </a:r>
              <a:r>
                <a:rPr lang="en" sz="1150">
                  <a:solidFill>
                    <a:srgbClr val="1A1A1A"/>
                  </a:solidFill>
                  <a:latin typeface="Inter"/>
                  <a:ea typeface="Inter"/>
                  <a:cs typeface="Inter"/>
                  <a:sym typeface="Inter"/>
                </a:rPr>
                <a:t> Limited in scope, typically handling a single simulated MCU at a time.</a:t>
              </a:r>
              <a:endParaRPr sz="1150">
                <a:solidFill>
                  <a:srgbClr val="1A1A1A"/>
                </a:solidFill>
                <a:latin typeface="Inter"/>
                <a:ea typeface="Inter"/>
                <a:cs typeface="Inter"/>
                <a:sym typeface="Inter"/>
              </a:endParaRPr>
            </a:p>
            <a:p>
              <a:pPr indent="-301625" lvl="0" marL="457200" rtl="0" algn="l">
                <a:spcBef>
                  <a:spcPts val="0"/>
                </a:spcBef>
                <a:spcAft>
                  <a:spcPts val="0"/>
                </a:spcAft>
                <a:buClr>
                  <a:srgbClr val="1A1A1A"/>
                </a:buClr>
                <a:buSzPts val="1150"/>
                <a:buFont typeface="Inter"/>
                <a:buChar char="-"/>
              </a:pPr>
              <a:r>
                <a:rPr lang="en" sz="1150">
                  <a:solidFill>
                    <a:srgbClr val="1A1A1A"/>
                  </a:solidFill>
                  <a:latin typeface="Inter"/>
                  <a:ea typeface="Inter"/>
                  <a:cs typeface="Inter"/>
                  <a:sym typeface="Inter"/>
                </a:rPr>
                <a:t>Only works on linux</a:t>
              </a:r>
              <a:endParaRPr sz="1150">
                <a:solidFill>
                  <a:srgbClr val="1A1A1A"/>
                </a:solidFill>
                <a:latin typeface="Inter"/>
                <a:ea typeface="Inter"/>
                <a:cs typeface="Inter"/>
                <a:sym typeface="Inter"/>
              </a:endParaRPr>
            </a:p>
            <a:p>
              <a:pPr indent="-301625" lvl="0" marL="457200" rtl="0" algn="l">
                <a:spcBef>
                  <a:spcPts val="0"/>
                </a:spcBef>
                <a:spcAft>
                  <a:spcPts val="0"/>
                </a:spcAft>
                <a:buClr>
                  <a:srgbClr val="1A1A1A"/>
                </a:buClr>
                <a:buSzPts val="1150"/>
                <a:buFont typeface="Inter"/>
                <a:buChar char="-"/>
              </a:pPr>
              <a:r>
                <a:rPr lang="en" sz="1150">
                  <a:solidFill>
                    <a:srgbClr val="1A1A1A"/>
                  </a:solidFill>
                  <a:latin typeface="Inter"/>
                  <a:ea typeface="Inter"/>
                  <a:cs typeface="Inter"/>
                  <a:sym typeface="Inter"/>
                </a:rPr>
                <a:t>Only works with zephyr</a:t>
              </a:r>
              <a:endParaRPr sz="1150">
                <a:solidFill>
                  <a:srgbClr val="1A1A1A"/>
                </a:solidFill>
                <a:latin typeface="Inter"/>
                <a:ea typeface="Inter"/>
                <a:cs typeface="Inter"/>
                <a:sym typeface="Inter"/>
              </a:endParaRPr>
            </a:p>
            <a:p>
              <a:pPr indent="-301625" lvl="0" marL="457200" rtl="0" algn="l">
                <a:spcBef>
                  <a:spcPts val="0"/>
                </a:spcBef>
                <a:spcAft>
                  <a:spcPts val="0"/>
                </a:spcAft>
                <a:buClr>
                  <a:srgbClr val="1A1A1A"/>
                </a:buClr>
                <a:buSzPts val="1150"/>
                <a:buFont typeface="Inter"/>
                <a:buChar char="-"/>
              </a:pPr>
              <a:r>
                <a:rPr lang="en" sz="1150">
                  <a:solidFill>
                    <a:srgbClr val="1A1A1A"/>
                  </a:solidFill>
                  <a:latin typeface="Inter"/>
                  <a:ea typeface="Inter"/>
                  <a:cs typeface="Inter"/>
                  <a:sym typeface="Inter"/>
                </a:rPr>
                <a:t>Only works with a single MCU</a:t>
              </a:r>
              <a:endParaRPr sz="1150">
                <a:solidFill>
                  <a:srgbClr val="1A1A1A"/>
                </a:solidFill>
                <a:latin typeface="Inter"/>
                <a:ea typeface="Inter"/>
                <a:cs typeface="Inter"/>
                <a:sym typeface="Inter"/>
              </a:endParaRPr>
            </a:p>
          </p:txBody>
        </p:sp>
      </p:grpSp>
      <p:grpSp>
        <p:nvGrpSpPr>
          <p:cNvPr id="126" name="Google Shape;126;p16"/>
          <p:cNvGrpSpPr/>
          <p:nvPr/>
        </p:nvGrpSpPr>
        <p:grpSpPr>
          <a:xfrm>
            <a:off x="381000" y="3762375"/>
            <a:ext cx="8382000" cy="1000200"/>
            <a:chOff x="0" y="0"/>
            <a:chExt cx="8382000" cy="1000200"/>
          </a:xfrm>
        </p:grpSpPr>
        <p:sp>
          <p:nvSpPr>
            <p:cNvPr id="127" name="Google Shape;127;p16"/>
            <p:cNvSpPr/>
            <p:nvPr/>
          </p:nvSpPr>
          <p:spPr>
            <a:xfrm>
              <a:off x="0" y="0"/>
              <a:ext cx="8382000" cy="1000200"/>
            </a:xfrm>
            <a:prstGeom prst="roundRect">
              <a:avLst>
                <a:gd fmla="val 7619" name="adj"/>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6"/>
            <p:cNvSpPr/>
            <p:nvPr/>
          </p:nvSpPr>
          <p:spPr>
            <a:xfrm>
              <a:off x="0" y="0"/>
              <a:ext cx="57300" cy="1000200"/>
            </a:xfrm>
            <a:prstGeom prst="roundRect">
              <a:avLst>
                <a:gd fmla="val 50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6"/>
            <p:cNvSpPr txBox="1"/>
            <p:nvPr/>
          </p:nvSpPr>
          <p:spPr>
            <a:xfrm>
              <a:off x="228600" y="114300"/>
              <a:ext cx="7924800" cy="7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4338CA"/>
                  </a:solidFill>
                  <a:latin typeface="Inter"/>
                  <a:ea typeface="Inter"/>
                  <a:cs typeface="Inter"/>
                  <a:sym typeface="Inter"/>
                </a:rPr>
                <a:t>The CI Trade-off &amp; The Conceptual Gap to Bridge</a:t>
              </a:r>
              <a:endParaRPr b="1" sz="1000">
                <a:solidFill>
                  <a:srgbClr val="4338CA"/>
                </a:solidFill>
                <a:latin typeface="Inter"/>
                <a:ea typeface="Inter"/>
                <a:cs typeface="Inter"/>
                <a:sym typeface="Inter"/>
              </a:endParaRPr>
            </a:p>
            <a:p>
              <a:pPr indent="0" lvl="0" marL="0" rtl="0" algn="l">
                <a:spcBef>
                  <a:spcPts val="300"/>
                </a:spcBef>
                <a:spcAft>
                  <a:spcPts val="0"/>
                </a:spcAft>
                <a:buNone/>
              </a:pPr>
              <a:r>
                <a:rPr lang="en" sz="1150">
                  <a:solidFill>
                    <a:srgbClr val="1A1A1A"/>
                  </a:solidFill>
                  <a:latin typeface="Inter"/>
                  <a:ea typeface="Inter"/>
                  <a:cs typeface="Inter"/>
                  <a:sym typeface="Inter"/>
                </a:rPr>
                <a:t>We are forced to choose between faster feedback and hardware fidelity. Can we achieve native execution speed, but coordinate it as a deterministic, multi-machine system? We need a solution combining native speed, multi-machine capabilities, and deterministic tests.</a:t>
              </a:r>
              <a:endParaRPr sz="1150">
                <a:solidFill>
                  <a:srgbClr val="1A1A1A"/>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pSp>
        <p:nvGrpSpPr>
          <p:cNvPr id="134" name="Google Shape;134;p17"/>
          <p:cNvGrpSpPr/>
          <p:nvPr/>
        </p:nvGrpSpPr>
        <p:grpSpPr>
          <a:xfrm>
            <a:off x="0" y="0"/>
            <a:ext cx="9144000" cy="5143500"/>
            <a:chOff x="0" y="0"/>
            <a:chExt cx="9144000" cy="5143500"/>
          </a:xfrm>
        </p:grpSpPr>
        <p:sp>
          <p:nvSpPr>
            <p:cNvPr id="135" name="Google Shape;135;p17"/>
            <p:cNvSpPr/>
            <p:nvPr/>
          </p:nvSpPr>
          <p:spPr>
            <a:xfrm>
              <a:off x="0" y="0"/>
              <a:ext cx="9144000" cy="51435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7"/>
            <p:cNvSpPr/>
            <p:nvPr/>
          </p:nvSpPr>
          <p:spPr>
            <a:xfrm>
              <a:off x="0" y="0"/>
              <a:ext cx="152400" cy="5143500"/>
            </a:xfrm>
            <a:prstGeom prst="rect">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7" name="Google Shape;137;p17"/>
            <p:cNvGrpSpPr/>
            <p:nvPr/>
          </p:nvGrpSpPr>
          <p:grpSpPr>
            <a:xfrm>
              <a:off x="7465219" y="3655219"/>
              <a:ext cx="1151424" cy="1071587"/>
              <a:chOff x="8930" y="8930"/>
              <a:chExt cx="287856" cy="267897"/>
            </a:xfrm>
          </p:grpSpPr>
          <p:pic>
            <p:nvPicPr>
              <p:cNvPr id="138" name="Google Shape;138;p17"/>
              <p:cNvPicPr preferRelativeResize="0"/>
              <p:nvPr/>
            </p:nvPicPr>
            <p:blipFill rotWithShape="1">
              <a:blip r:embed="rId3">
                <a:alphaModFix/>
              </a:blip>
              <a:srcRect b="0" l="0" r="0" t="0"/>
              <a:stretch/>
            </p:blipFill>
            <p:spPr>
              <a:xfrm>
                <a:off x="104924" y="8930"/>
                <a:ext cx="96000" cy="96000"/>
              </a:xfrm>
              <a:prstGeom prst="rect">
                <a:avLst/>
              </a:prstGeom>
              <a:noFill/>
              <a:ln>
                <a:noFill/>
              </a:ln>
            </p:spPr>
          </p:pic>
          <p:pic>
            <p:nvPicPr>
              <p:cNvPr id="139" name="Google Shape;139;p17"/>
              <p:cNvPicPr preferRelativeResize="0"/>
              <p:nvPr/>
            </p:nvPicPr>
            <p:blipFill rotWithShape="1">
              <a:blip r:embed="rId4">
                <a:alphaModFix/>
              </a:blip>
              <a:srcRect b="0" l="0" r="0" t="0"/>
              <a:stretch/>
            </p:blipFill>
            <p:spPr>
              <a:xfrm>
                <a:off x="8930" y="180826"/>
                <a:ext cx="96000" cy="96000"/>
              </a:xfrm>
              <a:prstGeom prst="rect">
                <a:avLst/>
              </a:prstGeom>
              <a:noFill/>
              <a:ln>
                <a:noFill/>
              </a:ln>
            </p:spPr>
          </p:pic>
          <p:pic>
            <p:nvPicPr>
              <p:cNvPr id="140" name="Google Shape;140;p17"/>
              <p:cNvPicPr preferRelativeResize="0"/>
              <p:nvPr/>
            </p:nvPicPr>
            <p:blipFill rotWithShape="1">
              <a:blip r:embed="rId5">
                <a:alphaModFix/>
              </a:blip>
              <a:srcRect b="0" l="0" r="0" t="0"/>
              <a:stretch/>
            </p:blipFill>
            <p:spPr>
              <a:xfrm>
                <a:off x="198686" y="180826"/>
                <a:ext cx="98100" cy="96000"/>
              </a:xfrm>
              <a:prstGeom prst="rect">
                <a:avLst/>
              </a:prstGeom>
              <a:noFill/>
              <a:ln>
                <a:noFill/>
              </a:ln>
            </p:spPr>
          </p:pic>
          <p:pic>
            <p:nvPicPr>
              <p:cNvPr id="141" name="Google Shape;141;p17"/>
              <p:cNvPicPr preferRelativeResize="0"/>
              <p:nvPr/>
            </p:nvPicPr>
            <p:blipFill rotWithShape="1">
              <a:blip r:embed="rId6">
                <a:alphaModFix/>
              </a:blip>
              <a:srcRect b="0" l="0" r="0" t="0"/>
              <a:stretch/>
            </p:blipFill>
            <p:spPr>
              <a:xfrm>
                <a:off x="66973" y="75902"/>
                <a:ext cx="171900" cy="162900"/>
              </a:xfrm>
              <a:prstGeom prst="rect">
                <a:avLst/>
              </a:prstGeom>
              <a:noFill/>
              <a:ln>
                <a:noFill/>
              </a:ln>
            </p:spPr>
          </p:pic>
        </p:grpSp>
      </p:grpSp>
      <p:grpSp>
        <p:nvGrpSpPr>
          <p:cNvPr id="142" name="Google Shape;142;p17"/>
          <p:cNvGrpSpPr/>
          <p:nvPr/>
        </p:nvGrpSpPr>
        <p:grpSpPr>
          <a:xfrm>
            <a:off x="571500" y="381000"/>
            <a:ext cx="8001150" cy="4381500"/>
            <a:chOff x="571500" y="381000"/>
            <a:chExt cx="8001150" cy="4381500"/>
          </a:xfrm>
        </p:grpSpPr>
        <p:sp>
          <p:nvSpPr>
            <p:cNvPr id="143" name="Google Shape;143;p17"/>
            <p:cNvSpPr txBox="1"/>
            <p:nvPr/>
          </p:nvSpPr>
          <p:spPr>
            <a:xfrm>
              <a:off x="571500" y="381000"/>
              <a:ext cx="8001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FFFFFF"/>
                  </a:solidFill>
                  <a:latin typeface="Inter"/>
                  <a:ea typeface="Inter"/>
                  <a:cs typeface="Inter"/>
                  <a:sym typeface="Inter"/>
                </a:rPr>
                <a:t>The Simulator is Mostly a Scheduler</a:t>
              </a:r>
              <a:endParaRPr b="1" sz="2400">
                <a:solidFill>
                  <a:srgbClr val="FFFFFF"/>
                </a:solidFill>
                <a:latin typeface="Inter"/>
                <a:ea typeface="Inter"/>
                <a:cs typeface="Inter"/>
                <a:sym typeface="Inter"/>
              </a:endParaRPr>
            </a:p>
          </p:txBody>
        </p:sp>
        <p:sp>
          <p:nvSpPr>
            <p:cNvPr id="144" name="Google Shape;144;p17"/>
            <p:cNvSpPr txBox="1"/>
            <p:nvPr/>
          </p:nvSpPr>
          <p:spPr>
            <a:xfrm>
              <a:off x="571500" y="857250"/>
              <a:ext cx="8001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CBD5E1"/>
                  </a:solidFill>
                  <a:latin typeface="Inter"/>
                  <a:ea typeface="Inter"/>
                  <a:cs typeface="Inter"/>
                  <a:sym typeface="Inter"/>
                </a:rPr>
                <a:t>To reframe the project, we must view a multi-machine simulator primarily as a time-synchronization engine and scheduler. The hardest question in native simulation is:</a:t>
              </a:r>
              <a:endParaRPr b="0" sz="1250">
                <a:solidFill>
                  <a:srgbClr val="CBD5E1"/>
                </a:solidFill>
                <a:latin typeface="Inter"/>
                <a:ea typeface="Inter"/>
                <a:cs typeface="Inter"/>
                <a:sym typeface="Inter"/>
              </a:endParaRPr>
            </a:p>
          </p:txBody>
        </p:sp>
        <p:grpSp>
          <p:nvGrpSpPr>
            <p:cNvPr id="145" name="Google Shape;145;p17"/>
            <p:cNvGrpSpPr/>
            <p:nvPr/>
          </p:nvGrpSpPr>
          <p:grpSpPr>
            <a:xfrm>
              <a:off x="571500" y="1428750"/>
              <a:ext cx="8001150" cy="619200"/>
              <a:chOff x="571500" y="0"/>
              <a:chExt cx="8001150" cy="619200"/>
            </a:xfrm>
          </p:grpSpPr>
          <p:sp>
            <p:nvSpPr>
              <p:cNvPr id="146" name="Google Shape;146;p17"/>
              <p:cNvSpPr/>
              <p:nvPr/>
            </p:nvSpPr>
            <p:spPr>
              <a:xfrm>
                <a:off x="571500" y="0"/>
                <a:ext cx="57300" cy="6192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7"/>
              <p:cNvSpPr txBox="1"/>
              <p:nvPr/>
            </p:nvSpPr>
            <p:spPr>
              <a:xfrm>
                <a:off x="781050" y="0"/>
                <a:ext cx="77916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1" lang="en" sz="2200">
                    <a:solidFill>
                      <a:srgbClr val="0D9488"/>
                    </a:solidFill>
                    <a:latin typeface="Inter"/>
                    <a:ea typeface="Inter"/>
                    <a:cs typeface="Inter"/>
                    <a:sym typeface="Inter"/>
                  </a:rPr>
                  <a:t>"When does the simulator get control back?"</a:t>
                </a:r>
                <a:endParaRPr b="1" i="1" sz="2200">
                  <a:solidFill>
                    <a:srgbClr val="0D9488"/>
                  </a:solidFill>
                  <a:latin typeface="Inter"/>
                  <a:ea typeface="Inter"/>
                  <a:cs typeface="Inter"/>
                  <a:sym typeface="Inter"/>
                </a:endParaRPr>
              </a:p>
            </p:txBody>
          </p:sp>
        </p:grpSp>
        <p:sp>
          <p:nvSpPr>
            <p:cNvPr id="148" name="Google Shape;148;p17"/>
            <p:cNvSpPr txBox="1"/>
            <p:nvPr/>
          </p:nvSpPr>
          <p:spPr>
            <a:xfrm>
              <a:off x="571500" y="2286000"/>
              <a:ext cx="39054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818CF8"/>
                  </a:solidFill>
                  <a:latin typeface="Inter SemiBold"/>
                  <a:ea typeface="Inter SemiBold"/>
                  <a:cs typeface="Inter SemiBold"/>
                  <a:sym typeface="Inter SemiBold"/>
                </a:rPr>
                <a:t>The Scenario</a:t>
              </a:r>
              <a:endParaRPr b="0" sz="1050">
                <a:solidFill>
                  <a:srgbClr val="818CF8"/>
                </a:solidFill>
                <a:latin typeface="Inter SemiBold"/>
                <a:ea typeface="Inter SemiBold"/>
                <a:cs typeface="Inter SemiBold"/>
                <a:sym typeface="Inter SemiBold"/>
              </a:endParaRPr>
            </a:p>
            <a:p>
              <a:pPr indent="0" lvl="0" marL="0" rtl="0" algn="l">
                <a:spcBef>
                  <a:spcPts val="750"/>
                </a:spcBef>
                <a:spcAft>
                  <a:spcPts val="0"/>
                </a:spcAft>
                <a:buNone/>
              </a:pPr>
              <a:r>
                <a:rPr b="0" lang="en" sz="1100">
                  <a:solidFill>
                    <a:srgbClr val="F1F5F9"/>
                  </a:solidFill>
                  <a:latin typeface="Inter"/>
                  <a:ea typeface="Inter"/>
                  <a:cs typeface="Inter"/>
                  <a:sym typeface="Inter"/>
                </a:rPr>
                <a:t>Consider a scenario where Task A runs compiled C code, Task B is blocked on a queue, a Timer IRQ is scheduled at virtual tick 1000, and a device event (like a packet arrival) occurs.</a:t>
              </a:r>
              <a:endParaRPr b="0" sz="1100">
                <a:solidFill>
                  <a:srgbClr val="F1F5F9"/>
                </a:solidFill>
                <a:latin typeface="Inter"/>
                <a:ea typeface="Inter"/>
                <a:cs typeface="Inter"/>
                <a:sym typeface="Inter"/>
              </a:endParaRPr>
            </a:p>
            <a:p>
              <a:pPr indent="0" lvl="0" marL="0" rtl="0" algn="l">
                <a:spcBef>
                  <a:spcPts val="1200"/>
                </a:spcBef>
                <a:spcAft>
                  <a:spcPts val="0"/>
                </a:spcAft>
                <a:buNone/>
              </a:pPr>
              <a:r>
                <a:rPr b="0" lang="en" sz="1050">
                  <a:solidFill>
                    <a:srgbClr val="818CF8"/>
                  </a:solidFill>
                  <a:latin typeface="Inter SemiBold"/>
                  <a:ea typeface="Inter SemiBold"/>
                  <a:cs typeface="Inter SemiBold"/>
                  <a:sym typeface="Inter SemiBold"/>
                </a:rPr>
                <a:t>Hardware vs. Host-Native</a:t>
              </a:r>
              <a:endParaRPr b="0" sz="1050">
                <a:solidFill>
                  <a:srgbClr val="818CF8"/>
                </a:solidFill>
                <a:latin typeface="Inter SemiBold"/>
                <a:ea typeface="Inter SemiBold"/>
                <a:cs typeface="Inter SemiBold"/>
                <a:sym typeface="Inter SemiBold"/>
              </a:endParaRPr>
            </a:p>
            <a:p>
              <a:pPr indent="0" lvl="0" marL="0" rtl="0" algn="l">
                <a:spcBef>
                  <a:spcPts val="750"/>
                </a:spcBef>
                <a:spcAft>
                  <a:spcPts val="0"/>
                </a:spcAft>
                <a:buNone/>
              </a:pPr>
              <a:r>
                <a:rPr b="0" lang="en" sz="1100">
                  <a:solidFill>
                    <a:srgbClr val="F1F5F9"/>
                  </a:solidFill>
                  <a:latin typeface="Inter"/>
                  <a:ea typeface="Inter"/>
                  <a:cs typeface="Inter"/>
                  <a:sym typeface="Inter"/>
                </a:rPr>
                <a:t>In actual hardware, physical interrupts can arrive to preempt execution. In a host-native simulation, guest code can run on the host CPU forever unless the simulator has a regain-control mechanism.</a:t>
              </a:r>
              <a:endParaRPr b="0" sz="1100">
                <a:solidFill>
                  <a:srgbClr val="F1F5F9"/>
                </a:solidFill>
                <a:latin typeface="Inter"/>
                <a:ea typeface="Inter"/>
                <a:cs typeface="Inter"/>
                <a:sym typeface="Inter"/>
              </a:endParaRPr>
            </a:p>
          </p:txBody>
        </p:sp>
        <p:grpSp>
          <p:nvGrpSpPr>
            <p:cNvPr id="149" name="Google Shape;149;p17"/>
            <p:cNvGrpSpPr/>
            <p:nvPr/>
          </p:nvGrpSpPr>
          <p:grpSpPr>
            <a:xfrm>
              <a:off x="4857750" y="2286000"/>
              <a:ext cx="3714900" cy="2381400"/>
              <a:chOff x="0" y="0"/>
              <a:chExt cx="3714900" cy="2381400"/>
            </a:xfrm>
          </p:grpSpPr>
          <p:sp>
            <p:nvSpPr>
              <p:cNvPr id="150" name="Google Shape;150;p17"/>
              <p:cNvSpPr/>
              <p:nvPr/>
            </p:nvSpPr>
            <p:spPr>
              <a:xfrm>
                <a:off x="0" y="0"/>
                <a:ext cx="3714900" cy="2381400"/>
              </a:xfrm>
              <a:prstGeom prst="roundRect">
                <a:avLst>
                  <a:gd fmla="val 3200" name="adj"/>
                </a:avLst>
              </a:prstGeom>
              <a:solidFill>
                <a:srgbClr val="252525"/>
              </a:solidFill>
              <a:ln cap="flat" cmpd="sng" w="9525">
                <a:solidFill>
                  <a:srgbClr val="3B42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7"/>
              <p:cNvSpPr/>
              <p:nvPr/>
            </p:nvSpPr>
            <p:spPr>
              <a:xfrm>
                <a:off x="0" y="0"/>
                <a:ext cx="57300" cy="2381400"/>
              </a:xfrm>
              <a:prstGeom prst="roundRect">
                <a:avLst>
                  <a:gd fmla="val 50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7"/>
              <p:cNvSpPr txBox="1"/>
              <p:nvPr/>
            </p:nvSpPr>
            <p:spPr>
              <a:xfrm>
                <a:off x="228600" y="228600"/>
                <a:ext cx="3257700" cy="192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FFFFFF"/>
                    </a:solidFill>
                    <a:latin typeface="Inter"/>
                    <a:ea typeface="Inter"/>
                    <a:cs typeface="Inter"/>
                    <a:sym typeface="Inter"/>
                  </a:rPr>
                  <a:t>The Fundamental Tension</a:t>
                </a:r>
                <a:endParaRPr b="1" sz="1300">
                  <a:solidFill>
                    <a:srgbClr val="FFFFFF"/>
                  </a:solidFill>
                  <a:latin typeface="Inter"/>
                  <a:ea typeface="Inter"/>
                  <a:cs typeface="Inter"/>
                  <a:sym typeface="Inter"/>
                </a:endParaRPr>
              </a:p>
              <a:p>
                <a:pPr indent="0" lvl="0" marL="0" rtl="0" algn="l">
                  <a:spcBef>
                    <a:spcPts val="750"/>
                  </a:spcBef>
                  <a:spcAft>
                    <a:spcPts val="0"/>
                  </a:spcAft>
                  <a:buNone/>
                </a:pPr>
                <a:r>
                  <a:rPr b="0" i="1" lang="en" sz="1050">
                    <a:solidFill>
                      <a:srgbClr val="CBD5E1"/>
                    </a:solidFill>
                    <a:latin typeface="Inter"/>
                    <a:ea typeface="Inter"/>
                    <a:cs typeface="Inter"/>
                    <a:sym typeface="Inter"/>
                  </a:rPr>
                  <a:t>“If Task A never yields, does virtual time advance? Can another MCU run? Can the CI pipeline ever finish? Can we maintain determinism?”</a:t>
                </a:r>
                <a:endParaRPr b="0" i="1" sz="1050">
                  <a:solidFill>
                    <a:srgbClr val="CBD5E1"/>
                  </a:solidFill>
                  <a:latin typeface="Inter"/>
                  <a:ea typeface="Inter"/>
                  <a:cs typeface="Inter"/>
                  <a:sym typeface="Inter"/>
                </a:endParaRPr>
              </a:p>
              <a:p>
                <a:pPr indent="0" lvl="0" marL="0" rtl="0" algn="l">
                  <a:spcBef>
                    <a:spcPts val="900"/>
                  </a:spcBef>
                  <a:spcAft>
                    <a:spcPts val="0"/>
                  </a:spcAft>
                  <a:buNone/>
                </a:pPr>
                <a:r>
                  <a:rPr b="0" lang="en" sz="1050">
                    <a:solidFill>
                      <a:srgbClr val="A5B4FC"/>
                    </a:solidFill>
                    <a:latin typeface="Inter Medium"/>
                    <a:ea typeface="Inter Medium"/>
                    <a:cs typeface="Inter Medium"/>
                    <a:sym typeface="Inter Medium"/>
                  </a:rPr>
                  <a:t>This fundamental scheduling problem is why 'native execution' and 'deterministic system simulation' are constantly in tension.</a:t>
                </a:r>
                <a:endParaRPr b="0" sz="1050">
                  <a:solidFill>
                    <a:srgbClr val="A5B4FC"/>
                  </a:solidFill>
                  <a:latin typeface="Inter Medium"/>
                  <a:ea typeface="Inter Medium"/>
                  <a:cs typeface="Inter Medium"/>
                  <a:sym typeface="Inter Medium"/>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8"/>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8" name="Google Shape;158;p18"/>
          <p:cNvPicPr preferRelativeResize="0"/>
          <p:nvPr/>
        </p:nvPicPr>
        <p:blipFill rotWithShape="1">
          <a:blip r:embed="rId3">
            <a:alphaModFix/>
          </a:blip>
          <a:srcRect b="0" l="0" r="0" t="0"/>
          <a:stretch/>
        </p:blipFill>
        <p:spPr>
          <a:xfrm>
            <a:off x="4763" y="4763"/>
            <a:ext cx="8791500" cy="4981500"/>
          </a:xfrm>
          <a:prstGeom prst="rect">
            <a:avLst/>
          </a:prstGeom>
          <a:noFill/>
          <a:ln>
            <a:noFill/>
          </a:ln>
        </p:spPr>
      </p:pic>
      <p:grpSp>
        <p:nvGrpSpPr>
          <p:cNvPr id="159" name="Google Shape;159;p18"/>
          <p:cNvGrpSpPr/>
          <p:nvPr/>
        </p:nvGrpSpPr>
        <p:grpSpPr>
          <a:xfrm>
            <a:off x="8382000" y="381000"/>
            <a:ext cx="243840" cy="243840"/>
            <a:chOff x="0" y="0"/>
            <a:chExt cx="304800" cy="304800"/>
          </a:xfrm>
        </p:grpSpPr>
        <p:sp>
          <p:nvSpPr>
            <p:cNvPr id="160" name="Google Shape;160;p18"/>
            <p:cNvSpPr/>
            <p:nvPr/>
          </p:nvSpPr>
          <p:spPr>
            <a:xfrm>
              <a:off x="0" y="0"/>
              <a:ext cx="304800" cy="304800"/>
            </a:xfrm>
            <a:prstGeom prst="roundRect">
              <a:avLst>
                <a:gd fmla="val 1875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 name="Google Shape;161;p18"/>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62" name="Google Shape;162;p18"/>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8"/>
          <p:cNvSpPr txBox="1"/>
          <p:nvPr/>
        </p:nvSpPr>
        <p:spPr>
          <a:xfrm>
            <a:off x="381000" y="142875"/>
            <a:ext cx="7810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00">
                <a:solidFill>
                  <a:srgbClr val="1A1A1A"/>
                </a:solidFill>
                <a:latin typeface="Inter"/>
                <a:ea typeface="Inter"/>
                <a:cs typeface="Inter"/>
                <a:sym typeface="Inter"/>
              </a:rPr>
              <a:t>Two Obvious Scheduler Designs: Preemptive vs. Cooperative</a:t>
            </a:r>
            <a:endParaRPr b="1" sz="2000">
              <a:solidFill>
                <a:srgbClr val="1A1A1A"/>
              </a:solidFill>
              <a:latin typeface="Inter"/>
              <a:ea typeface="Inter"/>
              <a:cs typeface="Inter"/>
              <a:sym typeface="Inter"/>
            </a:endParaRPr>
          </a:p>
          <a:p>
            <a:pPr indent="0" lvl="0" marL="0" rtl="0" algn="l">
              <a:spcBef>
                <a:spcPts val="300"/>
              </a:spcBef>
              <a:spcAft>
                <a:spcPts val="0"/>
              </a:spcAft>
              <a:buNone/>
            </a:pPr>
            <a:r>
              <a:rPr b="0" lang="en" sz="1100">
                <a:solidFill>
                  <a:srgbClr val="4338CA"/>
                </a:solidFill>
                <a:latin typeface="Inter"/>
                <a:ea typeface="Inter"/>
                <a:cs typeface="Inter"/>
                <a:sym typeface="Inter"/>
              </a:rPr>
              <a:t>When designing a multi-machine orchestrator, you must pick where you want to pay the complexity tax.</a:t>
            </a:r>
            <a:endParaRPr b="0" sz="1100">
              <a:solidFill>
                <a:srgbClr val="4338CA"/>
              </a:solidFill>
              <a:latin typeface="Inter"/>
              <a:ea typeface="Inter"/>
              <a:cs typeface="Inter"/>
              <a:sym typeface="Inter"/>
            </a:endParaRPr>
          </a:p>
        </p:txBody>
      </p:sp>
      <p:grpSp>
        <p:nvGrpSpPr>
          <p:cNvPr id="164" name="Google Shape;164;p18"/>
          <p:cNvGrpSpPr/>
          <p:nvPr/>
        </p:nvGrpSpPr>
        <p:grpSpPr>
          <a:xfrm>
            <a:off x="381000" y="1143000"/>
            <a:ext cx="4000500" cy="2476500"/>
            <a:chOff x="0" y="0"/>
            <a:chExt cx="4000500" cy="2476500"/>
          </a:xfrm>
        </p:grpSpPr>
        <p:sp>
          <p:nvSpPr>
            <p:cNvPr id="165" name="Google Shape;165;p18"/>
            <p:cNvSpPr/>
            <p:nvPr/>
          </p:nvSpPr>
          <p:spPr>
            <a:xfrm>
              <a:off x="0" y="0"/>
              <a:ext cx="4000500" cy="2476500"/>
            </a:xfrm>
            <a:prstGeom prst="roundRect">
              <a:avLst>
                <a:gd fmla="val 307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8"/>
            <p:cNvSpPr/>
            <p:nvPr/>
          </p:nvSpPr>
          <p:spPr>
            <a:xfrm>
              <a:off x="0" y="0"/>
              <a:ext cx="4000500" cy="114300"/>
            </a:xfrm>
            <a:custGeom>
              <a:rect b="b" l="l" r="r" t="t"/>
              <a:pathLst>
                <a:path extrusionOk="0" h="120000" w="120000">
                  <a:moveTo>
                    <a:pt x="0" y="80000"/>
                  </a:moveTo>
                  <a:quadBezTo>
                    <a:pt x="0" y="0"/>
                    <a:pt x="2286" y="0"/>
                  </a:quadBezTo>
                  <a:lnTo>
                    <a:pt x="117714" y="0"/>
                  </a:lnTo>
                  <a:quadBezTo>
                    <a:pt x="120000" y="0"/>
                    <a:pt x="120000" y="80000"/>
                  </a:quadBezTo>
                  <a:lnTo>
                    <a:pt x="120000" y="120000"/>
                  </a:lnTo>
                  <a:lnTo>
                    <a:pt x="0" y="120000"/>
                  </a:lnTo>
                  <a:close/>
                </a:path>
              </a:pathLst>
            </a:custGeom>
            <a:solidFill>
              <a:srgbClr val="5F636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8"/>
            <p:cNvSpPr txBox="1"/>
            <p:nvPr/>
          </p:nvSpPr>
          <p:spPr>
            <a:xfrm>
              <a:off x="228600" y="266700"/>
              <a:ext cx="3543300" cy="20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1A1A"/>
                  </a:solidFill>
                  <a:latin typeface="Inter"/>
                  <a:ea typeface="Inter"/>
                  <a:cs typeface="Inter"/>
                  <a:sym typeface="Inter"/>
                </a:rPr>
                <a:t>Preemptive / Emulated Scheduling</a:t>
              </a:r>
              <a:endParaRPr b="1" sz="1400">
                <a:solidFill>
                  <a:srgbClr val="1A1A1A"/>
                </a:solidFill>
                <a:latin typeface="Inter"/>
                <a:ea typeface="Inter"/>
                <a:cs typeface="Inter"/>
                <a:sym typeface="Inter"/>
              </a:endParaRPr>
            </a:p>
            <a:p>
              <a:pPr indent="-317500" lvl="0" marL="457200" rtl="0" algn="l">
                <a:spcBef>
                  <a:spcPts val="900"/>
                </a:spcBef>
                <a:spcAft>
                  <a:spcPts val="0"/>
                </a:spcAft>
                <a:buSzPts val="1400"/>
                <a:buChar char="●"/>
              </a:pPr>
              <a:r>
                <a:rPr b="0" lang="en" sz="1100">
                  <a:solidFill>
                    <a:srgbClr val="5F6368"/>
                  </a:solidFill>
                  <a:latin typeface="Inter"/>
                  <a:ea typeface="Inter"/>
                  <a:cs typeface="Inter"/>
                  <a:sym typeface="Inter"/>
                </a:rPr>
                <a:t>Allows for arbitrary interrupts and behaves closer to actual hardware.</a:t>
              </a:r>
              <a:endParaRPr b="0" sz="1100">
                <a:solidFill>
                  <a:srgbClr val="5F6368"/>
                </a:solidFill>
                <a:latin typeface="Inter"/>
                <a:ea typeface="Inter"/>
                <a:cs typeface="Inter"/>
                <a:sym typeface="Inter"/>
              </a:endParaRPr>
            </a:p>
            <a:p>
              <a:pPr indent="-317500" lvl="0" marL="457200" rtl="0" algn="l">
                <a:spcBef>
                  <a:spcPts val="600"/>
                </a:spcBef>
                <a:spcAft>
                  <a:spcPts val="0"/>
                </a:spcAft>
                <a:buSzPts val="1400"/>
                <a:buChar char="●"/>
              </a:pPr>
              <a:r>
                <a:rPr b="0" lang="en" sz="1100">
                  <a:solidFill>
                    <a:srgbClr val="5F6368"/>
                  </a:solidFill>
                  <a:latin typeface="Inter"/>
                  <a:ea typeface="Inter"/>
                  <a:cs typeface="Inter"/>
                  <a:sym typeface="Inter"/>
                </a:rPr>
                <a:t>Requires significantly more machinery per execution step (e.g., OS threads, context switching overhead, synchronization locks).</a:t>
              </a:r>
              <a:endParaRPr b="0" sz="1100">
                <a:solidFill>
                  <a:srgbClr val="5F6368"/>
                </a:solidFill>
                <a:latin typeface="Inter"/>
                <a:ea typeface="Inter"/>
                <a:cs typeface="Inter"/>
                <a:sym typeface="Inter"/>
              </a:endParaRPr>
            </a:p>
            <a:p>
              <a:pPr indent="-317500" lvl="0" marL="457200" rtl="0" algn="l">
                <a:spcBef>
                  <a:spcPts val="600"/>
                </a:spcBef>
                <a:spcAft>
                  <a:spcPts val="600"/>
                </a:spcAft>
                <a:buSzPts val="1400"/>
                <a:buChar char="●"/>
              </a:pPr>
              <a:r>
                <a:rPr b="0" lang="en" sz="1100">
                  <a:solidFill>
                    <a:srgbClr val="5F6368"/>
                  </a:solidFill>
                  <a:latin typeface="Inter"/>
                  <a:ea typeface="Inter"/>
                  <a:cs typeface="Inter"/>
                  <a:sym typeface="Inter"/>
                </a:rPr>
                <a:t>Results in lower throughput, making it less ideal for massive CI-scale testing sweeps.</a:t>
              </a:r>
              <a:endParaRPr b="0" sz="1100">
                <a:solidFill>
                  <a:srgbClr val="5F6368"/>
                </a:solidFill>
                <a:latin typeface="Inter"/>
                <a:ea typeface="Inter"/>
                <a:cs typeface="Inter"/>
                <a:sym typeface="Inter"/>
              </a:endParaRPr>
            </a:p>
          </p:txBody>
        </p:sp>
      </p:grpSp>
      <p:grpSp>
        <p:nvGrpSpPr>
          <p:cNvPr id="168" name="Google Shape;168;p18"/>
          <p:cNvGrpSpPr/>
          <p:nvPr/>
        </p:nvGrpSpPr>
        <p:grpSpPr>
          <a:xfrm>
            <a:off x="4762500" y="1143000"/>
            <a:ext cx="4000500" cy="2476500"/>
            <a:chOff x="0" y="0"/>
            <a:chExt cx="4000500" cy="2476500"/>
          </a:xfrm>
        </p:grpSpPr>
        <p:sp>
          <p:nvSpPr>
            <p:cNvPr id="169" name="Google Shape;169;p18"/>
            <p:cNvSpPr/>
            <p:nvPr/>
          </p:nvSpPr>
          <p:spPr>
            <a:xfrm>
              <a:off x="0" y="0"/>
              <a:ext cx="4000500" cy="2476500"/>
            </a:xfrm>
            <a:prstGeom prst="roundRect">
              <a:avLst>
                <a:gd fmla="val 307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8"/>
            <p:cNvSpPr/>
            <p:nvPr/>
          </p:nvSpPr>
          <p:spPr>
            <a:xfrm>
              <a:off x="0" y="0"/>
              <a:ext cx="4000500" cy="114300"/>
            </a:xfrm>
            <a:custGeom>
              <a:rect b="b" l="l" r="r" t="t"/>
              <a:pathLst>
                <a:path extrusionOk="0" h="120000" w="120000">
                  <a:moveTo>
                    <a:pt x="0" y="80000"/>
                  </a:moveTo>
                  <a:quadBezTo>
                    <a:pt x="0" y="0"/>
                    <a:pt x="2286" y="0"/>
                  </a:quadBezTo>
                  <a:lnTo>
                    <a:pt x="117714" y="0"/>
                  </a:lnTo>
                  <a:quadBezTo>
                    <a:pt x="120000" y="0"/>
                    <a:pt x="120000" y="80000"/>
                  </a:quadBezTo>
                  <a:lnTo>
                    <a:pt x="120000" y="120000"/>
                  </a:lnTo>
                  <a:lnTo>
                    <a:pt x="0" y="120000"/>
                  </a:lnTo>
                  <a:close/>
                </a:path>
              </a:pathLst>
            </a:cu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8"/>
            <p:cNvSpPr txBox="1"/>
            <p:nvPr/>
          </p:nvSpPr>
          <p:spPr>
            <a:xfrm>
              <a:off x="228600" y="266700"/>
              <a:ext cx="3543300" cy="20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1A1A"/>
                  </a:solidFill>
                  <a:latin typeface="Inter"/>
                  <a:ea typeface="Inter"/>
                  <a:cs typeface="Inter"/>
                  <a:sym typeface="Inter"/>
                </a:rPr>
                <a:t>Cooperative / Native Scheduling</a:t>
              </a:r>
              <a:endParaRPr b="1" sz="1400">
                <a:solidFill>
                  <a:srgbClr val="1A1A1A"/>
                </a:solidFill>
                <a:latin typeface="Inter"/>
                <a:ea typeface="Inter"/>
                <a:cs typeface="Inter"/>
                <a:sym typeface="Inter"/>
              </a:endParaRPr>
            </a:p>
            <a:p>
              <a:pPr indent="-317500" lvl="0" marL="457200" rtl="0" algn="l">
                <a:spcBef>
                  <a:spcPts val="900"/>
                </a:spcBef>
                <a:spcAft>
                  <a:spcPts val="0"/>
                </a:spcAft>
                <a:buSzPts val="1400"/>
                <a:buChar char="●"/>
              </a:pPr>
              <a:r>
                <a:rPr b="0" lang="en" sz="1100">
                  <a:solidFill>
                    <a:srgbClr val="5F6368"/>
                  </a:solidFill>
                  <a:latin typeface="Inter"/>
                  <a:ea typeface="Inter"/>
                  <a:cs typeface="Inter"/>
                  <a:sym typeface="Inter"/>
                </a:rPr>
                <a:t>Utilizes native call stacks and a deterministic single thread.</a:t>
              </a:r>
              <a:endParaRPr b="0" sz="1100">
                <a:solidFill>
                  <a:srgbClr val="5F6368"/>
                </a:solidFill>
                <a:latin typeface="Inter"/>
                <a:ea typeface="Inter"/>
                <a:cs typeface="Inter"/>
                <a:sym typeface="Inter"/>
              </a:endParaRPr>
            </a:p>
            <a:p>
              <a:pPr indent="-317500" lvl="0" marL="457200" rtl="0" algn="l">
                <a:spcBef>
                  <a:spcPts val="600"/>
                </a:spcBef>
                <a:spcAft>
                  <a:spcPts val="0"/>
                </a:spcAft>
                <a:buSzPts val="1400"/>
                <a:buChar char="●"/>
              </a:pPr>
              <a:r>
                <a:rPr b="0" lang="en" sz="1100">
                  <a:solidFill>
                    <a:srgbClr val="5F6368"/>
                  </a:solidFill>
                  <a:latin typeface="Inter"/>
                  <a:ea typeface="Inter"/>
                  <a:cs typeface="Inter"/>
                  <a:sym typeface="Inter"/>
                </a:rPr>
                <a:t>Enables incredibly fast context switches without OS thread overhead.</a:t>
              </a:r>
              <a:endParaRPr b="0" sz="1100">
                <a:solidFill>
                  <a:srgbClr val="5F6368"/>
                </a:solidFill>
                <a:latin typeface="Inter"/>
                <a:ea typeface="Inter"/>
                <a:cs typeface="Inter"/>
                <a:sym typeface="Inter"/>
              </a:endParaRPr>
            </a:p>
            <a:p>
              <a:pPr indent="-317500" lvl="0" marL="457200" rtl="0" algn="l">
                <a:spcBef>
                  <a:spcPts val="600"/>
                </a:spcBef>
                <a:spcAft>
                  <a:spcPts val="600"/>
                </a:spcAft>
                <a:buSzPts val="1400"/>
                <a:buChar char="●"/>
              </a:pPr>
              <a:r>
                <a:rPr b="0" lang="en" sz="1100">
                  <a:solidFill>
                    <a:srgbClr val="5F6368"/>
                  </a:solidFill>
                  <a:latin typeface="Inter"/>
                  <a:ea typeface="Inter"/>
                  <a:cs typeface="Inter"/>
                  <a:sym typeface="Inter"/>
                </a:rPr>
                <a:t>The critical weakness: it must explicitly create yield points to prevent blocking.</a:t>
              </a:r>
              <a:endParaRPr b="0" sz="1100">
                <a:solidFill>
                  <a:srgbClr val="5F6368"/>
                </a:solidFill>
                <a:latin typeface="Inter"/>
                <a:ea typeface="Inter"/>
                <a:cs typeface="Inter"/>
                <a:sym typeface="Inter"/>
              </a:endParaRPr>
            </a:p>
          </p:txBody>
        </p:sp>
      </p:grpSp>
      <p:grpSp>
        <p:nvGrpSpPr>
          <p:cNvPr id="172" name="Google Shape;172;p18"/>
          <p:cNvGrpSpPr/>
          <p:nvPr/>
        </p:nvGrpSpPr>
        <p:grpSpPr>
          <a:xfrm>
            <a:off x="381000" y="3762375"/>
            <a:ext cx="8382000" cy="1047900"/>
            <a:chOff x="0" y="0"/>
            <a:chExt cx="8382000" cy="1047900"/>
          </a:xfrm>
        </p:grpSpPr>
        <p:sp>
          <p:nvSpPr>
            <p:cNvPr id="173" name="Google Shape;173;p18"/>
            <p:cNvSpPr/>
            <p:nvPr/>
          </p:nvSpPr>
          <p:spPr>
            <a:xfrm>
              <a:off x="0" y="0"/>
              <a:ext cx="8382000" cy="1047900"/>
            </a:xfrm>
            <a:prstGeom prst="roundRect">
              <a:avLst>
                <a:gd fmla="val 7272"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8"/>
            <p:cNvSpPr/>
            <p:nvPr/>
          </p:nvSpPr>
          <p:spPr>
            <a:xfrm>
              <a:off x="76200" y="114300"/>
              <a:ext cx="47700" cy="819300"/>
            </a:xfrm>
            <a:prstGeom prst="roundRect">
              <a:avLst>
                <a:gd fmla="val 50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5" name="Google Shape;175;p18"/>
            <p:cNvGrpSpPr/>
            <p:nvPr/>
          </p:nvGrpSpPr>
          <p:grpSpPr>
            <a:xfrm>
              <a:off x="266700" y="390525"/>
              <a:ext cx="266700" cy="266700"/>
              <a:chOff x="19050" y="19050"/>
              <a:chExt cx="266700" cy="266700"/>
            </a:xfrm>
          </p:grpSpPr>
          <p:sp>
            <p:nvSpPr>
              <p:cNvPr id="176" name="Google Shape;176;p18"/>
              <p:cNvSpPr/>
              <p:nvPr/>
            </p:nvSpPr>
            <p:spPr>
              <a:xfrm>
                <a:off x="57150" y="57150"/>
                <a:ext cx="190500" cy="190500"/>
              </a:xfrm>
              <a:prstGeom prst="roundRect">
                <a:avLst>
                  <a:gd fmla="val 10000" name="adj"/>
                </a:avLst>
              </a:prstGeom>
              <a:solidFill>
                <a:srgbClr val="000000">
                  <a:alpha val="0"/>
                </a:srgbClr>
              </a:solidFill>
              <a:ln cap="flat" cmpd="sng" w="19050">
                <a:solidFill>
                  <a:srgbClr val="4338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8"/>
              <p:cNvSpPr/>
              <p:nvPr/>
            </p:nvSpPr>
            <p:spPr>
              <a:xfrm>
                <a:off x="19050" y="19050"/>
                <a:ext cx="266700" cy="266700"/>
              </a:xfrm>
              <a:custGeom>
                <a:rect b="b" l="l" r="r" t="t"/>
                <a:pathLst>
                  <a:path extrusionOk="0" fill="none" h="120000" w="120000">
                    <a:moveTo>
                      <a:pt x="17143" y="34286"/>
                    </a:moveTo>
                    <a:lnTo>
                      <a:pt x="0" y="34286"/>
                    </a:lnTo>
                    <a:moveTo>
                      <a:pt x="17143" y="60000"/>
                    </a:moveTo>
                    <a:lnTo>
                      <a:pt x="0" y="60000"/>
                    </a:lnTo>
                    <a:moveTo>
                      <a:pt x="17143" y="85714"/>
                    </a:moveTo>
                    <a:lnTo>
                      <a:pt x="0" y="85714"/>
                    </a:lnTo>
                    <a:moveTo>
                      <a:pt x="102857" y="34286"/>
                    </a:moveTo>
                    <a:lnTo>
                      <a:pt x="120000" y="34286"/>
                    </a:lnTo>
                    <a:moveTo>
                      <a:pt x="102857" y="60000"/>
                    </a:moveTo>
                    <a:lnTo>
                      <a:pt x="120000" y="60000"/>
                    </a:lnTo>
                    <a:moveTo>
                      <a:pt x="102857" y="85714"/>
                    </a:moveTo>
                    <a:lnTo>
                      <a:pt x="120000" y="85714"/>
                    </a:lnTo>
                    <a:moveTo>
                      <a:pt x="34286" y="17143"/>
                    </a:moveTo>
                    <a:lnTo>
                      <a:pt x="34286" y="0"/>
                    </a:lnTo>
                    <a:moveTo>
                      <a:pt x="60000" y="17143"/>
                    </a:moveTo>
                    <a:lnTo>
                      <a:pt x="60000" y="0"/>
                    </a:lnTo>
                    <a:moveTo>
                      <a:pt x="85714" y="17143"/>
                    </a:moveTo>
                    <a:lnTo>
                      <a:pt x="85714" y="0"/>
                    </a:lnTo>
                    <a:moveTo>
                      <a:pt x="34286" y="102857"/>
                    </a:moveTo>
                    <a:lnTo>
                      <a:pt x="34286" y="120000"/>
                    </a:lnTo>
                    <a:moveTo>
                      <a:pt x="60000" y="102857"/>
                    </a:moveTo>
                    <a:lnTo>
                      <a:pt x="60000" y="120000"/>
                    </a:lnTo>
                    <a:moveTo>
                      <a:pt x="85714" y="102857"/>
                    </a:moveTo>
                    <a:lnTo>
                      <a:pt x="85714" y="120000"/>
                    </a:lnTo>
                  </a:path>
                </a:pathLst>
              </a:custGeom>
              <a:solidFill>
                <a:srgbClr val="FFFFFF"/>
              </a:solidFill>
              <a:ln cap="rnd" cmpd="sng" w="19050">
                <a:solidFill>
                  <a:srgbClr val="4338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8" name="Google Shape;178;p18"/>
            <p:cNvSpPr txBox="1"/>
            <p:nvPr/>
          </p:nvSpPr>
          <p:spPr>
            <a:xfrm>
              <a:off x="685800" y="114300"/>
              <a:ext cx="7467600" cy="8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4338CA"/>
                  </a:solidFill>
                  <a:latin typeface="Inter"/>
                  <a:ea typeface="Inter"/>
                  <a:cs typeface="Inter"/>
                  <a:sym typeface="Inter"/>
                </a:rPr>
                <a:t>costar explicitly chooses the cooperative path.</a:t>
              </a:r>
              <a:r>
                <a:rPr b="0" lang="en" sz="1100">
                  <a:solidFill>
                    <a:srgbClr val="1A1A1A"/>
                  </a:solidFill>
                  <a:latin typeface="Inter"/>
                  <a:ea typeface="Inter"/>
                  <a:cs typeface="Inter"/>
                  <a:sym typeface="Inter"/>
                </a:rPr>
                <a:t> By utilizing user-space green threads or cooperative fibers, the simulator can precisely control exactly when a simulated MCU yields execution, guaranteeing perfect determinism. The challenge then becomes how to manufacture those necessary yield points.</a:t>
              </a:r>
              <a:endParaRPr b="0" sz="1100">
                <a:solidFill>
                  <a:srgbClr val="1A1A1A"/>
                </a:solidFill>
                <a:latin typeface="Inter"/>
                <a:ea typeface="Inter"/>
                <a:cs typeface="Inter"/>
                <a:sym typeface="Inte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19"/>
          <p:cNvSpPr txBox="1"/>
          <p:nvPr/>
        </p:nvSpPr>
        <p:spPr>
          <a:xfrm>
            <a:off x="381000" y="285750"/>
            <a:ext cx="6667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200">
                <a:solidFill>
                  <a:srgbClr val="1A1A1A"/>
                </a:solidFill>
                <a:latin typeface="Inter"/>
                <a:ea typeface="Inter"/>
                <a:cs typeface="Inter"/>
                <a:sym typeface="Inter"/>
              </a:rPr>
              <a:t>Clue 3: Leveraging Compiler Profilers</a:t>
            </a:r>
            <a:endParaRPr b="1" sz="2200">
              <a:solidFill>
                <a:srgbClr val="1A1A1A"/>
              </a:solidFill>
              <a:latin typeface="Inter"/>
              <a:ea typeface="Inter"/>
              <a:cs typeface="Inter"/>
              <a:sym typeface="Inter"/>
            </a:endParaRPr>
          </a:p>
        </p:txBody>
      </p:sp>
      <p:sp>
        <p:nvSpPr>
          <p:cNvPr id="184" name="Google Shape;184;p19"/>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85" name="Google Shape;185;p19"/>
          <p:cNvGrpSpPr/>
          <p:nvPr/>
        </p:nvGrpSpPr>
        <p:grpSpPr>
          <a:xfrm>
            <a:off x="381000" y="1143000"/>
            <a:ext cx="3714600" cy="857400"/>
            <a:chOff x="381000" y="0"/>
            <a:chExt cx="3714600" cy="857400"/>
          </a:xfrm>
        </p:grpSpPr>
        <p:sp>
          <p:nvSpPr>
            <p:cNvPr id="186" name="Google Shape;186;p19"/>
            <p:cNvSpPr/>
            <p:nvPr/>
          </p:nvSpPr>
          <p:spPr>
            <a:xfrm>
              <a:off x="381000" y="0"/>
              <a:ext cx="38100" cy="857400"/>
            </a:xfrm>
            <a:prstGeom prst="roundRect">
              <a:avLst>
                <a:gd fmla="val 50000" name="adj"/>
              </a:avLst>
            </a:prstGeom>
            <a:solidFill>
              <a:srgbClr val="5F636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9"/>
            <p:cNvSpPr txBox="1"/>
            <p:nvPr/>
          </p:nvSpPr>
          <p:spPr>
            <a:xfrm>
              <a:off x="533400" y="0"/>
              <a:ext cx="35622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1A1A1A"/>
                  </a:solidFill>
                  <a:latin typeface="Inter"/>
                  <a:ea typeface="Inter"/>
                  <a:cs typeface="Inter"/>
                  <a:sym typeface="Inter"/>
                </a:rPr>
                <a:t>The Challenge</a:t>
              </a:r>
              <a:endParaRPr b="1" sz="1100">
                <a:solidFill>
                  <a:srgbClr val="1A1A1A"/>
                </a:solidFill>
                <a:latin typeface="Inter"/>
                <a:ea typeface="Inter"/>
                <a:cs typeface="Inter"/>
                <a:sym typeface="Inter"/>
              </a:endParaRPr>
            </a:p>
            <a:p>
              <a:pPr indent="0" lvl="0" marL="0" rtl="0" algn="l">
                <a:spcBef>
                  <a:spcPts val="300"/>
                </a:spcBef>
                <a:spcAft>
                  <a:spcPts val="0"/>
                </a:spcAft>
                <a:buNone/>
              </a:pPr>
              <a:r>
                <a:rPr b="0" lang="en" sz="1000">
                  <a:solidFill>
                    <a:srgbClr val="5F6368"/>
                  </a:solidFill>
                  <a:latin typeface="Inter"/>
                  <a:ea typeface="Inter"/>
                  <a:cs typeface="Inter"/>
                  <a:sym typeface="Inter"/>
                </a:rPr>
                <a:t>Preventing long-running loops in host-compiled firmware from blocking the simulator thread forever.</a:t>
              </a:r>
              <a:endParaRPr b="0" sz="1000">
                <a:solidFill>
                  <a:srgbClr val="5F6368"/>
                </a:solidFill>
                <a:latin typeface="Inter"/>
                <a:ea typeface="Inter"/>
                <a:cs typeface="Inter"/>
                <a:sym typeface="Inter"/>
              </a:endParaRPr>
            </a:p>
          </p:txBody>
        </p:sp>
      </p:grpSp>
      <p:grpSp>
        <p:nvGrpSpPr>
          <p:cNvPr id="188" name="Google Shape;188;p19"/>
          <p:cNvGrpSpPr/>
          <p:nvPr/>
        </p:nvGrpSpPr>
        <p:grpSpPr>
          <a:xfrm>
            <a:off x="381000" y="2190750"/>
            <a:ext cx="3714600" cy="904800"/>
            <a:chOff x="381000" y="0"/>
            <a:chExt cx="3714600" cy="904800"/>
          </a:xfrm>
        </p:grpSpPr>
        <p:sp>
          <p:nvSpPr>
            <p:cNvPr id="189" name="Google Shape;189;p19"/>
            <p:cNvSpPr/>
            <p:nvPr/>
          </p:nvSpPr>
          <p:spPr>
            <a:xfrm>
              <a:off x="381000" y="0"/>
              <a:ext cx="38100" cy="9048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9"/>
            <p:cNvSpPr txBox="1"/>
            <p:nvPr/>
          </p:nvSpPr>
          <p:spPr>
            <a:xfrm>
              <a:off x="533400" y="0"/>
              <a:ext cx="35622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D9488"/>
                  </a:solidFill>
                  <a:latin typeface="Inter"/>
                  <a:ea typeface="Inter"/>
                  <a:cs typeface="Inter"/>
                  <a:sym typeface="Inter"/>
                </a:rPr>
                <a:t>The Discovery</a:t>
              </a:r>
              <a:endParaRPr b="1" sz="1100">
                <a:solidFill>
                  <a:srgbClr val="0D9488"/>
                </a:solidFill>
                <a:latin typeface="Inter"/>
                <a:ea typeface="Inter"/>
                <a:cs typeface="Inter"/>
                <a:sym typeface="Inter"/>
              </a:endParaRPr>
            </a:p>
            <a:p>
              <a:pPr indent="0" lvl="0" marL="0" rtl="0" algn="l">
                <a:spcBef>
                  <a:spcPts val="300"/>
                </a:spcBef>
                <a:spcAft>
                  <a:spcPts val="0"/>
                </a:spcAft>
                <a:buNone/>
              </a:pPr>
              <a:r>
                <a:rPr b="0" lang="en" sz="1000">
                  <a:solidFill>
                    <a:srgbClr val="5F6368"/>
                  </a:solidFill>
                  <a:latin typeface="Inter"/>
                  <a:ea typeface="Inter"/>
                  <a:cs typeface="Inter"/>
                  <a:sym typeface="Inter"/>
                </a:rPr>
                <a:t>No custom compiler passes or interpreters are required. We can hijack the compiler's built-in profiling and instrumentation hooks.</a:t>
              </a:r>
              <a:endParaRPr b="0" sz="1000">
                <a:solidFill>
                  <a:srgbClr val="5F6368"/>
                </a:solidFill>
                <a:latin typeface="Inter"/>
                <a:ea typeface="Inter"/>
                <a:cs typeface="Inter"/>
                <a:sym typeface="Inter"/>
              </a:endParaRPr>
            </a:p>
          </p:txBody>
        </p:sp>
      </p:grpSp>
      <p:grpSp>
        <p:nvGrpSpPr>
          <p:cNvPr id="191" name="Google Shape;191;p19"/>
          <p:cNvGrpSpPr/>
          <p:nvPr/>
        </p:nvGrpSpPr>
        <p:grpSpPr>
          <a:xfrm>
            <a:off x="381000" y="3286125"/>
            <a:ext cx="3714600" cy="1190700"/>
            <a:chOff x="381000" y="0"/>
            <a:chExt cx="3714600" cy="1190700"/>
          </a:xfrm>
        </p:grpSpPr>
        <p:sp>
          <p:nvSpPr>
            <p:cNvPr id="192" name="Google Shape;192;p19"/>
            <p:cNvSpPr/>
            <p:nvPr/>
          </p:nvSpPr>
          <p:spPr>
            <a:xfrm>
              <a:off x="381000" y="0"/>
              <a:ext cx="38100" cy="1190700"/>
            </a:xfrm>
            <a:prstGeom prst="roundRect">
              <a:avLst>
                <a:gd fmla="val 50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9"/>
            <p:cNvSpPr txBox="1"/>
            <p:nvPr/>
          </p:nvSpPr>
          <p:spPr>
            <a:xfrm>
              <a:off x="533400" y="0"/>
              <a:ext cx="35622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4338CA"/>
                  </a:solidFill>
                  <a:latin typeface="Inter"/>
                  <a:ea typeface="Inter"/>
                  <a:cs typeface="Inter"/>
                  <a:sym typeface="Inter"/>
                </a:rPr>
                <a:t>The Mechanism</a:t>
              </a:r>
              <a:endParaRPr b="1" sz="1100">
                <a:solidFill>
                  <a:srgbClr val="4338CA"/>
                </a:solidFill>
                <a:latin typeface="Inter"/>
                <a:ea typeface="Inter"/>
                <a:cs typeface="Inter"/>
                <a:sym typeface="Inter"/>
              </a:endParaRPr>
            </a:p>
            <a:p>
              <a:pPr indent="0" lvl="0" marL="0" rtl="0" algn="l">
                <a:spcBef>
                  <a:spcPts val="300"/>
                </a:spcBef>
                <a:spcAft>
                  <a:spcPts val="0"/>
                </a:spcAft>
                <a:buNone/>
              </a:pPr>
              <a:r>
                <a:rPr b="0" lang="en" sz="1000">
                  <a:solidFill>
                    <a:srgbClr val="5F6368"/>
                  </a:solidFill>
                  <a:latin typeface="Inter"/>
                  <a:ea typeface="Inter"/>
                  <a:cs typeface="Inter"/>
                  <a:sym typeface="Inter"/>
                </a:rPr>
                <a:t>Injected callbacks invoke </a:t>
              </a:r>
              <a:r>
                <a:rPr b="0" lang="en" sz="1000">
                  <a:solidFill>
                    <a:srgbClr val="1A1A1A"/>
                  </a:solidFill>
                  <a:latin typeface="JetBrains Mono SemiBold"/>
                  <a:ea typeface="JetBrains Mono SemiBold"/>
                  <a:cs typeface="JetBrains Mono SemiBold"/>
                  <a:sym typeface="JetBrains Mono SemiBold"/>
                </a:rPr>
                <a:t>sim_budget_poll()</a:t>
              </a:r>
              <a:r>
                <a:rPr b="0" lang="en" sz="1000">
                  <a:solidFill>
                    <a:srgbClr val="5F6368"/>
                  </a:solidFill>
                  <a:latin typeface="Inter"/>
                  <a:ea typeface="Inter"/>
                  <a:cs typeface="Inter"/>
                  <a:sym typeface="Inter"/>
                </a:rPr>
                <a:t>. If the instruction budget is exceeded, it yields back to the Rust scheduler, advancing virtual time.</a:t>
              </a:r>
              <a:endParaRPr b="0" sz="1000">
                <a:solidFill>
                  <a:srgbClr val="5F6368"/>
                </a:solidFill>
                <a:latin typeface="Inter"/>
                <a:ea typeface="Inter"/>
                <a:cs typeface="Inter"/>
                <a:sym typeface="Inter"/>
              </a:endParaRPr>
            </a:p>
          </p:txBody>
        </p:sp>
      </p:grpSp>
      <p:grpSp>
        <p:nvGrpSpPr>
          <p:cNvPr id="194" name="Google Shape;194;p19"/>
          <p:cNvGrpSpPr/>
          <p:nvPr/>
        </p:nvGrpSpPr>
        <p:grpSpPr>
          <a:xfrm>
            <a:off x="4572000" y="1143000"/>
            <a:ext cx="4191000" cy="2286000"/>
            <a:chOff x="4572000" y="1143000"/>
            <a:chExt cx="4191000" cy="2286000"/>
          </a:xfrm>
        </p:grpSpPr>
        <p:sp>
          <p:nvSpPr>
            <p:cNvPr id="195" name="Google Shape;195;p19"/>
            <p:cNvSpPr/>
            <p:nvPr/>
          </p:nvSpPr>
          <p:spPr>
            <a:xfrm>
              <a:off x="4572000" y="1143000"/>
              <a:ext cx="4191000" cy="2286000"/>
            </a:xfrm>
            <a:prstGeom prst="roundRect">
              <a:avLst>
                <a:gd fmla="val 2500" name="adj"/>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9"/>
            <p:cNvSpPr/>
            <p:nvPr/>
          </p:nvSpPr>
          <p:spPr>
            <a:xfrm>
              <a:off x="4781550" y="1304925"/>
              <a:ext cx="57300" cy="57300"/>
            </a:xfrm>
            <a:prstGeom prst="ellipse">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19"/>
            <p:cNvSpPr/>
            <p:nvPr/>
          </p:nvSpPr>
          <p:spPr>
            <a:xfrm>
              <a:off x="4895850" y="1304925"/>
              <a:ext cx="57300" cy="57300"/>
            </a:xfrm>
            <a:prstGeom prst="ellipse">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9"/>
            <p:cNvSpPr/>
            <p:nvPr/>
          </p:nvSpPr>
          <p:spPr>
            <a:xfrm>
              <a:off x="5010150" y="1304925"/>
              <a:ext cx="57300" cy="57300"/>
            </a:xfrm>
            <a:prstGeom prst="ellipse">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99" name="Google Shape;199;p19"/>
            <p:cNvCxnSpPr/>
            <p:nvPr/>
          </p:nvCxnSpPr>
          <p:spPr>
            <a:xfrm>
              <a:off x="4572000" y="1476375"/>
              <a:ext cx="4191000" cy="0"/>
            </a:xfrm>
            <a:prstGeom prst="straightConnector1">
              <a:avLst/>
            </a:prstGeom>
            <a:solidFill>
              <a:srgbClr val="FFFFFF"/>
            </a:solidFill>
            <a:ln cap="flat" cmpd="sng" w="9525">
              <a:solidFill>
                <a:srgbClr val="CBD5E1"/>
              </a:solidFill>
              <a:prstDash val="solid"/>
              <a:round/>
              <a:headEnd len="sm" w="sm" type="none"/>
              <a:tailEnd len="sm" w="sm" type="none"/>
            </a:ln>
          </p:spPr>
        </p:cxnSp>
        <p:sp>
          <p:nvSpPr>
            <p:cNvPr id="200" name="Google Shape;200;p19"/>
            <p:cNvSpPr txBox="1"/>
            <p:nvPr/>
          </p:nvSpPr>
          <p:spPr>
            <a:xfrm>
              <a:off x="4762500" y="1619250"/>
              <a:ext cx="38100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i="1" lang="en" sz="736">
                  <a:solidFill>
                    <a:srgbClr val="5F6368"/>
                  </a:solidFill>
                  <a:latin typeface="JetBrains Mono"/>
                  <a:ea typeface="JetBrains Mono"/>
                  <a:cs typeface="JetBrains Mono"/>
                  <a:sym typeface="JetBrains Mono"/>
                </a:rPr>
                <a:t>// Hook inserted by compiler profiling</a:t>
              </a:r>
              <a:endParaRPr i="1" sz="736">
                <a:solidFill>
                  <a:srgbClr val="5F6368"/>
                </a:solidFill>
                <a:latin typeface="JetBrains Mono"/>
                <a:ea typeface="JetBrains Mono"/>
                <a:cs typeface="JetBrains Mono"/>
                <a:sym typeface="JetBrains Mono"/>
              </a:endParaRPr>
            </a:p>
            <a:p>
              <a:pPr indent="0" lvl="0" marL="0" rtl="0" algn="l">
                <a:spcBef>
                  <a:spcPts val="300"/>
                </a:spcBef>
                <a:spcAft>
                  <a:spcPts val="0"/>
                </a:spcAft>
                <a:buNone/>
              </a:pPr>
              <a:r>
                <a:rPr b="0" lang="en" sz="736">
                  <a:solidFill>
                    <a:srgbClr val="4338CA"/>
                  </a:solidFill>
                  <a:latin typeface="JetBrains Mono SemiBold"/>
                  <a:ea typeface="JetBrains Mono SemiBold"/>
                  <a:cs typeface="JetBrains Mono SemiBold"/>
                  <a:sym typeface="JetBrains Mono SemiBold"/>
                </a:rPr>
                <a:t>void</a:t>
              </a:r>
              <a:r>
                <a:rPr lang="en" sz="736">
                  <a:solidFill>
                    <a:srgbClr val="0F172A"/>
                  </a:solidFill>
                  <a:latin typeface="JetBrains Mono"/>
                  <a:ea typeface="JetBrains Mono"/>
                  <a:cs typeface="JetBrains Mono"/>
                  <a:sym typeface="JetBrains Mono"/>
                </a:rPr>
                <a:t> __cyg_profile_func_enter() {</a:t>
              </a:r>
              <a:endParaRPr sz="736">
                <a:solidFill>
                  <a:srgbClr val="0F172A"/>
                </a:solidFill>
                <a:latin typeface="JetBrains Mono"/>
                <a:ea typeface="JetBrains Mono"/>
                <a:cs typeface="JetBrains Mono"/>
                <a:sym typeface="JetBrains Mono"/>
              </a:endParaRPr>
            </a:p>
            <a:p>
              <a:pPr indent="0" lvl="0" marL="0" rtl="0" algn="l">
                <a:spcBef>
                  <a:spcPts val="600"/>
                </a:spcBef>
                <a:spcAft>
                  <a:spcPts val="0"/>
                </a:spcAft>
                <a:buNone/>
              </a:pPr>
              <a:r>
                <a:rPr lang="en" sz="736">
                  <a:solidFill>
                    <a:srgbClr val="0F172A"/>
                  </a:solidFill>
                  <a:latin typeface="JetBrains Mono"/>
                  <a:ea typeface="JetBrains Mono"/>
                  <a:cs typeface="JetBrains Mono"/>
                  <a:sym typeface="JetBrains Mono"/>
                </a:rPr>
                <a:t>sim_budget_poll();</a:t>
              </a:r>
              <a:endParaRPr sz="736">
                <a:solidFill>
                  <a:srgbClr val="0F172A"/>
                </a:solidFill>
                <a:latin typeface="JetBrains Mono"/>
                <a:ea typeface="JetBrains Mono"/>
                <a:cs typeface="JetBrains Mono"/>
                <a:sym typeface="JetBrains Mono"/>
              </a:endParaRPr>
            </a:p>
            <a:p>
              <a:pPr indent="0" lvl="0" marL="0" rtl="0" algn="l">
                <a:spcBef>
                  <a:spcPts val="600"/>
                </a:spcBef>
                <a:spcAft>
                  <a:spcPts val="0"/>
                </a:spcAft>
                <a:buNone/>
              </a:pPr>
              <a:r>
                <a:rPr lang="en" sz="736">
                  <a:solidFill>
                    <a:srgbClr val="0F172A"/>
                  </a:solidFill>
                  <a:latin typeface="JetBrains Mono"/>
                  <a:ea typeface="JetBrains Mono"/>
                  <a:cs typeface="JetBrains Mono"/>
                  <a:sym typeface="JetBrains Mono"/>
                </a:rPr>
                <a:t>}</a:t>
              </a:r>
              <a:endParaRPr sz="736">
                <a:solidFill>
                  <a:srgbClr val="0F172A"/>
                </a:solidFill>
                <a:latin typeface="JetBrains Mono"/>
                <a:ea typeface="JetBrains Mono"/>
                <a:cs typeface="JetBrains Mono"/>
                <a:sym typeface="JetBrains Mono"/>
              </a:endParaRPr>
            </a:p>
            <a:p>
              <a:pPr indent="0" lvl="0" marL="0" rtl="0" algn="l">
                <a:spcBef>
                  <a:spcPts val="900"/>
                </a:spcBef>
                <a:spcAft>
                  <a:spcPts val="0"/>
                </a:spcAft>
                <a:buNone/>
              </a:pPr>
              <a:r>
                <a:rPr i="1" lang="en" sz="736">
                  <a:solidFill>
                    <a:srgbClr val="5F6368"/>
                  </a:solidFill>
                  <a:latin typeface="JetBrains Mono"/>
                  <a:ea typeface="JetBrains Mono"/>
                  <a:cs typeface="JetBrains Mono"/>
                  <a:sym typeface="JetBrains Mono"/>
                </a:rPr>
                <a:t>// Polling &amp; cooperative yield</a:t>
              </a:r>
              <a:endParaRPr i="1" sz="736">
                <a:solidFill>
                  <a:srgbClr val="5F6368"/>
                </a:solidFill>
                <a:latin typeface="JetBrains Mono"/>
                <a:ea typeface="JetBrains Mono"/>
                <a:cs typeface="JetBrains Mono"/>
                <a:sym typeface="JetBrains Mono"/>
              </a:endParaRPr>
            </a:p>
            <a:p>
              <a:pPr indent="0" lvl="0" marL="0" rtl="0" algn="l">
                <a:spcBef>
                  <a:spcPts val="300"/>
                </a:spcBef>
                <a:spcAft>
                  <a:spcPts val="0"/>
                </a:spcAft>
                <a:buNone/>
              </a:pPr>
              <a:r>
                <a:rPr b="0" lang="en" sz="736">
                  <a:solidFill>
                    <a:srgbClr val="4338CA"/>
                  </a:solidFill>
                  <a:latin typeface="JetBrains Mono SemiBold"/>
                  <a:ea typeface="JetBrains Mono SemiBold"/>
                  <a:cs typeface="JetBrains Mono SemiBold"/>
                  <a:sym typeface="JetBrains Mono SemiBold"/>
                </a:rPr>
                <a:t>void</a:t>
              </a:r>
              <a:r>
                <a:rPr lang="en" sz="736">
                  <a:solidFill>
                    <a:srgbClr val="0F172A"/>
                  </a:solidFill>
                  <a:latin typeface="JetBrains Mono"/>
                  <a:ea typeface="JetBrains Mono"/>
                  <a:cs typeface="JetBrains Mono"/>
                  <a:sym typeface="JetBrains Mono"/>
                </a:rPr>
                <a:t> sim_budget_poll(</a:t>
              </a:r>
              <a:r>
                <a:rPr b="0" lang="en" sz="736">
                  <a:solidFill>
                    <a:srgbClr val="4338CA"/>
                  </a:solidFill>
                  <a:latin typeface="JetBrains Mono SemiBold"/>
                  <a:ea typeface="JetBrains Mono SemiBold"/>
                  <a:cs typeface="JetBrains Mono SemiBold"/>
                  <a:sym typeface="JetBrains Mono SemiBold"/>
                </a:rPr>
                <a:t>void</a:t>
              </a:r>
              <a:r>
                <a:rPr lang="en" sz="736">
                  <a:solidFill>
                    <a:srgbClr val="0F172A"/>
                  </a:solidFill>
                  <a:latin typeface="JetBrains Mono"/>
                  <a:ea typeface="JetBrains Mono"/>
                  <a:cs typeface="JetBrains Mono"/>
                  <a:sym typeface="JetBrains Mono"/>
                </a:rPr>
                <a:t>) {</a:t>
              </a:r>
              <a:endParaRPr sz="736">
                <a:solidFill>
                  <a:srgbClr val="0F172A"/>
                </a:solidFill>
                <a:latin typeface="JetBrains Mono"/>
                <a:ea typeface="JetBrains Mono"/>
                <a:cs typeface="JetBrains Mono"/>
                <a:sym typeface="JetBrains Mono"/>
              </a:endParaRPr>
            </a:p>
            <a:p>
              <a:pPr indent="0" lvl="0" marL="0" rtl="0" algn="l">
                <a:spcBef>
                  <a:spcPts val="300"/>
                </a:spcBef>
                <a:spcAft>
                  <a:spcPts val="0"/>
                </a:spcAft>
                <a:buNone/>
              </a:pPr>
              <a:r>
                <a:rPr b="0" lang="en" sz="736">
                  <a:solidFill>
                    <a:srgbClr val="0D9488"/>
                  </a:solidFill>
                  <a:latin typeface="JetBrains Mono SemiBold"/>
                  <a:ea typeface="JetBrains Mono SemiBold"/>
                  <a:cs typeface="JetBrains Mono SemiBold"/>
                  <a:sym typeface="JetBrains Mono SemiBold"/>
                </a:rPr>
                <a:t>if</a:t>
              </a:r>
              <a:r>
                <a:rPr lang="en" sz="736">
                  <a:solidFill>
                    <a:srgbClr val="0F172A"/>
                  </a:solidFill>
                  <a:latin typeface="JetBrains Mono"/>
                  <a:ea typeface="JetBrains Mono"/>
                  <a:cs typeface="JetBrains Mono"/>
                  <a:sym typeface="JetBrains Mono"/>
                </a:rPr>
                <a:t> (virtual_ticks &gt; budget) {</a:t>
              </a:r>
              <a:endParaRPr sz="736">
                <a:solidFill>
                  <a:srgbClr val="0F172A"/>
                </a:solidFill>
                <a:latin typeface="JetBrains Mono"/>
                <a:ea typeface="JetBrains Mono"/>
                <a:cs typeface="JetBrains Mono"/>
                <a:sym typeface="JetBrains Mono"/>
              </a:endParaRPr>
            </a:p>
            <a:p>
              <a:pPr indent="0" lvl="0" marL="0" rtl="0" algn="l">
                <a:spcBef>
                  <a:spcPts val="300"/>
                </a:spcBef>
                <a:spcAft>
                  <a:spcPts val="0"/>
                </a:spcAft>
                <a:buNone/>
              </a:pPr>
              <a:r>
                <a:rPr lang="en" sz="736">
                  <a:solidFill>
                    <a:srgbClr val="0F172A"/>
                  </a:solidFill>
                  <a:latin typeface="JetBrains Mono"/>
                  <a:ea typeface="JetBrains Mono"/>
                  <a:cs typeface="JetBrains Mono"/>
                  <a:sym typeface="JetBrains Mono"/>
                </a:rPr>
                <a:t>yield_to_rust_scheduler();</a:t>
              </a:r>
              <a:endParaRPr sz="736">
                <a:solidFill>
                  <a:srgbClr val="0F172A"/>
                </a:solidFill>
                <a:latin typeface="JetBrains Mono"/>
                <a:ea typeface="JetBrains Mono"/>
                <a:cs typeface="JetBrains Mono"/>
                <a:sym typeface="JetBrains Mono"/>
              </a:endParaRPr>
            </a:p>
            <a:p>
              <a:pPr indent="0" lvl="0" marL="0" rtl="0" algn="l">
                <a:spcBef>
                  <a:spcPts val="300"/>
                </a:spcBef>
                <a:spcAft>
                  <a:spcPts val="0"/>
                </a:spcAft>
                <a:buNone/>
              </a:pPr>
              <a:r>
                <a:rPr lang="en" sz="736">
                  <a:solidFill>
                    <a:srgbClr val="0F172A"/>
                  </a:solidFill>
                  <a:latin typeface="JetBrains Mono"/>
                  <a:ea typeface="JetBrains Mono"/>
                  <a:cs typeface="JetBrains Mono"/>
                  <a:sym typeface="JetBrains Mono"/>
                </a:rPr>
                <a:t>}</a:t>
              </a:r>
              <a:endParaRPr sz="736">
                <a:solidFill>
                  <a:srgbClr val="0F172A"/>
                </a:solidFill>
                <a:latin typeface="JetBrains Mono"/>
                <a:ea typeface="JetBrains Mono"/>
                <a:cs typeface="JetBrains Mono"/>
                <a:sym typeface="JetBrains Mono"/>
              </a:endParaRPr>
            </a:p>
            <a:p>
              <a:pPr indent="0" lvl="0" marL="0" rtl="0" algn="l">
                <a:spcBef>
                  <a:spcPts val="300"/>
                </a:spcBef>
                <a:spcAft>
                  <a:spcPts val="0"/>
                </a:spcAft>
                <a:buNone/>
              </a:pPr>
              <a:r>
                <a:rPr lang="en" sz="736">
                  <a:solidFill>
                    <a:srgbClr val="0F172A"/>
                  </a:solidFill>
                  <a:latin typeface="JetBrains Mono"/>
                  <a:ea typeface="JetBrains Mono"/>
                  <a:cs typeface="JetBrains Mono"/>
                  <a:sym typeface="JetBrains Mono"/>
                </a:rPr>
                <a:t>}</a:t>
              </a:r>
              <a:endParaRPr sz="736">
                <a:solidFill>
                  <a:srgbClr val="0F172A"/>
                </a:solidFill>
                <a:latin typeface="JetBrains Mono"/>
                <a:ea typeface="JetBrains Mono"/>
                <a:cs typeface="JetBrains Mono"/>
                <a:sym typeface="JetBrains Mono"/>
              </a:endParaRPr>
            </a:p>
          </p:txBody>
        </p:sp>
      </p:grpSp>
      <p:grpSp>
        <p:nvGrpSpPr>
          <p:cNvPr id="201" name="Google Shape;201;p19"/>
          <p:cNvGrpSpPr/>
          <p:nvPr/>
        </p:nvGrpSpPr>
        <p:grpSpPr>
          <a:xfrm>
            <a:off x="4572000" y="3619500"/>
            <a:ext cx="4191000" cy="952500"/>
            <a:chOff x="4572000" y="3619500"/>
            <a:chExt cx="4191000" cy="952500"/>
          </a:xfrm>
        </p:grpSpPr>
        <p:sp>
          <p:nvSpPr>
            <p:cNvPr id="202" name="Google Shape;202;p19"/>
            <p:cNvSpPr/>
            <p:nvPr/>
          </p:nvSpPr>
          <p:spPr>
            <a:xfrm>
              <a:off x="4572000" y="3619500"/>
              <a:ext cx="4191000" cy="952500"/>
            </a:xfrm>
            <a:prstGeom prst="roundRect">
              <a:avLst>
                <a:gd fmla="val 6000"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19"/>
            <p:cNvSpPr/>
            <p:nvPr/>
          </p:nvSpPr>
          <p:spPr>
            <a:xfrm>
              <a:off x="4572000" y="3619500"/>
              <a:ext cx="38100" cy="952500"/>
            </a:xfrm>
            <a:prstGeom prst="roundRect">
              <a:avLst>
                <a:gd fmla="val 50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19"/>
            <p:cNvSpPr txBox="1"/>
            <p:nvPr/>
          </p:nvSpPr>
          <p:spPr>
            <a:xfrm>
              <a:off x="4762500" y="3714750"/>
              <a:ext cx="381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4338CA"/>
                  </a:solidFill>
                  <a:latin typeface="Inter"/>
                  <a:ea typeface="Inter"/>
                  <a:cs typeface="Inter"/>
                  <a:sym typeface="Inter"/>
                </a:rPr>
                <a:t>Deterministic Scheduler Checkpoint</a:t>
              </a:r>
              <a:endParaRPr b="1" sz="1100">
                <a:solidFill>
                  <a:srgbClr val="4338CA"/>
                </a:solidFill>
                <a:latin typeface="Inter"/>
                <a:ea typeface="Inter"/>
                <a:cs typeface="Inter"/>
                <a:sym typeface="Inter"/>
              </a:endParaRPr>
            </a:p>
            <a:p>
              <a:pPr indent="0" lvl="0" marL="0" rtl="0" algn="l">
                <a:spcBef>
                  <a:spcPts val="300"/>
                </a:spcBef>
                <a:spcAft>
                  <a:spcPts val="0"/>
                </a:spcAft>
                <a:buNone/>
              </a:pPr>
              <a:r>
                <a:rPr b="0" lang="en" sz="1000">
                  <a:solidFill>
                    <a:srgbClr val="1A1A1A"/>
                  </a:solidFill>
                  <a:latin typeface="Inter"/>
                  <a:ea typeface="Inter"/>
                  <a:cs typeface="Inter"/>
                  <a:sym typeface="Inter"/>
                </a:rPr>
                <a:t>By leveraging compiler profiler flags, we enable cooperative yielding natively without modifying the underlying firmware logic.</a:t>
              </a:r>
              <a:endParaRPr b="0" sz="1000">
                <a:solidFill>
                  <a:srgbClr val="1A1A1A"/>
                </a:solidFill>
                <a:latin typeface="Inter"/>
                <a:ea typeface="Inter"/>
                <a:cs typeface="Inter"/>
                <a:sym typeface="Inte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0"/>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20"/>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20"/>
          <p:cNvSpPr txBox="1"/>
          <p:nvPr/>
        </p:nvSpPr>
        <p:spPr>
          <a:xfrm>
            <a:off x="381000" y="285750"/>
            <a:ext cx="6477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200">
                <a:solidFill>
                  <a:srgbClr val="1A1A1A"/>
                </a:solidFill>
                <a:latin typeface="Inter"/>
                <a:ea typeface="Inter"/>
                <a:cs typeface="Inter"/>
                <a:sym typeface="Inter"/>
              </a:rPr>
              <a:t>The Exploit Ladder: Tiers of Instrumentation</a:t>
            </a:r>
            <a:endParaRPr b="1" sz="2200">
              <a:solidFill>
                <a:srgbClr val="1A1A1A"/>
              </a:solidFill>
              <a:latin typeface="Inter"/>
              <a:ea typeface="Inter"/>
              <a:cs typeface="Inter"/>
              <a:sym typeface="Inter"/>
            </a:endParaRPr>
          </a:p>
        </p:txBody>
      </p:sp>
      <p:sp>
        <p:nvSpPr>
          <p:cNvPr id="212" name="Google Shape;212;p20"/>
          <p:cNvSpPr txBox="1"/>
          <p:nvPr/>
        </p:nvSpPr>
        <p:spPr>
          <a:xfrm>
            <a:off x="381000" y="1095375"/>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5F6368"/>
                </a:solidFill>
                <a:latin typeface="Inter"/>
                <a:ea typeface="Inter"/>
                <a:cs typeface="Inter"/>
                <a:sym typeface="Inter"/>
              </a:rPr>
              <a:t>To maintain performance while ensuring determinism, </a:t>
            </a:r>
            <a:r>
              <a:rPr b="1" lang="en" sz="1150">
                <a:solidFill>
                  <a:srgbClr val="4338CA"/>
                </a:solidFill>
                <a:latin typeface="Inter"/>
                <a:ea typeface="Inter"/>
                <a:cs typeface="Inter"/>
                <a:sym typeface="Inter"/>
              </a:rPr>
              <a:t>costar</a:t>
            </a:r>
            <a:r>
              <a:rPr b="0" lang="en" sz="1150">
                <a:solidFill>
                  <a:srgbClr val="5F6368"/>
                </a:solidFill>
                <a:latin typeface="Inter"/>
                <a:ea typeface="Inter"/>
                <a:cs typeface="Inter"/>
                <a:sym typeface="Inter"/>
              </a:rPr>
              <a:t> uses a tiered approach to instrumentation, applying the cheapest method that successfully catches the workload.</a:t>
            </a:r>
            <a:endParaRPr b="0" sz="1150">
              <a:solidFill>
                <a:srgbClr val="5F6368"/>
              </a:solidFill>
              <a:latin typeface="Inter"/>
              <a:ea typeface="Inter"/>
              <a:cs typeface="Inter"/>
              <a:sym typeface="Inter"/>
            </a:endParaRPr>
          </a:p>
        </p:txBody>
      </p:sp>
      <p:sp>
        <p:nvSpPr>
          <p:cNvPr id="213" name="Google Shape;213;p20"/>
          <p:cNvSpPr/>
          <p:nvPr/>
        </p:nvSpPr>
        <p:spPr>
          <a:xfrm>
            <a:off x="381000" y="1571625"/>
            <a:ext cx="8382000" cy="809700"/>
          </a:xfrm>
          <a:prstGeom prst="roundRect">
            <a:avLst>
              <a:gd fmla="val 705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20"/>
          <p:cNvSpPr/>
          <p:nvPr/>
        </p:nvSpPr>
        <p:spPr>
          <a:xfrm>
            <a:off x="381000" y="1571625"/>
            <a:ext cx="76200" cy="809700"/>
          </a:xfrm>
          <a:prstGeom prst="roundRect">
            <a:avLst>
              <a:gd fmla="val 50000" name="adj"/>
            </a:avLst>
          </a:prstGeom>
          <a:solidFill>
            <a:srgbClr val="5F636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20"/>
          <p:cNvSpPr txBox="1"/>
          <p:nvPr/>
        </p:nvSpPr>
        <p:spPr>
          <a:xfrm>
            <a:off x="609600" y="1571625"/>
            <a:ext cx="79248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50">
                <a:solidFill>
                  <a:srgbClr val="5F6368"/>
                </a:solidFill>
                <a:latin typeface="Inter"/>
                <a:ea typeface="Inter"/>
                <a:cs typeface="Inter"/>
                <a:sym typeface="Inter"/>
              </a:rPr>
              <a:t>Tier 1:</a:t>
            </a:r>
            <a:r>
              <a:rPr b="1" lang="en" sz="1250">
                <a:solidFill>
                  <a:srgbClr val="1A1A1A"/>
                </a:solidFill>
                <a:latin typeface="Inter"/>
                <a:ea typeface="Inter"/>
                <a:cs typeface="Inter"/>
                <a:sym typeface="Inter"/>
              </a:rPr>
              <a:t> Function Entry</a:t>
            </a:r>
            <a:endParaRPr b="1" sz="1250">
              <a:solidFill>
                <a:srgbClr val="1A1A1A"/>
              </a:solidFill>
              <a:latin typeface="Inter"/>
              <a:ea typeface="Inter"/>
              <a:cs typeface="Inter"/>
              <a:sym typeface="Inter"/>
            </a:endParaRPr>
          </a:p>
          <a:p>
            <a:pPr indent="0" lvl="0" marL="0" rtl="0" algn="l">
              <a:spcBef>
                <a:spcPts val="300"/>
              </a:spcBef>
              <a:spcAft>
                <a:spcPts val="0"/>
              </a:spcAft>
              <a:buNone/>
            </a:pPr>
            <a:r>
              <a:rPr b="0" lang="en" sz="1050">
                <a:solidFill>
                  <a:srgbClr val="5F6368"/>
                </a:solidFill>
                <a:latin typeface="Inter"/>
                <a:ea typeface="Inter"/>
                <a:cs typeface="Inter"/>
                <a:sym typeface="Inter"/>
              </a:rPr>
              <a:t>Using flags like </a:t>
            </a:r>
            <a:r>
              <a:rPr b="0" lang="en" sz="1000">
                <a:solidFill>
                  <a:srgbClr val="0F172A"/>
                </a:solidFill>
                <a:highlight>
                  <a:srgbClr val="F1F5F9"/>
                </a:highlight>
                <a:latin typeface="JetBrains Mono"/>
                <a:ea typeface="JetBrains Mono"/>
                <a:cs typeface="JetBrains Mono"/>
                <a:sym typeface="JetBrains Mono"/>
              </a:rPr>
              <a:t>GCC -finstrument-functions</a:t>
            </a:r>
            <a:r>
              <a:rPr b="0" lang="en" sz="1050">
                <a:solidFill>
                  <a:srgbClr val="5F6368"/>
                </a:solidFill>
                <a:latin typeface="Inter"/>
                <a:ea typeface="Inter"/>
                <a:cs typeface="Inter"/>
                <a:sym typeface="Inter"/>
              </a:rPr>
              <a:t>, this tier hijacks function entry and exit points. It is cheap and provides broad coverage for code with regular function calls.</a:t>
            </a:r>
            <a:endParaRPr b="0" sz="1050">
              <a:solidFill>
                <a:srgbClr val="5F6368"/>
              </a:solidFill>
              <a:latin typeface="Inter"/>
              <a:ea typeface="Inter"/>
              <a:cs typeface="Inter"/>
              <a:sym typeface="Inter"/>
            </a:endParaRPr>
          </a:p>
        </p:txBody>
      </p:sp>
      <p:sp>
        <p:nvSpPr>
          <p:cNvPr id="216" name="Google Shape;216;p20"/>
          <p:cNvSpPr/>
          <p:nvPr/>
        </p:nvSpPr>
        <p:spPr>
          <a:xfrm>
            <a:off x="381000" y="2495550"/>
            <a:ext cx="8382000" cy="809700"/>
          </a:xfrm>
          <a:prstGeom prst="roundRect">
            <a:avLst>
              <a:gd fmla="val 705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20"/>
          <p:cNvSpPr/>
          <p:nvPr/>
        </p:nvSpPr>
        <p:spPr>
          <a:xfrm>
            <a:off x="381000" y="2495550"/>
            <a:ext cx="76200" cy="8097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20"/>
          <p:cNvSpPr txBox="1"/>
          <p:nvPr/>
        </p:nvSpPr>
        <p:spPr>
          <a:xfrm>
            <a:off x="609600" y="2495550"/>
            <a:ext cx="79248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50">
                <a:solidFill>
                  <a:srgbClr val="0D9488"/>
                </a:solidFill>
                <a:latin typeface="Inter"/>
                <a:ea typeface="Inter"/>
                <a:cs typeface="Inter"/>
                <a:sym typeface="Inter"/>
              </a:rPr>
              <a:t>Tier 2:</a:t>
            </a:r>
            <a:r>
              <a:rPr b="1" lang="en" sz="1250">
                <a:solidFill>
                  <a:srgbClr val="1A1A1A"/>
                </a:solidFill>
                <a:latin typeface="Inter"/>
                <a:ea typeface="Inter"/>
                <a:cs typeface="Inter"/>
                <a:sym typeface="Inter"/>
              </a:rPr>
              <a:t> Manual Loop Hook</a:t>
            </a:r>
            <a:endParaRPr b="1" sz="1250">
              <a:solidFill>
                <a:srgbClr val="1A1A1A"/>
              </a:solidFill>
              <a:latin typeface="Inter"/>
              <a:ea typeface="Inter"/>
              <a:cs typeface="Inter"/>
              <a:sym typeface="Inter"/>
            </a:endParaRPr>
          </a:p>
          <a:p>
            <a:pPr indent="0" lvl="0" marL="0" rtl="0" algn="l">
              <a:spcBef>
                <a:spcPts val="300"/>
              </a:spcBef>
              <a:spcAft>
                <a:spcPts val="0"/>
              </a:spcAft>
              <a:buNone/>
            </a:pPr>
            <a:r>
              <a:rPr b="0" lang="en" sz="1050">
                <a:solidFill>
                  <a:srgbClr val="5F6368"/>
                </a:solidFill>
                <a:latin typeface="Inter"/>
                <a:ea typeface="Inter"/>
                <a:cs typeface="Inter"/>
                <a:sym typeface="Inter"/>
              </a:rPr>
              <a:t>For known hot loops, developers can inject explicit </a:t>
            </a:r>
            <a:r>
              <a:rPr b="0" lang="en" sz="1000">
                <a:solidFill>
                  <a:srgbClr val="0F172A"/>
                </a:solidFill>
                <a:highlight>
                  <a:srgbClr val="F1F5F9"/>
                </a:highlight>
                <a:latin typeface="JetBrains Mono"/>
                <a:ea typeface="JetBrains Mono"/>
                <a:cs typeface="JetBrains Mono"/>
                <a:sym typeface="JetBrains Mono"/>
              </a:rPr>
              <a:t>SIM_LOOP_POLL()</a:t>
            </a:r>
            <a:r>
              <a:rPr b="0" lang="en" sz="1050">
                <a:solidFill>
                  <a:srgbClr val="5F6368"/>
                </a:solidFill>
                <a:latin typeface="Inter"/>
                <a:ea typeface="Inter"/>
                <a:cs typeface="Inter"/>
                <a:sym typeface="Inter"/>
              </a:rPr>
              <a:t> checkpoints. This provides targeted yielding inside tight loops without broad instrumentation overhead.</a:t>
            </a:r>
            <a:endParaRPr b="0" sz="1050">
              <a:solidFill>
                <a:srgbClr val="5F6368"/>
              </a:solidFill>
              <a:latin typeface="Inter"/>
              <a:ea typeface="Inter"/>
              <a:cs typeface="Inter"/>
              <a:sym typeface="Inter"/>
            </a:endParaRPr>
          </a:p>
        </p:txBody>
      </p:sp>
      <p:sp>
        <p:nvSpPr>
          <p:cNvPr id="219" name="Google Shape;219;p20"/>
          <p:cNvSpPr/>
          <p:nvPr/>
        </p:nvSpPr>
        <p:spPr>
          <a:xfrm>
            <a:off x="381000" y="3419475"/>
            <a:ext cx="8382000" cy="809700"/>
          </a:xfrm>
          <a:prstGeom prst="roundRect">
            <a:avLst>
              <a:gd fmla="val 705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20"/>
          <p:cNvSpPr/>
          <p:nvPr/>
        </p:nvSpPr>
        <p:spPr>
          <a:xfrm>
            <a:off x="381000" y="3419475"/>
            <a:ext cx="76200" cy="809700"/>
          </a:xfrm>
          <a:prstGeom prst="roundRect">
            <a:avLst>
              <a:gd fmla="val 50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20"/>
          <p:cNvSpPr txBox="1"/>
          <p:nvPr/>
        </p:nvSpPr>
        <p:spPr>
          <a:xfrm>
            <a:off x="609600" y="3419475"/>
            <a:ext cx="79248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50">
                <a:solidFill>
                  <a:srgbClr val="4338CA"/>
                </a:solidFill>
                <a:latin typeface="Inter"/>
                <a:ea typeface="Inter"/>
                <a:cs typeface="Inter"/>
                <a:sym typeface="Inter"/>
              </a:rPr>
              <a:t>Tier 3:</a:t>
            </a:r>
            <a:r>
              <a:rPr b="1" lang="en" sz="1250">
                <a:solidFill>
                  <a:srgbClr val="1A1A1A"/>
                </a:solidFill>
                <a:latin typeface="Inter"/>
                <a:ea typeface="Inter"/>
                <a:cs typeface="Inter"/>
                <a:sym typeface="Inter"/>
              </a:rPr>
              <a:t> Basic-Block/Edge Coverage</a:t>
            </a:r>
            <a:endParaRPr b="1" sz="1250">
              <a:solidFill>
                <a:srgbClr val="1A1A1A"/>
              </a:solidFill>
              <a:latin typeface="Inter"/>
              <a:ea typeface="Inter"/>
              <a:cs typeface="Inter"/>
              <a:sym typeface="Inter"/>
            </a:endParaRPr>
          </a:p>
          <a:p>
            <a:pPr indent="0" lvl="0" marL="0" rtl="0" algn="l">
              <a:spcBef>
                <a:spcPts val="300"/>
              </a:spcBef>
              <a:spcAft>
                <a:spcPts val="0"/>
              </a:spcAft>
              <a:buNone/>
            </a:pPr>
            <a:r>
              <a:rPr b="0" lang="en" sz="1050">
                <a:solidFill>
                  <a:srgbClr val="5F6368"/>
                </a:solidFill>
                <a:latin typeface="Inter"/>
                <a:ea typeface="Inter"/>
                <a:cs typeface="Inter"/>
                <a:sym typeface="Inter"/>
              </a:rPr>
              <a:t>Using Clang SanitizerCoverage (</a:t>
            </a:r>
            <a:r>
              <a:rPr b="0" lang="en" sz="1000">
                <a:solidFill>
                  <a:srgbClr val="0F172A"/>
                </a:solidFill>
                <a:highlight>
                  <a:srgbClr val="F1F5F9"/>
                </a:highlight>
                <a:latin typeface="JetBrains Mono"/>
                <a:ea typeface="JetBrains Mono"/>
                <a:cs typeface="JetBrains Mono"/>
                <a:sym typeface="JetBrains Mono"/>
              </a:rPr>
              <a:t>-fsanitize-coverage=trace-pc-guard</a:t>
            </a:r>
            <a:r>
              <a:rPr b="0" lang="en" sz="1050">
                <a:solidFill>
                  <a:srgbClr val="5F6368"/>
                </a:solidFill>
                <a:latin typeface="Inter"/>
                <a:ea typeface="Inter"/>
                <a:cs typeface="Inter"/>
                <a:sym typeface="Inter"/>
              </a:rPr>
              <a:t>), this tier instruments edge-level transitions. It acts as a safety net that catches pathological tight </a:t>
            </a:r>
            <a:r>
              <a:rPr b="0" lang="en" sz="1000">
                <a:solidFill>
                  <a:srgbClr val="0F172A"/>
                </a:solidFill>
                <a:highlight>
                  <a:srgbClr val="F1F5F9"/>
                </a:highlight>
                <a:latin typeface="JetBrains Mono"/>
                <a:ea typeface="JetBrains Mono"/>
                <a:cs typeface="JetBrains Mono"/>
                <a:sym typeface="JetBrains Mono"/>
              </a:rPr>
              <a:t>while(1)</a:t>
            </a:r>
            <a:r>
              <a:rPr b="0" lang="en" sz="1050">
                <a:solidFill>
                  <a:srgbClr val="5F6368"/>
                </a:solidFill>
                <a:latin typeface="Inter"/>
                <a:ea typeface="Inter"/>
                <a:cs typeface="Inter"/>
                <a:sym typeface="Inter"/>
              </a:rPr>
              <a:t> loops, offering more control but at the cost of higher execution overhead.</a:t>
            </a:r>
            <a:endParaRPr b="0" sz="1050">
              <a:solidFill>
                <a:srgbClr val="5F6368"/>
              </a:solidFill>
              <a:latin typeface="Inter"/>
              <a:ea typeface="Inter"/>
              <a:cs typeface="Inter"/>
              <a:sym typeface="Inter"/>
            </a:endParaRPr>
          </a:p>
        </p:txBody>
      </p:sp>
      <p:pic>
        <p:nvPicPr>
          <p:cNvPr id="222" name="Google Shape;222;p20"/>
          <p:cNvPicPr preferRelativeResize="0"/>
          <p:nvPr/>
        </p:nvPicPr>
        <p:blipFill rotWithShape="1">
          <a:blip r:embed="rId3">
            <a:alphaModFix/>
          </a:blip>
          <a:srcRect b="0" l="0" r="0" t="0"/>
          <a:stretch/>
        </p:blipFill>
        <p:spPr>
          <a:xfrm>
            <a:off x="376238" y="4338638"/>
            <a:ext cx="8391600" cy="504900"/>
          </a:xfrm>
          <a:prstGeom prst="rect">
            <a:avLst/>
          </a:prstGeom>
          <a:noFill/>
          <a:ln>
            <a:noFill/>
          </a:ln>
        </p:spPr>
      </p:pic>
      <p:sp>
        <p:nvSpPr>
          <p:cNvPr id="223" name="Google Shape;223;p20"/>
          <p:cNvSpPr txBox="1"/>
          <p:nvPr/>
        </p:nvSpPr>
        <p:spPr>
          <a:xfrm>
            <a:off x="571500" y="4343400"/>
            <a:ext cx="80010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50">
                <a:solidFill>
                  <a:srgbClr val="4338CA"/>
                </a:solidFill>
                <a:latin typeface="Inter"/>
                <a:ea typeface="Inter"/>
                <a:cs typeface="Inter"/>
                <a:sym typeface="Inter"/>
              </a:rPr>
              <a:t>Key Takeaway:</a:t>
            </a:r>
            <a:r>
              <a:rPr b="0" lang="en" sz="1150">
                <a:solidFill>
                  <a:srgbClr val="1A1A1A"/>
                </a:solidFill>
                <a:latin typeface="Inter"/>
                <a:ea typeface="Inter"/>
                <a:cs typeface="Inter"/>
                <a:sym typeface="Inter"/>
              </a:rPr>
              <a:t> This ladder keeps the default execution path cooperative and fast, while giving CI systems a reliable way to detect CPU-bound stalls before they freeze the entire simulation run.</a:t>
            </a:r>
            <a:endParaRPr b="0" sz="1150">
              <a:solidFill>
                <a:srgbClr val="1A1A1A"/>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grpSp>
        <p:nvGrpSpPr>
          <p:cNvPr id="228" name="Google Shape;228;p21"/>
          <p:cNvGrpSpPr/>
          <p:nvPr/>
        </p:nvGrpSpPr>
        <p:grpSpPr>
          <a:xfrm>
            <a:off x="0" y="0"/>
            <a:ext cx="9144000" cy="5143500"/>
            <a:chOff x="0" y="0"/>
            <a:chExt cx="9144000" cy="5143500"/>
          </a:xfrm>
        </p:grpSpPr>
        <p:sp>
          <p:nvSpPr>
            <p:cNvPr id="229" name="Google Shape;229;p21"/>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21"/>
            <p:cNvSpPr/>
            <p:nvPr/>
          </p:nvSpPr>
          <p:spPr>
            <a:xfrm>
              <a:off x="6934200" y="381000"/>
              <a:ext cx="91440" cy="9144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1"/>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32" name="Google Shape;232;p21"/>
          <p:cNvSpPr txBox="1"/>
          <p:nvPr/>
        </p:nvSpPr>
        <p:spPr>
          <a:xfrm>
            <a:off x="381000" y="285675"/>
            <a:ext cx="7239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50">
                <a:solidFill>
                  <a:srgbClr val="1A1A1A"/>
                </a:solidFill>
                <a:latin typeface="Inter"/>
                <a:ea typeface="Inter"/>
                <a:cs typeface="Inter"/>
                <a:sym typeface="Inter"/>
              </a:rPr>
              <a:t>costar Architecture: Native Firmware, Fibers, and Virtual Time</a:t>
            </a:r>
            <a:endParaRPr b="1" sz="1850">
              <a:solidFill>
                <a:srgbClr val="1A1A1A"/>
              </a:solidFill>
              <a:latin typeface="Inter"/>
              <a:ea typeface="Inter"/>
              <a:cs typeface="Inter"/>
              <a:sym typeface="Inter"/>
            </a:endParaRPr>
          </a:p>
          <a:p>
            <a:pPr indent="0" lvl="0" marL="0" rtl="0" algn="l">
              <a:spcBef>
                <a:spcPts val="300"/>
              </a:spcBef>
              <a:spcAft>
                <a:spcPts val="0"/>
              </a:spcAft>
              <a:buNone/>
            </a:pPr>
            <a:r>
              <a:rPr b="0" lang="en" sz="1064">
                <a:solidFill>
                  <a:srgbClr val="4338CA"/>
                </a:solidFill>
                <a:latin typeface="Inter"/>
                <a:ea typeface="Inter"/>
                <a:cs typeface="Inter"/>
                <a:sym typeface="Inter"/>
              </a:rPr>
              <a:t>The architecture of costar coordinates host-native execution into a cohesive system.</a:t>
            </a:r>
            <a:endParaRPr b="0" sz="1064">
              <a:solidFill>
                <a:srgbClr val="4338CA"/>
              </a:solidFill>
              <a:latin typeface="Inter"/>
              <a:ea typeface="Inter"/>
              <a:cs typeface="Inter"/>
              <a:sym typeface="Inter"/>
            </a:endParaRPr>
          </a:p>
        </p:txBody>
      </p:sp>
      <p:pic>
        <p:nvPicPr>
          <p:cNvPr id="233" name="Google Shape;233;p21"/>
          <p:cNvPicPr preferRelativeResize="0"/>
          <p:nvPr/>
        </p:nvPicPr>
        <p:blipFill rotWithShape="1">
          <a:blip r:embed="rId3">
            <a:alphaModFix/>
          </a:blip>
          <a:srcRect b="0" l="0" r="0" t="0"/>
          <a:stretch/>
        </p:blipFill>
        <p:spPr>
          <a:xfrm>
            <a:off x="2762250" y="3190875"/>
            <a:ext cx="647700" cy="371400"/>
          </a:xfrm>
          <a:prstGeom prst="rect">
            <a:avLst/>
          </a:prstGeom>
          <a:noFill/>
          <a:ln>
            <a:noFill/>
          </a:ln>
        </p:spPr>
      </p:pic>
      <p:sp>
        <p:nvSpPr>
          <p:cNvPr id="234" name="Google Shape;234;p21"/>
          <p:cNvSpPr/>
          <p:nvPr/>
        </p:nvSpPr>
        <p:spPr>
          <a:xfrm>
            <a:off x="3371850" y="3162300"/>
            <a:ext cx="57300" cy="76200"/>
          </a:xfrm>
          <a:custGeom>
            <a:rect b="b" l="l" r="r" t="t"/>
            <a:pathLst>
              <a:path extrusionOk="0" h="120000" w="120000">
                <a:moveTo>
                  <a:pt x="120000" y="60000"/>
                </a:moveTo>
                <a:lnTo>
                  <a:pt x="0" y="0"/>
                </a:lnTo>
                <a:lnTo>
                  <a:pt x="0" y="120000"/>
                </a:lnTo>
                <a:close/>
              </a:path>
            </a:pathLst>
          </a:cu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35" name="Google Shape;235;p21"/>
          <p:cNvPicPr preferRelativeResize="0"/>
          <p:nvPr/>
        </p:nvPicPr>
        <p:blipFill rotWithShape="1">
          <a:blip r:embed="rId4">
            <a:alphaModFix/>
          </a:blip>
          <a:srcRect b="0" l="0" r="0" t="0"/>
          <a:stretch/>
        </p:blipFill>
        <p:spPr>
          <a:xfrm>
            <a:off x="5715000" y="3190875"/>
            <a:ext cx="809700" cy="19200"/>
          </a:xfrm>
          <a:prstGeom prst="rect">
            <a:avLst/>
          </a:prstGeom>
          <a:noFill/>
          <a:ln>
            <a:noFill/>
          </a:ln>
        </p:spPr>
      </p:pic>
      <p:sp>
        <p:nvSpPr>
          <p:cNvPr id="236" name="Google Shape;236;p21"/>
          <p:cNvSpPr/>
          <p:nvPr/>
        </p:nvSpPr>
        <p:spPr>
          <a:xfrm>
            <a:off x="6467475" y="3162300"/>
            <a:ext cx="57300" cy="76200"/>
          </a:xfrm>
          <a:custGeom>
            <a:rect b="b" l="l" r="r" t="t"/>
            <a:pathLst>
              <a:path extrusionOk="0" h="120000" w="120000">
                <a:moveTo>
                  <a:pt x="120000" y="60000"/>
                </a:moveTo>
                <a:lnTo>
                  <a:pt x="0" y="0"/>
                </a:lnTo>
                <a:lnTo>
                  <a:pt x="0" y="120000"/>
                </a:ln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37" name="Google Shape;237;p21"/>
          <p:cNvGrpSpPr/>
          <p:nvPr/>
        </p:nvGrpSpPr>
        <p:grpSpPr>
          <a:xfrm>
            <a:off x="381000" y="1095375"/>
            <a:ext cx="2524200" cy="3286200"/>
            <a:chOff x="381000" y="1095375"/>
            <a:chExt cx="2524200" cy="3286200"/>
          </a:xfrm>
        </p:grpSpPr>
        <p:sp>
          <p:nvSpPr>
            <p:cNvPr id="238" name="Google Shape;238;p21"/>
            <p:cNvSpPr/>
            <p:nvPr/>
          </p:nvSpPr>
          <p:spPr>
            <a:xfrm>
              <a:off x="381000" y="1095375"/>
              <a:ext cx="2524200" cy="3286200"/>
            </a:xfrm>
            <a:prstGeom prst="roundRect">
              <a:avLst>
                <a:gd fmla="val 22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39" name="Google Shape;239;p21"/>
            <p:cNvCxnSpPr/>
            <p:nvPr/>
          </p:nvCxnSpPr>
          <p:spPr>
            <a:xfrm>
              <a:off x="390525" y="1114425"/>
              <a:ext cx="2505000" cy="0"/>
            </a:xfrm>
            <a:prstGeom prst="straightConnector1">
              <a:avLst/>
            </a:prstGeom>
            <a:solidFill>
              <a:srgbClr val="FFFFFF"/>
            </a:solidFill>
            <a:ln cap="flat" cmpd="sng" w="38100">
              <a:solidFill>
                <a:srgbClr val="4338CA"/>
              </a:solidFill>
              <a:prstDash val="solid"/>
              <a:round/>
              <a:headEnd len="sm" w="sm" type="none"/>
              <a:tailEnd len="sm" w="sm" type="none"/>
            </a:ln>
          </p:spPr>
        </p:cxnSp>
        <p:sp>
          <p:nvSpPr>
            <p:cNvPr id="240" name="Google Shape;240;p21"/>
            <p:cNvSpPr txBox="1"/>
            <p:nvPr/>
          </p:nvSpPr>
          <p:spPr>
            <a:xfrm>
              <a:off x="523875" y="1238250"/>
              <a:ext cx="22383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100">
                  <a:solidFill>
                    <a:srgbClr val="4338CA"/>
                  </a:solidFill>
                  <a:latin typeface="Inter SemiBold"/>
                  <a:ea typeface="Inter SemiBold"/>
                  <a:cs typeface="Inter SemiBold"/>
                  <a:sym typeface="Inter SemiBold"/>
                </a:rPr>
                <a:t>1. TARGET FIRMWARE</a:t>
              </a:r>
              <a:endParaRPr/>
            </a:p>
          </p:txBody>
        </p:sp>
        <p:sp>
          <p:nvSpPr>
            <p:cNvPr id="241" name="Google Shape;241;p21"/>
            <p:cNvSpPr txBox="1"/>
            <p:nvPr/>
          </p:nvSpPr>
          <p:spPr>
            <a:xfrm>
              <a:off x="523875" y="1524000"/>
              <a:ext cx="22383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4338CA"/>
                  </a:solidFill>
                  <a:latin typeface="Inter"/>
                  <a:ea typeface="Inter"/>
                  <a:cs typeface="Inter"/>
                  <a:sym typeface="Inter"/>
                </a:rPr>
                <a:t>C firmware</a:t>
              </a:r>
              <a:r>
                <a:rPr b="0" lang="en" sz="950">
                  <a:solidFill>
                    <a:srgbClr val="1A1A1A"/>
                  </a:solidFill>
                  <a:latin typeface="Inter"/>
                  <a:ea typeface="Inter"/>
                  <a:cs typeface="Inter"/>
                  <a:sym typeface="Inter"/>
                </a:rPr>
                <a:t> (FreeRTOS / Zephyr) is compiled natively for the host (x86/ARM) with no_mangle hooks and compiler instrumentation.</a:t>
              </a:r>
              <a:endParaRPr b="0" sz="950">
                <a:solidFill>
                  <a:srgbClr val="1A1A1A"/>
                </a:solidFill>
                <a:latin typeface="Inter"/>
                <a:ea typeface="Inter"/>
                <a:cs typeface="Inter"/>
                <a:sym typeface="Inter"/>
              </a:endParaRPr>
            </a:p>
          </p:txBody>
        </p:sp>
        <p:grpSp>
          <p:nvGrpSpPr>
            <p:cNvPr id="242" name="Google Shape;242;p21"/>
            <p:cNvGrpSpPr/>
            <p:nvPr/>
          </p:nvGrpSpPr>
          <p:grpSpPr>
            <a:xfrm>
              <a:off x="519113" y="2662238"/>
              <a:ext cx="2247900" cy="1090763"/>
              <a:chOff x="519113" y="2662238"/>
              <a:chExt cx="2247900" cy="1090763"/>
            </a:xfrm>
          </p:grpSpPr>
          <p:pic>
            <p:nvPicPr>
              <p:cNvPr id="243" name="Google Shape;243;p21"/>
              <p:cNvPicPr preferRelativeResize="0"/>
              <p:nvPr/>
            </p:nvPicPr>
            <p:blipFill rotWithShape="1">
              <a:blip r:embed="rId5">
                <a:alphaModFix/>
              </a:blip>
              <a:srcRect b="0" l="0" r="0" t="0"/>
              <a:stretch/>
            </p:blipFill>
            <p:spPr>
              <a:xfrm>
                <a:off x="519113" y="2662238"/>
                <a:ext cx="2247900" cy="371400"/>
              </a:xfrm>
              <a:prstGeom prst="rect">
                <a:avLst/>
              </a:prstGeom>
              <a:noFill/>
              <a:ln>
                <a:noFill/>
              </a:ln>
            </p:spPr>
          </p:pic>
          <p:sp>
            <p:nvSpPr>
              <p:cNvPr id="244" name="Google Shape;244;p21"/>
              <p:cNvSpPr txBox="1"/>
              <p:nvPr/>
            </p:nvSpPr>
            <p:spPr>
              <a:xfrm>
                <a:off x="571500" y="2667000"/>
                <a:ext cx="21432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5F6368"/>
                    </a:solidFill>
                    <a:latin typeface="Inter SemiBold"/>
                    <a:ea typeface="Inter SemiBold"/>
                    <a:cs typeface="Inter SemiBold"/>
                    <a:sym typeface="Inter SemiBold"/>
                  </a:rPr>
                  <a:t>C Source (FreeRTOS / Zephyr)</a:t>
                </a:r>
                <a:endParaRPr b="0" sz="850">
                  <a:solidFill>
                    <a:srgbClr val="5F6368"/>
                  </a:solidFill>
                  <a:latin typeface="Inter SemiBold"/>
                  <a:ea typeface="Inter SemiBold"/>
                  <a:cs typeface="Inter SemiBold"/>
                  <a:sym typeface="Inter SemiBold"/>
                </a:endParaRPr>
              </a:p>
            </p:txBody>
          </p:sp>
          <p:pic>
            <p:nvPicPr>
              <p:cNvPr id="245" name="Google Shape;245;p21"/>
              <p:cNvPicPr preferRelativeResize="0"/>
              <p:nvPr/>
            </p:nvPicPr>
            <p:blipFill rotWithShape="1">
              <a:blip r:embed="rId6">
                <a:alphaModFix/>
              </a:blip>
              <a:srcRect b="0" l="0" r="0" t="0"/>
              <a:stretch/>
            </p:blipFill>
            <p:spPr>
              <a:xfrm>
                <a:off x="1633538" y="3028950"/>
                <a:ext cx="19200" cy="257100"/>
              </a:xfrm>
              <a:prstGeom prst="rect">
                <a:avLst/>
              </a:prstGeom>
              <a:noFill/>
              <a:ln>
                <a:noFill/>
              </a:ln>
            </p:spPr>
          </p:pic>
          <p:sp>
            <p:nvSpPr>
              <p:cNvPr id="246" name="Google Shape;246;p21"/>
              <p:cNvSpPr/>
              <p:nvPr/>
            </p:nvSpPr>
            <p:spPr>
              <a:xfrm>
                <a:off x="1609725" y="3286125"/>
                <a:ext cx="66600" cy="66600"/>
              </a:xfrm>
              <a:custGeom>
                <a:rect b="b" l="l" r="r" t="t"/>
                <a:pathLst>
                  <a:path extrusionOk="0" h="120000" w="120000">
                    <a:moveTo>
                      <a:pt x="60000" y="120000"/>
                    </a:moveTo>
                    <a:lnTo>
                      <a:pt x="0" y="0"/>
                    </a:lnTo>
                    <a:lnTo>
                      <a:pt x="120000" y="0"/>
                    </a:lnTo>
                    <a:close/>
                  </a:path>
                </a:pathLst>
              </a:cu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21"/>
              <p:cNvSpPr/>
              <p:nvPr/>
            </p:nvSpPr>
            <p:spPr>
              <a:xfrm>
                <a:off x="1119188" y="3076575"/>
                <a:ext cx="1047900" cy="171600"/>
              </a:xfrm>
              <a:prstGeom prst="roundRect">
                <a:avLst>
                  <a:gd fmla="val 50000" name="adj"/>
                </a:avLst>
              </a:prstGeom>
              <a:solidFill>
                <a:srgbClr val="E0E7FF"/>
              </a:solidFill>
              <a:ln cap="flat" cmpd="sng" w="7150">
                <a:solidFill>
                  <a:srgbClr val="4338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21"/>
              <p:cNvSpPr txBox="1"/>
              <p:nvPr/>
            </p:nvSpPr>
            <p:spPr>
              <a:xfrm>
                <a:off x="1119188" y="3076575"/>
                <a:ext cx="10479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00">
                    <a:solidFill>
                      <a:srgbClr val="4338CA"/>
                    </a:solidFill>
                    <a:latin typeface="Inter"/>
                    <a:ea typeface="Inter"/>
                    <a:cs typeface="Inter"/>
                    <a:sym typeface="Inter"/>
                  </a:rPr>
                  <a:t>Instrumentation</a:t>
                </a:r>
                <a:endParaRPr/>
              </a:p>
            </p:txBody>
          </p:sp>
          <p:sp>
            <p:nvSpPr>
              <p:cNvPr id="249" name="Google Shape;249;p21"/>
              <p:cNvSpPr/>
              <p:nvPr/>
            </p:nvSpPr>
            <p:spPr>
              <a:xfrm>
                <a:off x="523875" y="3352800"/>
                <a:ext cx="2238300" cy="400200"/>
              </a:xfrm>
              <a:prstGeom prst="roundRect">
                <a:avLst>
                  <a:gd fmla="val 9523" name="adj"/>
                </a:avLst>
              </a:prstGeom>
              <a:solidFill>
                <a:srgbClr val="FFFFFF"/>
              </a:solidFill>
              <a:ln cap="flat" cmpd="sng" w="14300">
                <a:solidFill>
                  <a:srgbClr val="4338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21"/>
              <p:cNvSpPr txBox="1"/>
              <p:nvPr/>
            </p:nvSpPr>
            <p:spPr>
              <a:xfrm>
                <a:off x="571500" y="3352800"/>
                <a:ext cx="2143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1A1A1A"/>
                    </a:solidFill>
                    <a:latin typeface="Inter"/>
                    <a:ea typeface="Inter"/>
                    <a:cs typeface="Inter"/>
                    <a:sym typeface="Inter"/>
                  </a:rPr>
                  <a:t>Host Native Binary</a:t>
                </a:r>
                <a:endParaRPr b="1" sz="900">
                  <a:solidFill>
                    <a:srgbClr val="1A1A1A"/>
                  </a:solidFill>
                  <a:latin typeface="Inter"/>
                  <a:ea typeface="Inter"/>
                  <a:cs typeface="Inter"/>
                  <a:sym typeface="Inter"/>
                </a:endParaRPr>
              </a:p>
              <a:p>
                <a:pPr indent="0" lvl="0" marL="0" rtl="0" algn="ctr">
                  <a:spcBef>
                    <a:spcPts val="75"/>
                  </a:spcBef>
                  <a:spcAft>
                    <a:spcPts val="0"/>
                  </a:spcAft>
                  <a:buNone/>
                </a:pPr>
                <a:r>
                  <a:rPr lang="en" sz="750">
                    <a:solidFill>
                      <a:srgbClr val="4338CA"/>
                    </a:solidFill>
                    <a:latin typeface="JetBrains Mono"/>
                    <a:ea typeface="JetBrains Mono"/>
                    <a:cs typeface="JetBrains Mono"/>
                    <a:sym typeface="JetBrains Mono"/>
                  </a:rPr>
                  <a:t>x86_64 / AArch64</a:t>
                </a:r>
                <a:endParaRPr sz="750">
                  <a:solidFill>
                    <a:srgbClr val="4338CA"/>
                  </a:solidFill>
                  <a:latin typeface="JetBrains Mono"/>
                  <a:ea typeface="JetBrains Mono"/>
                  <a:cs typeface="JetBrains Mono"/>
                  <a:sym typeface="JetBrains Mono"/>
                </a:endParaRPr>
              </a:p>
            </p:txBody>
          </p:sp>
          <p:grpSp>
            <p:nvGrpSpPr>
              <p:cNvPr id="251" name="Google Shape;251;p21"/>
              <p:cNvGrpSpPr/>
              <p:nvPr/>
            </p:nvGrpSpPr>
            <p:grpSpPr>
              <a:xfrm>
                <a:off x="2346960" y="3423285"/>
                <a:ext cx="186690" cy="186690"/>
                <a:chOff x="19050" y="19050"/>
                <a:chExt cx="266700" cy="266700"/>
              </a:xfrm>
            </p:grpSpPr>
            <p:sp>
              <p:nvSpPr>
                <p:cNvPr id="252" name="Google Shape;252;p21"/>
                <p:cNvSpPr/>
                <p:nvPr/>
              </p:nvSpPr>
              <p:spPr>
                <a:xfrm>
                  <a:off x="57150" y="57150"/>
                  <a:ext cx="190500" cy="190500"/>
                </a:xfrm>
                <a:prstGeom prst="roundRect">
                  <a:avLst>
                    <a:gd fmla="val 10000" name="adj"/>
                  </a:avLst>
                </a:prstGeom>
                <a:solidFill>
                  <a:srgbClr val="000000">
                    <a:alpha val="0"/>
                  </a:srgbClr>
                </a:solidFill>
                <a:ln cap="flat" cmpd="sng" w="19050">
                  <a:solidFill>
                    <a:srgbClr val="4338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1"/>
                <p:cNvSpPr/>
                <p:nvPr/>
              </p:nvSpPr>
              <p:spPr>
                <a:xfrm>
                  <a:off x="19050" y="19050"/>
                  <a:ext cx="266700" cy="266700"/>
                </a:xfrm>
                <a:custGeom>
                  <a:rect b="b" l="l" r="r" t="t"/>
                  <a:pathLst>
                    <a:path extrusionOk="0" fill="none" h="120000" w="120000">
                      <a:moveTo>
                        <a:pt x="17143" y="34286"/>
                      </a:moveTo>
                      <a:lnTo>
                        <a:pt x="0" y="34286"/>
                      </a:lnTo>
                      <a:moveTo>
                        <a:pt x="17143" y="60000"/>
                      </a:moveTo>
                      <a:lnTo>
                        <a:pt x="0" y="60000"/>
                      </a:lnTo>
                      <a:moveTo>
                        <a:pt x="17143" y="85714"/>
                      </a:moveTo>
                      <a:lnTo>
                        <a:pt x="0" y="85714"/>
                      </a:lnTo>
                      <a:moveTo>
                        <a:pt x="102857" y="34286"/>
                      </a:moveTo>
                      <a:lnTo>
                        <a:pt x="120000" y="34286"/>
                      </a:lnTo>
                      <a:moveTo>
                        <a:pt x="102857" y="60000"/>
                      </a:moveTo>
                      <a:lnTo>
                        <a:pt x="120000" y="60000"/>
                      </a:lnTo>
                      <a:moveTo>
                        <a:pt x="102857" y="85714"/>
                      </a:moveTo>
                      <a:lnTo>
                        <a:pt x="120000" y="85714"/>
                      </a:lnTo>
                      <a:moveTo>
                        <a:pt x="34286" y="17143"/>
                      </a:moveTo>
                      <a:lnTo>
                        <a:pt x="34286" y="0"/>
                      </a:lnTo>
                      <a:moveTo>
                        <a:pt x="60000" y="17143"/>
                      </a:moveTo>
                      <a:lnTo>
                        <a:pt x="60000" y="0"/>
                      </a:lnTo>
                      <a:moveTo>
                        <a:pt x="85714" y="17143"/>
                      </a:moveTo>
                      <a:lnTo>
                        <a:pt x="85714" y="0"/>
                      </a:lnTo>
                      <a:moveTo>
                        <a:pt x="34286" y="102857"/>
                      </a:moveTo>
                      <a:lnTo>
                        <a:pt x="34286" y="120000"/>
                      </a:lnTo>
                      <a:moveTo>
                        <a:pt x="60000" y="102857"/>
                      </a:moveTo>
                      <a:lnTo>
                        <a:pt x="60000" y="120000"/>
                      </a:lnTo>
                      <a:moveTo>
                        <a:pt x="85714" y="102857"/>
                      </a:moveTo>
                      <a:lnTo>
                        <a:pt x="85714" y="120000"/>
                      </a:lnTo>
                    </a:path>
                  </a:pathLst>
                </a:custGeom>
                <a:solidFill>
                  <a:srgbClr val="FFFFFF"/>
                </a:solidFill>
                <a:ln cap="rnd" cmpd="sng" w="19050">
                  <a:solidFill>
                    <a:srgbClr val="4338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grpSp>
        <p:nvGrpSpPr>
          <p:cNvPr id="254" name="Google Shape;254;p21"/>
          <p:cNvGrpSpPr/>
          <p:nvPr/>
        </p:nvGrpSpPr>
        <p:grpSpPr>
          <a:xfrm>
            <a:off x="3286125" y="1095375"/>
            <a:ext cx="2571900" cy="3286200"/>
            <a:chOff x="3286125" y="1095375"/>
            <a:chExt cx="2571900" cy="3286200"/>
          </a:xfrm>
        </p:grpSpPr>
        <p:sp>
          <p:nvSpPr>
            <p:cNvPr id="255" name="Google Shape;255;p21"/>
            <p:cNvSpPr/>
            <p:nvPr/>
          </p:nvSpPr>
          <p:spPr>
            <a:xfrm>
              <a:off x="3286125" y="1095375"/>
              <a:ext cx="2571900" cy="3286200"/>
            </a:xfrm>
            <a:prstGeom prst="roundRect">
              <a:avLst>
                <a:gd fmla="val 2222"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56" name="Google Shape;256;p21"/>
            <p:cNvCxnSpPr/>
            <p:nvPr/>
          </p:nvCxnSpPr>
          <p:spPr>
            <a:xfrm>
              <a:off x="3295650" y="1114425"/>
              <a:ext cx="2552700" cy="0"/>
            </a:xfrm>
            <a:prstGeom prst="straightConnector1">
              <a:avLst/>
            </a:prstGeom>
            <a:solidFill>
              <a:srgbClr val="FFFFFF"/>
            </a:solidFill>
            <a:ln cap="flat" cmpd="sng" w="38100">
              <a:solidFill>
                <a:srgbClr val="0D9488"/>
              </a:solidFill>
              <a:prstDash val="solid"/>
              <a:round/>
              <a:headEnd len="sm" w="sm" type="none"/>
              <a:tailEnd len="sm" w="sm" type="none"/>
            </a:ln>
          </p:spPr>
        </p:cxnSp>
        <p:sp>
          <p:nvSpPr>
            <p:cNvPr id="257" name="Google Shape;257;p21"/>
            <p:cNvSpPr txBox="1"/>
            <p:nvPr/>
          </p:nvSpPr>
          <p:spPr>
            <a:xfrm>
              <a:off x="3429000" y="1238250"/>
              <a:ext cx="2286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100">
                  <a:solidFill>
                    <a:srgbClr val="0D9488"/>
                  </a:solidFill>
                  <a:latin typeface="Inter SemiBold"/>
                  <a:ea typeface="Inter SemiBold"/>
                  <a:cs typeface="Inter SemiBold"/>
                  <a:sym typeface="Inter SemiBold"/>
                </a:rPr>
                <a:t>2. FIBER MANAGER &amp; CLOCK</a:t>
              </a:r>
              <a:endParaRPr/>
            </a:p>
          </p:txBody>
        </p:sp>
        <p:sp>
          <p:nvSpPr>
            <p:cNvPr id="258" name="Google Shape;258;p21"/>
            <p:cNvSpPr txBox="1"/>
            <p:nvPr/>
          </p:nvSpPr>
          <p:spPr>
            <a:xfrm>
              <a:off x="3429000" y="1524000"/>
              <a:ext cx="2286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0D9488"/>
                  </a:solidFill>
                  <a:latin typeface="Inter"/>
                  <a:ea typeface="Inter"/>
                  <a:cs typeface="Inter"/>
                  <a:sym typeface="Inter"/>
                </a:rPr>
                <a:t>Fiber Manager:</a:t>
              </a:r>
              <a:r>
                <a:rPr b="0" lang="en" sz="950">
                  <a:solidFill>
                    <a:srgbClr val="1A1A1A"/>
                  </a:solidFill>
                  <a:latin typeface="Inter"/>
                  <a:ea typeface="Inter"/>
                  <a:cs typeface="Inter"/>
                  <a:sym typeface="Inter"/>
                </a:rPr>
                <a:t> A C ABI bridge connects to Rust fibers (stackful tasks). The RTOS still owns the scheduling policy, but costar acts as the deterministic substrate.</a:t>
              </a:r>
              <a:endParaRPr b="0" sz="950">
                <a:solidFill>
                  <a:srgbClr val="1A1A1A"/>
                </a:solidFill>
                <a:latin typeface="Inter"/>
                <a:ea typeface="Inter"/>
                <a:cs typeface="Inter"/>
                <a:sym typeface="Inter"/>
              </a:endParaRPr>
            </a:p>
            <a:p>
              <a:pPr indent="0" lvl="0" marL="0" rtl="0" algn="l">
                <a:spcBef>
                  <a:spcPts val="600"/>
                </a:spcBef>
                <a:spcAft>
                  <a:spcPts val="0"/>
                </a:spcAft>
                <a:buNone/>
              </a:pPr>
              <a:r>
                <a:rPr b="1" lang="en" sz="950">
                  <a:solidFill>
                    <a:srgbClr val="0D9488"/>
                  </a:solidFill>
                  <a:latin typeface="Inter"/>
                  <a:ea typeface="Inter"/>
                  <a:cs typeface="Inter"/>
                  <a:sym typeface="Inter"/>
                </a:rPr>
                <a:t>Virtual Clock (sim-core):</a:t>
              </a:r>
              <a:r>
                <a:rPr b="0" lang="en" sz="950">
                  <a:solidFill>
                    <a:srgbClr val="1A1A1A"/>
                  </a:solidFill>
                  <a:latin typeface="Inter"/>
                  <a:ea typeface="Inter"/>
                  <a:cs typeface="Inter"/>
                  <a:sym typeface="Inter"/>
                </a:rPr>
                <a:t> Maintains strict temporal determinism using u64 virtual ticks.</a:t>
              </a:r>
              <a:endParaRPr b="0" sz="950">
                <a:solidFill>
                  <a:srgbClr val="1A1A1A"/>
                </a:solidFill>
                <a:latin typeface="Inter"/>
                <a:ea typeface="Inter"/>
                <a:cs typeface="Inter"/>
                <a:sym typeface="Inter"/>
              </a:endParaRPr>
            </a:p>
          </p:txBody>
        </p:sp>
        <p:grpSp>
          <p:nvGrpSpPr>
            <p:cNvPr id="259" name="Google Shape;259;p21"/>
            <p:cNvGrpSpPr/>
            <p:nvPr/>
          </p:nvGrpSpPr>
          <p:grpSpPr>
            <a:xfrm>
              <a:off x="3429000" y="3000375"/>
              <a:ext cx="2286075" cy="971700"/>
              <a:chOff x="3429000" y="3000375"/>
              <a:chExt cx="2286075" cy="971700"/>
            </a:xfrm>
          </p:grpSpPr>
          <p:sp>
            <p:nvSpPr>
              <p:cNvPr id="260" name="Google Shape;260;p21"/>
              <p:cNvSpPr/>
              <p:nvPr/>
            </p:nvSpPr>
            <p:spPr>
              <a:xfrm>
                <a:off x="3429000" y="3000375"/>
                <a:ext cx="1000200" cy="400200"/>
              </a:xfrm>
              <a:prstGeom prst="roundRect">
                <a:avLst>
                  <a:gd fmla="val 9523"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21"/>
              <p:cNvSpPr txBox="1"/>
              <p:nvPr/>
            </p:nvSpPr>
            <p:spPr>
              <a:xfrm>
                <a:off x="3448050" y="3000375"/>
                <a:ext cx="9621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50">
                    <a:solidFill>
                      <a:srgbClr val="5F6368"/>
                    </a:solidFill>
                    <a:latin typeface="Inter"/>
                    <a:ea typeface="Inter"/>
                    <a:cs typeface="Inter"/>
                    <a:sym typeface="Inter"/>
                  </a:rPr>
                  <a:t>RTOS Scheduler</a:t>
                </a:r>
                <a:endParaRPr b="1" sz="750">
                  <a:solidFill>
                    <a:srgbClr val="5F6368"/>
                  </a:solidFill>
                  <a:latin typeface="Inter"/>
                  <a:ea typeface="Inter"/>
                  <a:cs typeface="Inter"/>
                  <a:sym typeface="Inter"/>
                </a:endParaRPr>
              </a:p>
              <a:p>
                <a:pPr indent="0" lvl="0" marL="0" rtl="0" algn="ctr">
                  <a:spcBef>
                    <a:spcPts val="0"/>
                  </a:spcBef>
                  <a:spcAft>
                    <a:spcPts val="0"/>
                  </a:spcAft>
                  <a:buNone/>
                </a:pPr>
                <a:r>
                  <a:rPr lang="en" sz="700">
                    <a:solidFill>
                      <a:srgbClr val="5F6368"/>
                    </a:solidFill>
                    <a:latin typeface="Inter"/>
                    <a:ea typeface="Inter"/>
                    <a:cs typeface="Inter"/>
                    <a:sym typeface="Inter"/>
                  </a:rPr>
                  <a:t>(FreeRTOS/Zephyr)</a:t>
                </a:r>
                <a:endParaRPr sz="700">
                  <a:solidFill>
                    <a:srgbClr val="5F6368"/>
                  </a:solidFill>
                  <a:latin typeface="Inter"/>
                  <a:ea typeface="Inter"/>
                  <a:cs typeface="Inter"/>
                  <a:sym typeface="Inter"/>
                </a:endParaRPr>
              </a:p>
            </p:txBody>
          </p:sp>
          <p:sp>
            <p:nvSpPr>
              <p:cNvPr id="262" name="Google Shape;262;p21"/>
              <p:cNvSpPr/>
              <p:nvPr/>
            </p:nvSpPr>
            <p:spPr>
              <a:xfrm>
                <a:off x="4714875" y="3000375"/>
                <a:ext cx="1000200" cy="400200"/>
              </a:xfrm>
              <a:prstGeom prst="roundRect">
                <a:avLst>
                  <a:gd fmla="val 9523" name="adj"/>
                </a:avLst>
              </a:prstGeom>
              <a:solidFill>
                <a:srgbClr val="FFFFFF"/>
              </a:solidFill>
              <a:ln cap="flat" cmpd="sng" w="14300">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1"/>
              <p:cNvSpPr txBox="1"/>
              <p:nvPr/>
            </p:nvSpPr>
            <p:spPr>
              <a:xfrm>
                <a:off x="4733925" y="3000375"/>
                <a:ext cx="9621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0D9488"/>
                    </a:solidFill>
                    <a:latin typeface="Inter"/>
                    <a:ea typeface="Inter"/>
                    <a:cs typeface="Inter"/>
                    <a:sym typeface="Inter"/>
                  </a:rPr>
                  <a:t>Rust Fibers</a:t>
                </a:r>
                <a:endParaRPr b="1" sz="850">
                  <a:solidFill>
                    <a:srgbClr val="0D9488"/>
                  </a:solidFill>
                  <a:latin typeface="Inter"/>
                  <a:ea typeface="Inter"/>
                  <a:cs typeface="Inter"/>
                  <a:sym typeface="Inter"/>
                </a:endParaRPr>
              </a:p>
              <a:p>
                <a:pPr indent="0" lvl="0" marL="0" rtl="0" algn="ctr">
                  <a:spcBef>
                    <a:spcPts val="0"/>
                  </a:spcBef>
                  <a:spcAft>
                    <a:spcPts val="0"/>
                  </a:spcAft>
                  <a:buNone/>
                </a:pPr>
                <a:r>
                  <a:rPr lang="en" sz="700">
                    <a:solidFill>
                      <a:srgbClr val="5F6368"/>
                    </a:solidFill>
                    <a:latin typeface="Inter"/>
                    <a:ea typeface="Inter"/>
                    <a:cs typeface="Inter"/>
                    <a:sym typeface="Inter"/>
                  </a:rPr>
                  <a:t>(Stackful Tasks)</a:t>
                </a:r>
                <a:endParaRPr sz="700">
                  <a:solidFill>
                    <a:srgbClr val="5F6368"/>
                  </a:solidFill>
                  <a:latin typeface="Inter"/>
                  <a:ea typeface="Inter"/>
                  <a:cs typeface="Inter"/>
                  <a:sym typeface="Inter"/>
                </a:endParaRPr>
              </a:p>
            </p:txBody>
          </p:sp>
          <p:pic>
            <p:nvPicPr>
              <p:cNvPr id="264" name="Google Shape;264;p21"/>
              <p:cNvPicPr preferRelativeResize="0"/>
              <p:nvPr/>
            </p:nvPicPr>
            <p:blipFill rotWithShape="1">
              <a:blip r:embed="rId7">
                <a:alphaModFix/>
              </a:blip>
              <a:srcRect b="0" l="0" r="0" t="0"/>
              <a:stretch/>
            </p:blipFill>
            <p:spPr>
              <a:xfrm>
                <a:off x="4429125" y="3190875"/>
                <a:ext cx="285900" cy="19200"/>
              </a:xfrm>
              <a:prstGeom prst="rect">
                <a:avLst/>
              </a:prstGeom>
              <a:noFill/>
              <a:ln>
                <a:noFill/>
              </a:ln>
            </p:spPr>
          </p:pic>
          <p:sp>
            <p:nvSpPr>
              <p:cNvPr id="265" name="Google Shape;265;p21"/>
              <p:cNvSpPr/>
              <p:nvPr/>
            </p:nvSpPr>
            <p:spPr>
              <a:xfrm>
                <a:off x="4467225" y="3124200"/>
                <a:ext cx="171600" cy="142800"/>
              </a:xfrm>
              <a:prstGeom prst="roundRect">
                <a:avLst>
                  <a:gd fmla="val 2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1"/>
              <p:cNvSpPr txBox="1"/>
              <p:nvPr/>
            </p:nvSpPr>
            <p:spPr>
              <a:xfrm>
                <a:off x="4467225" y="3124200"/>
                <a:ext cx="1716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FFFFFF"/>
                    </a:solidFill>
                    <a:latin typeface="Inter"/>
                    <a:ea typeface="Inter"/>
                    <a:cs typeface="Inter"/>
                    <a:sym typeface="Inter"/>
                  </a:rPr>
                  <a:t>ABI</a:t>
                </a:r>
                <a:endParaRPr/>
              </a:p>
            </p:txBody>
          </p:sp>
          <p:sp>
            <p:nvSpPr>
              <p:cNvPr id="267" name="Google Shape;267;p21"/>
              <p:cNvSpPr/>
              <p:nvPr/>
            </p:nvSpPr>
            <p:spPr>
              <a:xfrm>
                <a:off x="3429000" y="3571875"/>
                <a:ext cx="2286000" cy="400200"/>
              </a:xfrm>
              <a:prstGeom prst="roundRect">
                <a:avLst>
                  <a:gd fmla="val 9523" name="adj"/>
                </a:avLst>
              </a:prstGeom>
              <a:solidFill>
                <a:srgbClr val="F0FDFA"/>
              </a:solidFill>
              <a:ln cap="flat" cmpd="sng" w="9525">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21"/>
              <p:cNvSpPr txBox="1"/>
              <p:nvPr/>
            </p:nvSpPr>
            <p:spPr>
              <a:xfrm>
                <a:off x="3476625" y="3571875"/>
                <a:ext cx="21909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0F172A"/>
                    </a:solidFill>
                    <a:latin typeface="Inter"/>
                    <a:ea typeface="Inter"/>
                    <a:cs typeface="Inter"/>
                    <a:sym typeface="Inter"/>
                  </a:rPr>
                  <a:t>sim-core Virtual Clock</a:t>
                </a:r>
                <a:endParaRPr b="1" sz="850">
                  <a:solidFill>
                    <a:srgbClr val="0F172A"/>
                  </a:solidFill>
                  <a:latin typeface="Inter"/>
                  <a:ea typeface="Inter"/>
                  <a:cs typeface="Inter"/>
                  <a:sym typeface="Inter"/>
                </a:endParaRPr>
              </a:p>
              <a:p>
                <a:pPr indent="0" lvl="0" marL="0" rtl="0" algn="ctr">
                  <a:spcBef>
                    <a:spcPts val="75"/>
                  </a:spcBef>
                  <a:spcAft>
                    <a:spcPts val="0"/>
                  </a:spcAft>
                  <a:buNone/>
                </a:pPr>
                <a:r>
                  <a:rPr lang="en" sz="750">
                    <a:solidFill>
                      <a:srgbClr val="0D9488"/>
                    </a:solidFill>
                    <a:latin typeface="JetBrains Mono"/>
                    <a:ea typeface="JetBrains Mono"/>
                    <a:cs typeface="JetBrains Mono"/>
                    <a:sym typeface="JetBrains Mono"/>
                  </a:rPr>
                  <a:t>u64 Ticks (Temporal Determinism)</a:t>
                </a:r>
                <a:endParaRPr sz="750">
                  <a:solidFill>
                    <a:srgbClr val="0D9488"/>
                  </a:solidFill>
                  <a:latin typeface="JetBrains Mono"/>
                  <a:ea typeface="JetBrains Mono"/>
                  <a:cs typeface="JetBrains Mono"/>
                  <a:sym typeface="JetBrains Mono"/>
                </a:endParaRPr>
              </a:p>
            </p:txBody>
          </p:sp>
          <p:pic>
            <p:nvPicPr>
              <p:cNvPr id="269" name="Google Shape;269;p21"/>
              <p:cNvPicPr preferRelativeResize="0"/>
              <p:nvPr/>
            </p:nvPicPr>
            <p:blipFill rotWithShape="1">
              <a:blip r:embed="rId8">
                <a:alphaModFix/>
              </a:blip>
              <a:srcRect b="0" l="0" r="0" t="0"/>
              <a:stretch/>
            </p:blipFill>
            <p:spPr>
              <a:xfrm>
                <a:off x="4567238" y="3314700"/>
                <a:ext cx="9600" cy="247800"/>
              </a:xfrm>
              <a:prstGeom prst="rect">
                <a:avLst/>
              </a:prstGeom>
              <a:noFill/>
              <a:ln>
                <a:noFill/>
              </a:ln>
            </p:spPr>
          </p:pic>
        </p:grpSp>
      </p:grpSp>
      <p:grpSp>
        <p:nvGrpSpPr>
          <p:cNvPr id="270" name="Google Shape;270;p21"/>
          <p:cNvGrpSpPr/>
          <p:nvPr/>
        </p:nvGrpSpPr>
        <p:grpSpPr>
          <a:xfrm>
            <a:off x="6238875" y="1095375"/>
            <a:ext cx="2524200" cy="3286200"/>
            <a:chOff x="6238875" y="1095375"/>
            <a:chExt cx="2524200" cy="3286200"/>
          </a:xfrm>
        </p:grpSpPr>
        <p:sp>
          <p:nvSpPr>
            <p:cNvPr id="271" name="Google Shape;271;p21"/>
            <p:cNvSpPr/>
            <p:nvPr/>
          </p:nvSpPr>
          <p:spPr>
            <a:xfrm>
              <a:off x="6238875" y="1095375"/>
              <a:ext cx="2524200" cy="3286200"/>
            </a:xfrm>
            <a:prstGeom prst="roundRect">
              <a:avLst>
                <a:gd fmla="val 22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72" name="Google Shape;272;p21"/>
            <p:cNvCxnSpPr/>
            <p:nvPr/>
          </p:nvCxnSpPr>
          <p:spPr>
            <a:xfrm>
              <a:off x="6248400" y="1114425"/>
              <a:ext cx="2505000" cy="0"/>
            </a:xfrm>
            <a:prstGeom prst="straightConnector1">
              <a:avLst/>
            </a:prstGeom>
            <a:solidFill>
              <a:srgbClr val="FFFFFF"/>
            </a:solidFill>
            <a:ln cap="flat" cmpd="sng" w="38100">
              <a:solidFill>
                <a:srgbClr val="5F6368"/>
              </a:solidFill>
              <a:prstDash val="solid"/>
              <a:round/>
              <a:headEnd len="sm" w="sm" type="none"/>
              <a:tailEnd len="sm" w="sm" type="none"/>
            </a:ln>
          </p:spPr>
        </p:cxnSp>
        <p:sp>
          <p:nvSpPr>
            <p:cNvPr id="273" name="Google Shape;273;p21"/>
            <p:cNvSpPr txBox="1"/>
            <p:nvPr/>
          </p:nvSpPr>
          <p:spPr>
            <a:xfrm>
              <a:off x="6381750" y="1238250"/>
              <a:ext cx="22383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100">
                  <a:solidFill>
                    <a:srgbClr val="1A1A1A"/>
                  </a:solidFill>
                  <a:latin typeface="Inter SemiBold"/>
                  <a:ea typeface="Inter SemiBold"/>
                  <a:cs typeface="Inter SemiBold"/>
                  <a:sym typeface="Inter SemiBold"/>
                </a:rPr>
                <a:t>3. VIRTUAL SYSTEM BUS</a:t>
              </a:r>
              <a:endParaRPr/>
            </a:p>
          </p:txBody>
        </p:sp>
        <p:sp>
          <p:nvSpPr>
            <p:cNvPr id="274" name="Google Shape;274;p21"/>
            <p:cNvSpPr txBox="1"/>
            <p:nvPr/>
          </p:nvSpPr>
          <p:spPr>
            <a:xfrm>
              <a:off x="6381750" y="1524000"/>
              <a:ext cx="22383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1A1A1A"/>
                  </a:solidFill>
                  <a:latin typeface="Inter"/>
                  <a:ea typeface="Inter"/>
                  <a:cs typeface="Inter"/>
                  <a:sym typeface="Inter"/>
                </a:rPr>
                <a:t>Virtual Devices &amp; Orchestration:</a:t>
              </a:r>
              <a:r>
                <a:rPr b="0" lang="en" sz="950">
                  <a:solidFill>
                    <a:srgbClr val="1A1A1A"/>
                  </a:solidFill>
                  <a:latin typeface="Inter"/>
                  <a:ea typeface="Inter"/>
                  <a:cs typeface="Inter"/>
                  <a:sym typeface="Inter"/>
                </a:rPr>
                <a:t> A bus routes messages instantly between virtual machines (UART, GPIO, I2C, SPI, CAN, IRQ) within a defined </a:t>
              </a:r>
              <a:r>
                <a:rPr b="1" lang="en" sz="950">
                  <a:solidFill>
                    <a:srgbClr val="4338CA"/>
                  </a:solidFill>
                  <a:latin typeface="Inter"/>
                  <a:ea typeface="Inter"/>
                  <a:cs typeface="Inter"/>
                  <a:sym typeface="Inter"/>
                </a:rPr>
                <a:t>'World'</a:t>
              </a:r>
              <a:r>
                <a:rPr b="0" lang="en" sz="950">
                  <a:solidFill>
                    <a:srgbClr val="1A1A1A"/>
                  </a:solidFill>
                  <a:latin typeface="Inter"/>
                  <a:ea typeface="Inter"/>
                  <a:cs typeface="Inter"/>
                  <a:sym typeface="Inter"/>
                </a:rPr>
                <a:t> of machines, links, and plants.</a:t>
              </a:r>
              <a:endParaRPr b="0" sz="950">
                <a:solidFill>
                  <a:srgbClr val="1A1A1A"/>
                </a:solidFill>
                <a:latin typeface="Inter"/>
                <a:ea typeface="Inter"/>
                <a:cs typeface="Inter"/>
                <a:sym typeface="Inter"/>
              </a:endParaRPr>
            </a:p>
          </p:txBody>
        </p:sp>
        <p:grpSp>
          <p:nvGrpSpPr>
            <p:cNvPr id="275" name="Google Shape;275;p21"/>
            <p:cNvGrpSpPr/>
            <p:nvPr/>
          </p:nvGrpSpPr>
          <p:grpSpPr>
            <a:xfrm>
              <a:off x="6524625" y="2667000"/>
              <a:ext cx="1952700" cy="1124100"/>
              <a:chOff x="6524625" y="2667000"/>
              <a:chExt cx="1952700" cy="1124100"/>
            </a:xfrm>
          </p:grpSpPr>
          <p:sp>
            <p:nvSpPr>
              <p:cNvPr id="276" name="Google Shape;276;p21"/>
              <p:cNvSpPr/>
              <p:nvPr/>
            </p:nvSpPr>
            <p:spPr>
              <a:xfrm>
                <a:off x="6524625" y="3095625"/>
                <a:ext cx="1952700" cy="285900"/>
              </a:xfrm>
              <a:prstGeom prst="roundRect">
                <a:avLst>
                  <a:gd fmla="val 13333"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21"/>
              <p:cNvSpPr txBox="1"/>
              <p:nvPr/>
            </p:nvSpPr>
            <p:spPr>
              <a:xfrm>
                <a:off x="6524625" y="3095625"/>
                <a:ext cx="19527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FFFFF"/>
                    </a:solidFill>
                    <a:latin typeface="Inter"/>
                    <a:ea typeface="Inter"/>
                    <a:cs typeface="Inter"/>
                    <a:sym typeface="Inter"/>
                  </a:rPr>
                  <a:t>VIRTUAL MESSAGE BUS</a:t>
                </a:r>
                <a:endParaRPr/>
              </a:p>
            </p:txBody>
          </p:sp>
          <p:sp>
            <p:nvSpPr>
              <p:cNvPr id="278" name="Google Shape;278;p21"/>
              <p:cNvSpPr/>
              <p:nvPr/>
            </p:nvSpPr>
            <p:spPr>
              <a:xfrm>
                <a:off x="6524625" y="2667000"/>
                <a:ext cx="904800" cy="247800"/>
              </a:xfrm>
              <a:prstGeom prst="roundRect">
                <a:avLst>
                  <a:gd fmla="val 1153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21"/>
              <p:cNvSpPr txBox="1"/>
              <p:nvPr/>
            </p:nvSpPr>
            <p:spPr>
              <a:xfrm>
                <a:off x="6524625" y="2667000"/>
                <a:ext cx="9048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5F6368"/>
                    </a:solidFill>
                    <a:latin typeface="JetBrains Mono SemiBold"/>
                    <a:ea typeface="JetBrains Mono SemiBold"/>
                    <a:cs typeface="JetBrains Mono SemiBold"/>
                    <a:sym typeface="JetBrains Mono SemiBold"/>
                  </a:rPr>
                  <a:t>UART / GPIO</a:t>
                </a:r>
                <a:endParaRPr/>
              </a:p>
            </p:txBody>
          </p:sp>
          <p:sp>
            <p:nvSpPr>
              <p:cNvPr id="280" name="Google Shape;280;p21"/>
              <p:cNvSpPr/>
              <p:nvPr/>
            </p:nvSpPr>
            <p:spPr>
              <a:xfrm>
                <a:off x="7572375" y="2667000"/>
                <a:ext cx="904800" cy="247800"/>
              </a:xfrm>
              <a:prstGeom prst="roundRect">
                <a:avLst>
                  <a:gd fmla="val 1153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21"/>
              <p:cNvSpPr txBox="1"/>
              <p:nvPr/>
            </p:nvSpPr>
            <p:spPr>
              <a:xfrm>
                <a:off x="7572375" y="2667000"/>
                <a:ext cx="9048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5F6368"/>
                    </a:solidFill>
                    <a:latin typeface="JetBrains Mono SemiBold"/>
                    <a:ea typeface="JetBrains Mono SemiBold"/>
                    <a:cs typeface="JetBrains Mono SemiBold"/>
                    <a:sym typeface="JetBrains Mono SemiBold"/>
                  </a:rPr>
                  <a:t>I2C / SPI</a:t>
                </a:r>
                <a:endParaRPr/>
              </a:p>
            </p:txBody>
          </p:sp>
          <p:sp>
            <p:nvSpPr>
              <p:cNvPr id="282" name="Google Shape;282;p21"/>
              <p:cNvSpPr/>
              <p:nvPr/>
            </p:nvSpPr>
            <p:spPr>
              <a:xfrm>
                <a:off x="6524625" y="3543300"/>
                <a:ext cx="904800" cy="247800"/>
              </a:xfrm>
              <a:prstGeom prst="roundRect">
                <a:avLst>
                  <a:gd fmla="val 1153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1"/>
              <p:cNvSpPr txBox="1"/>
              <p:nvPr/>
            </p:nvSpPr>
            <p:spPr>
              <a:xfrm>
                <a:off x="6524625" y="3543300"/>
                <a:ext cx="9048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5F6368"/>
                    </a:solidFill>
                    <a:latin typeface="JetBrains Mono SemiBold"/>
                    <a:ea typeface="JetBrains Mono SemiBold"/>
                    <a:cs typeface="JetBrains Mono SemiBold"/>
                    <a:sym typeface="JetBrains Mono SemiBold"/>
                  </a:rPr>
                  <a:t>CAN / IRQ</a:t>
                </a:r>
                <a:endParaRPr/>
              </a:p>
            </p:txBody>
          </p:sp>
          <p:sp>
            <p:nvSpPr>
              <p:cNvPr id="284" name="Google Shape;284;p21"/>
              <p:cNvSpPr/>
              <p:nvPr/>
            </p:nvSpPr>
            <p:spPr>
              <a:xfrm>
                <a:off x="7572375" y="3543300"/>
                <a:ext cx="904800" cy="247800"/>
              </a:xfrm>
              <a:prstGeom prst="roundRect">
                <a:avLst>
                  <a:gd fmla="val 11538" name="adj"/>
                </a:avLst>
              </a:prstGeom>
              <a:solidFill>
                <a:srgbClr val="E0F2FE"/>
              </a:solidFill>
              <a:ln cap="flat" cmpd="sng" w="9525">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21"/>
              <p:cNvSpPr txBox="1"/>
              <p:nvPr/>
            </p:nvSpPr>
            <p:spPr>
              <a:xfrm>
                <a:off x="7572375" y="3543300"/>
                <a:ext cx="9048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50">
                    <a:solidFill>
                      <a:srgbClr val="0D9488"/>
                    </a:solidFill>
                    <a:latin typeface="Inter"/>
                    <a:ea typeface="Inter"/>
                    <a:cs typeface="Inter"/>
                    <a:sym typeface="Inter"/>
                  </a:rPr>
                  <a:t>'World' Model</a:t>
                </a:r>
                <a:endParaRPr/>
              </a:p>
            </p:txBody>
          </p:sp>
          <p:cxnSp>
            <p:nvCxnSpPr>
              <p:cNvPr id="286" name="Google Shape;286;p21"/>
              <p:cNvCxnSpPr/>
              <p:nvPr/>
            </p:nvCxnSpPr>
            <p:spPr>
              <a:xfrm>
                <a:off x="6977063" y="2914650"/>
                <a:ext cx="0" cy="180900"/>
              </a:xfrm>
              <a:prstGeom prst="straightConnector1">
                <a:avLst/>
              </a:prstGeom>
              <a:solidFill>
                <a:srgbClr val="FFFFFF"/>
              </a:solidFill>
              <a:ln cap="flat" cmpd="sng" w="14300">
                <a:solidFill>
                  <a:srgbClr val="CBD5E1"/>
                </a:solidFill>
                <a:prstDash val="solid"/>
                <a:round/>
                <a:headEnd len="sm" w="sm" type="none"/>
                <a:tailEnd len="sm" w="sm" type="none"/>
              </a:ln>
            </p:spPr>
          </p:cxnSp>
          <p:cxnSp>
            <p:nvCxnSpPr>
              <p:cNvPr id="287" name="Google Shape;287;p21"/>
              <p:cNvCxnSpPr/>
              <p:nvPr/>
            </p:nvCxnSpPr>
            <p:spPr>
              <a:xfrm>
                <a:off x="8024813" y="2914650"/>
                <a:ext cx="0" cy="180900"/>
              </a:xfrm>
              <a:prstGeom prst="straightConnector1">
                <a:avLst/>
              </a:prstGeom>
              <a:solidFill>
                <a:srgbClr val="FFFFFF"/>
              </a:solidFill>
              <a:ln cap="flat" cmpd="sng" w="14300">
                <a:solidFill>
                  <a:srgbClr val="CBD5E1"/>
                </a:solidFill>
                <a:prstDash val="solid"/>
                <a:round/>
                <a:headEnd len="sm" w="sm" type="none"/>
                <a:tailEnd len="sm" w="sm" type="none"/>
              </a:ln>
            </p:spPr>
          </p:cxnSp>
          <p:cxnSp>
            <p:nvCxnSpPr>
              <p:cNvPr id="288" name="Google Shape;288;p21"/>
              <p:cNvCxnSpPr/>
              <p:nvPr/>
            </p:nvCxnSpPr>
            <p:spPr>
              <a:xfrm>
                <a:off x="6977063" y="3381375"/>
                <a:ext cx="0" cy="162000"/>
              </a:xfrm>
              <a:prstGeom prst="straightConnector1">
                <a:avLst/>
              </a:prstGeom>
              <a:solidFill>
                <a:srgbClr val="FFFFFF"/>
              </a:solidFill>
              <a:ln cap="flat" cmpd="sng" w="14300">
                <a:solidFill>
                  <a:srgbClr val="CBD5E1"/>
                </a:solidFill>
                <a:prstDash val="solid"/>
                <a:round/>
                <a:headEnd len="sm" w="sm" type="none"/>
                <a:tailEnd len="sm" w="sm" type="none"/>
              </a:ln>
            </p:spPr>
          </p:cxnSp>
          <p:cxnSp>
            <p:nvCxnSpPr>
              <p:cNvPr id="289" name="Google Shape;289;p21"/>
              <p:cNvCxnSpPr/>
              <p:nvPr/>
            </p:nvCxnSpPr>
            <p:spPr>
              <a:xfrm>
                <a:off x="8024813" y="3381375"/>
                <a:ext cx="0" cy="162000"/>
              </a:xfrm>
              <a:prstGeom prst="straightConnector1">
                <a:avLst/>
              </a:prstGeom>
              <a:solidFill>
                <a:srgbClr val="FFFFFF"/>
              </a:solidFill>
              <a:ln cap="flat" cmpd="sng" w="14300">
                <a:solidFill>
                  <a:srgbClr val="0D9488"/>
                </a:solidFill>
                <a:prstDash val="solid"/>
                <a:round/>
                <a:headEnd len="sm" w="sm" type="none"/>
                <a:tailEnd len="sm" w="sm" type="none"/>
              </a:ln>
            </p:spPr>
          </p:cxnSp>
        </p:grpSp>
      </p:grpSp>
      <p:grpSp>
        <p:nvGrpSpPr>
          <p:cNvPr id="290" name="Google Shape;290;p21"/>
          <p:cNvGrpSpPr/>
          <p:nvPr/>
        </p:nvGrpSpPr>
        <p:grpSpPr>
          <a:xfrm>
            <a:off x="381000" y="4524375"/>
            <a:ext cx="8382000" cy="381000"/>
            <a:chOff x="381000" y="4524375"/>
            <a:chExt cx="8382000" cy="381000"/>
          </a:xfrm>
        </p:grpSpPr>
        <p:sp>
          <p:nvSpPr>
            <p:cNvPr id="291" name="Google Shape;291;p21"/>
            <p:cNvSpPr/>
            <p:nvPr/>
          </p:nvSpPr>
          <p:spPr>
            <a:xfrm>
              <a:off x="381000" y="4524375"/>
              <a:ext cx="8382000" cy="381000"/>
            </a:xfrm>
            <a:prstGeom prst="roundRect">
              <a:avLst>
                <a:gd fmla="val 10000"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21"/>
            <p:cNvSpPr/>
            <p:nvPr/>
          </p:nvSpPr>
          <p:spPr>
            <a:xfrm>
              <a:off x="381000" y="4524375"/>
              <a:ext cx="38100" cy="381000"/>
            </a:xfrm>
            <a:prstGeom prst="roundRect">
              <a:avLst>
                <a:gd fmla="val 50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21"/>
            <p:cNvSpPr txBox="1"/>
            <p:nvPr/>
          </p:nvSpPr>
          <p:spPr>
            <a:xfrm>
              <a:off x="523875" y="4524375"/>
              <a:ext cx="80964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00">
                  <a:solidFill>
                    <a:srgbClr val="4338CA"/>
                  </a:solidFill>
                  <a:latin typeface="Inter"/>
                  <a:ea typeface="Inter"/>
                  <a:cs typeface="Inter"/>
                  <a:sym typeface="Inter"/>
                </a:rPr>
                <a:t>Important Boundary:</a:t>
              </a:r>
              <a:r>
                <a:rPr lang="en" sz="850">
                  <a:solidFill>
                    <a:srgbClr val="5F6368"/>
                  </a:solidFill>
                  <a:latin typeface="Inter"/>
                  <a:ea typeface="Inter"/>
                  <a:cs typeface="Inter"/>
                  <a:sym typeface="Inter"/>
                </a:rPr>
                <a:t> costar is not a Renode-compatible instruction emulator. It compiles firmware for the host and relies on virtual devices and shared virtual time to orchestrate the simulation.</a:t>
              </a:r>
              <a:endParaRPr sz="850">
                <a:solidFill>
                  <a:srgbClr val="5F6368"/>
                </a:solidFill>
                <a:latin typeface="Inter"/>
                <a:ea typeface="Inter"/>
                <a:cs typeface="Inter"/>
                <a:sym typeface="Inte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2"/>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9" name="Google Shape;299;p22"/>
          <p:cNvPicPr preferRelativeResize="0"/>
          <p:nvPr/>
        </p:nvPicPr>
        <p:blipFill rotWithShape="1">
          <a:blip r:embed="rId3">
            <a:alphaModFix/>
          </a:blip>
          <a:srcRect b="0" l="0" r="0" t="0"/>
          <a:stretch/>
        </p:blipFill>
        <p:spPr>
          <a:xfrm>
            <a:off x="4763" y="4763"/>
            <a:ext cx="8791500" cy="4981500"/>
          </a:xfrm>
          <a:prstGeom prst="rect">
            <a:avLst/>
          </a:prstGeom>
          <a:noFill/>
          <a:ln>
            <a:noFill/>
          </a:ln>
        </p:spPr>
      </p:pic>
      <p:sp>
        <p:nvSpPr>
          <p:cNvPr id="300" name="Google Shape;300;p22"/>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22"/>
          <p:cNvSpPr txBox="1"/>
          <p:nvPr/>
        </p:nvSpPr>
        <p:spPr>
          <a:xfrm>
            <a:off x="381000" y="285750"/>
            <a:ext cx="6286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00">
                <a:solidFill>
                  <a:srgbClr val="1A1A1A"/>
                </a:solidFill>
                <a:latin typeface="Inter"/>
                <a:ea typeface="Inter"/>
                <a:cs typeface="Inter"/>
                <a:sym typeface="Inter"/>
              </a:rPr>
              <a:t>Implication 1: Faster CI as a Systems Test Bench</a:t>
            </a:r>
            <a:endParaRPr b="1" sz="2000">
              <a:solidFill>
                <a:srgbClr val="1A1A1A"/>
              </a:solidFill>
              <a:latin typeface="Inter"/>
              <a:ea typeface="Inter"/>
              <a:cs typeface="Inter"/>
              <a:sym typeface="Inter"/>
            </a:endParaRPr>
          </a:p>
          <a:p>
            <a:pPr indent="0" lvl="0" marL="0" rtl="0" algn="l">
              <a:spcBef>
                <a:spcPts val="300"/>
              </a:spcBef>
              <a:spcAft>
                <a:spcPts val="0"/>
              </a:spcAft>
              <a:buNone/>
            </a:pPr>
            <a:r>
              <a:rPr b="0" lang="en" sz="1200">
                <a:solidFill>
                  <a:srgbClr val="4338CA"/>
                </a:solidFill>
                <a:latin typeface="Inter Medium"/>
                <a:ea typeface="Inter Medium"/>
                <a:cs typeface="Inter Medium"/>
                <a:sym typeface="Inter Medium"/>
              </a:rPr>
              <a:t>What does native execution speed buy us?</a:t>
            </a:r>
            <a:endParaRPr b="0" sz="1200">
              <a:solidFill>
                <a:srgbClr val="4338CA"/>
              </a:solidFill>
              <a:latin typeface="Inter Medium"/>
              <a:ea typeface="Inter Medium"/>
              <a:cs typeface="Inter Medium"/>
              <a:sym typeface="Inter Medium"/>
            </a:endParaRPr>
          </a:p>
        </p:txBody>
      </p:sp>
      <p:grpSp>
        <p:nvGrpSpPr>
          <p:cNvPr id="302" name="Google Shape;302;p22"/>
          <p:cNvGrpSpPr/>
          <p:nvPr/>
        </p:nvGrpSpPr>
        <p:grpSpPr>
          <a:xfrm>
            <a:off x="381000" y="1238250"/>
            <a:ext cx="3810000" cy="3429000"/>
            <a:chOff x="0" y="0"/>
            <a:chExt cx="3810000" cy="3429000"/>
          </a:xfrm>
        </p:grpSpPr>
        <p:sp>
          <p:nvSpPr>
            <p:cNvPr id="303" name="Google Shape;303;p22"/>
            <p:cNvSpPr/>
            <p:nvPr/>
          </p:nvSpPr>
          <p:spPr>
            <a:xfrm>
              <a:off x="0" y="0"/>
              <a:ext cx="3810000" cy="3429000"/>
            </a:xfrm>
            <a:prstGeom prst="roundRect">
              <a:avLst>
                <a:gd fmla="val 2222" name="adj"/>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4" name="Google Shape;304;p22"/>
            <p:cNvSpPr/>
            <p:nvPr/>
          </p:nvSpPr>
          <p:spPr>
            <a:xfrm>
              <a:off x="0" y="0"/>
              <a:ext cx="76200" cy="3429000"/>
            </a:xfrm>
            <a:prstGeom prst="roundRect">
              <a:avLst>
                <a:gd fmla="val 50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22"/>
            <p:cNvSpPr txBox="1"/>
            <p:nvPr/>
          </p:nvSpPr>
          <p:spPr>
            <a:xfrm>
              <a:off x="304800" y="285750"/>
              <a:ext cx="3238500" cy="2857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4338CA"/>
                  </a:solidFill>
                  <a:latin typeface="Inter"/>
                  <a:ea typeface="Inter"/>
                  <a:cs typeface="Inter"/>
                  <a:sym typeface="Inter"/>
                </a:rPr>
                <a:t>Key Implication</a:t>
              </a:r>
              <a:endParaRPr b="1" sz="1100">
                <a:solidFill>
                  <a:srgbClr val="4338CA"/>
                </a:solidFill>
                <a:latin typeface="Inter"/>
                <a:ea typeface="Inter"/>
                <a:cs typeface="Inter"/>
                <a:sym typeface="Inter"/>
              </a:endParaRPr>
            </a:p>
            <a:p>
              <a:pPr indent="0" lvl="0" marL="0" rtl="0" algn="l">
                <a:spcBef>
                  <a:spcPts val="900"/>
                </a:spcBef>
                <a:spcAft>
                  <a:spcPts val="0"/>
                </a:spcAft>
                <a:buNone/>
              </a:pPr>
              <a:r>
                <a:rPr b="1" lang="en" sz="2400">
                  <a:solidFill>
                    <a:srgbClr val="1A1A1A"/>
                  </a:solidFill>
                  <a:latin typeface="Inter"/>
                  <a:ea typeface="Inter"/>
                  <a:cs typeface="Inter"/>
                  <a:sym typeface="Inter"/>
                </a:rPr>
                <a:t>Continuous Integration as a Systems Test Bench</a:t>
              </a:r>
              <a:endParaRPr b="1" sz="2400">
                <a:solidFill>
                  <a:srgbClr val="1A1A1A"/>
                </a:solidFill>
                <a:latin typeface="Inter"/>
                <a:ea typeface="Inter"/>
                <a:cs typeface="Inter"/>
                <a:sym typeface="Inter"/>
              </a:endParaRPr>
            </a:p>
            <a:p>
              <a:pPr indent="0" lvl="0" marL="0" rtl="0" algn="l">
                <a:spcBef>
                  <a:spcPts val="1200"/>
                </a:spcBef>
                <a:spcAft>
                  <a:spcPts val="0"/>
                </a:spcAft>
                <a:buNone/>
              </a:pPr>
              <a:r>
                <a:rPr b="0" lang="en" sz="1150">
                  <a:solidFill>
                    <a:srgbClr val="5F6368"/>
                  </a:solidFill>
                  <a:latin typeface="Inter"/>
                  <a:ea typeface="Inter"/>
                  <a:cs typeface="Inter"/>
                  <a:sym typeface="Inter"/>
                </a:rPr>
                <a:t>Native execution speed enables CI to finally function as a true validation environment, allowing comprehensive firmware testing far ahead of hardware availability.</a:t>
              </a:r>
              <a:endParaRPr b="0" sz="1150">
                <a:solidFill>
                  <a:srgbClr val="5F6368"/>
                </a:solidFill>
                <a:latin typeface="Inter"/>
                <a:ea typeface="Inter"/>
                <a:cs typeface="Inter"/>
                <a:sym typeface="Inter"/>
              </a:endParaRPr>
            </a:p>
          </p:txBody>
        </p:sp>
      </p:grpSp>
      <p:sp>
        <p:nvSpPr>
          <p:cNvPr id="306" name="Google Shape;306;p22"/>
          <p:cNvSpPr txBox="1"/>
          <p:nvPr/>
        </p:nvSpPr>
        <p:spPr>
          <a:xfrm>
            <a:off x="4572000" y="1238250"/>
            <a:ext cx="41910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1A1A1A"/>
                </a:solidFill>
                <a:latin typeface="Inter SemiBold"/>
                <a:ea typeface="Inter SemiBold"/>
                <a:cs typeface="Inter SemiBold"/>
                <a:sym typeface="Inter SemiBold"/>
              </a:rPr>
              <a:t>Shifting the Testing Paradigm</a:t>
            </a:r>
            <a:endParaRPr b="0" sz="1400">
              <a:solidFill>
                <a:srgbClr val="1A1A1A"/>
              </a:solidFill>
              <a:latin typeface="Inter SemiBold"/>
              <a:ea typeface="Inter SemiBold"/>
              <a:cs typeface="Inter SemiBold"/>
              <a:sym typeface="Inter SemiBold"/>
            </a:endParaRPr>
          </a:p>
          <a:p>
            <a:pPr indent="0" lvl="0" marL="0" rtl="0" algn="l">
              <a:spcBef>
                <a:spcPts val="600"/>
              </a:spcBef>
              <a:spcAft>
                <a:spcPts val="0"/>
              </a:spcAft>
              <a:buNone/>
            </a:pPr>
            <a:r>
              <a:rPr b="0" lang="en" sz="1150">
                <a:solidFill>
                  <a:srgbClr val="5F6368"/>
                </a:solidFill>
                <a:latin typeface="Inter"/>
                <a:ea typeface="Inter"/>
                <a:cs typeface="Inter"/>
                <a:sym typeface="Inter"/>
              </a:rPr>
              <a:t>The traditional pipeline of </a:t>
            </a:r>
            <a:r>
              <a:rPr b="0" lang="en" sz="1150">
                <a:solidFill>
                  <a:srgbClr val="4338CA"/>
                </a:solidFill>
                <a:latin typeface="Inter SemiBold"/>
                <a:ea typeface="Inter SemiBold"/>
                <a:cs typeface="Inter SemiBold"/>
                <a:sym typeface="Inter SemiBold"/>
              </a:rPr>
              <a:t>commit → build → simulate</a:t>
            </a:r>
            <a:r>
              <a:rPr b="0" lang="en" sz="1150">
                <a:solidFill>
                  <a:srgbClr val="5F6368"/>
                </a:solidFill>
                <a:latin typeface="Inter"/>
                <a:ea typeface="Inter"/>
                <a:cs typeface="Inter"/>
                <a:sym typeface="Inter"/>
              </a:rPr>
              <a:t> can now execute complex multi-MCU scenarios at speeds far exceeding realtime. Because simulation is cheap and fast, test design fundamentally changes. Teams can run weird race conditions, reboot storms, packet loss scenarios, and simulated plant faults before physical hardware exists.</a:t>
            </a:r>
            <a:endParaRPr b="0" sz="1150">
              <a:solidFill>
                <a:srgbClr val="5F6368"/>
              </a:solidFill>
              <a:latin typeface="Inter"/>
              <a:ea typeface="Inter"/>
              <a:cs typeface="Inter"/>
              <a:sym typeface="Inter"/>
            </a:endParaRPr>
          </a:p>
          <a:p>
            <a:pPr indent="0" lvl="0" marL="0" rtl="0" algn="l">
              <a:spcBef>
                <a:spcPts val="1200"/>
              </a:spcBef>
              <a:spcAft>
                <a:spcPts val="0"/>
              </a:spcAft>
              <a:buNone/>
            </a:pPr>
            <a:r>
              <a:rPr b="0" lang="en" sz="1400">
                <a:solidFill>
                  <a:srgbClr val="1A1A1A"/>
                </a:solidFill>
                <a:latin typeface="Inter SemiBold"/>
                <a:ea typeface="Inter SemiBold"/>
                <a:cs typeface="Inter SemiBold"/>
                <a:sym typeface="Inter SemiBold"/>
              </a:rPr>
              <a:t>Automated Strict Merge Gates</a:t>
            </a:r>
            <a:endParaRPr b="0" sz="1400">
              <a:solidFill>
                <a:srgbClr val="1A1A1A"/>
              </a:solidFill>
              <a:latin typeface="Inter SemiBold"/>
              <a:ea typeface="Inter SemiBold"/>
              <a:cs typeface="Inter SemiBold"/>
              <a:sym typeface="Inter SemiBold"/>
            </a:endParaRPr>
          </a:p>
          <a:p>
            <a:pPr indent="0" lvl="0" marL="0" rtl="0" algn="l">
              <a:spcBef>
                <a:spcPts val="600"/>
              </a:spcBef>
              <a:spcAft>
                <a:spcPts val="0"/>
              </a:spcAft>
              <a:buNone/>
            </a:pPr>
            <a:r>
              <a:rPr b="0" lang="en" sz="1150">
                <a:solidFill>
                  <a:srgbClr val="5F6368"/>
                </a:solidFill>
                <a:latin typeface="Inter"/>
                <a:ea typeface="Inter"/>
                <a:cs typeface="Inter"/>
                <a:sym typeface="Inter"/>
              </a:rPr>
              <a:t>Every GitHub Pull Request can generate a machine-readable golden trace. This trace is diffed against expected outcomes to serve as a strict merge gate.</a:t>
            </a:r>
            <a:endParaRPr b="0" sz="1150">
              <a:solidFill>
                <a:srgbClr val="5F6368"/>
              </a:solidFill>
              <a:latin typeface="Inter"/>
              <a:ea typeface="Inter"/>
              <a:cs typeface="Inter"/>
              <a:sym typeface="Inter"/>
            </a:endParaRPr>
          </a:p>
          <a:p>
            <a:pPr indent="0" lvl="0" marL="0" rtl="0" algn="l">
              <a:spcBef>
                <a:spcPts val="1200"/>
              </a:spcBef>
              <a:spcAft>
                <a:spcPts val="0"/>
              </a:spcAft>
              <a:buNone/>
            </a:pPr>
            <a:r>
              <a:rPr b="0" i="1" lang="en" sz="1100">
                <a:solidFill>
                  <a:srgbClr val="1A1A1A"/>
                </a:solidFill>
                <a:highlight>
                  <a:srgbClr val="F8F9FA"/>
                </a:highlight>
                <a:latin typeface="Inter"/>
                <a:ea typeface="Inter"/>
                <a:cs typeface="Inter"/>
                <a:sym typeface="Inter"/>
              </a:rPr>
              <a:t>The resulting artifact is not a fragile screenshot or a manual log—it is a fully replayable trace that automatically fails a pull request if system behavior regressions are detected.</a:t>
            </a:r>
            <a:endParaRPr b="0" i="1" sz="1100">
              <a:solidFill>
                <a:srgbClr val="1A1A1A"/>
              </a:solidFill>
              <a:highlight>
                <a:srgbClr val="F8F9FA"/>
              </a:highlight>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3"/>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12" name="Google Shape;312;p23"/>
          <p:cNvPicPr preferRelativeResize="0"/>
          <p:nvPr/>
        </p:nvPicPr>
        <p:blipFill rotWithShape="1">
          <a:blip r:embed="rId3">
            <a:alphaModFix/>
          </a:blip>
          <a:srcRect b="0" l="0" r="0" t="0"/>
          <a:stretch/>
        </p:blipFill>
        <p:spPr>
          <a:xfrm>
            <a:off x="9525" y="9525"/>
            <a:ext cx="8782200" cy="4972200"/>
          </a:xfrm>
          <a:prstGeom prst="rect">
            <a:avLst/>
          </a:prstGeom>
          <a:noFill/>
          <a:ln>
            <a:noFill/>
          </a:ln>
        </p:spPr>
      </p:pic>
      <p:sp>
        <p:nvSpPr>
          <p:cNvPr id="313" name="Google Shape;313;p23"/>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23"/>
          <p:cNvSpPr txBox="1"/>
          <p:nvPr/>
        </p:nvSpPr>
        <p:spPr>
          <a:xfrm>
            <a:off x="381000" y="304800"/>
            <a:ext cx="68580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860">
                <a:solidFill>
                  <a:srgbClr val="1A1A1A"/>
                </a:solidFill>
                <a:latin typeface="Inter"/>
                <a:ea typeface="Inter"/>
                <a:cs typeface="Inter"/>
                <a:sym typeface="Inter"/>
              </a:rPr>
              <a:t>Implication 2: Realtime Digital-Twin &amp; Run-Ahead Testing</a:t>
            </a:r>
            <a:endParaRPr b="1" sz="1860">
              <a:solidFill>
                <a:srgbClr val="1A1A1A"/>
              </a:solidFill>
              <a:latin typeface="Inter"/>
              <a:ea typeface="Inter"/>
              <a:cs typeface="Inter"/>
              <a:sym typeface="Inter"/>
            </a:endParaRPr>
          </a:p>
        </p:txBody>
      </p:sp>
      <p:sp>
        <p:nvSpPr>
          <p:cNvPr id="315" name="Google Shape;315;p23"/>
          <p:cNvSpPr txBox="1"/>
          <p:nvPr/>
        </p:nvSpPr>
        <p:spPr>
          <a:xfrm>
            <a:off x="381000" y="1066800"/>
            <a:ext cx="8382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63">
                <a:solidFill>
                  <a:srgbClr val="1A1A1A"/>
                </a:solidFill>
                <a:latin typeface="Inter Medium"/>
                <a:ea typeface="Inter Medium"/>
                <a:cs typeface="Inter Medium"/>
                <a:sym typeface="Inter Medium"/>
              </a:rPr>
              <a:t>The second implication of host-native execution is the capability to build highly responsive digital twins of embedded hardware fleets.</a:t>
            </a:r>
            <a:endParaRPr b="0" sz="1063">
              <a:solidFill>
                <a:srgbClr val="1A1A1A"/>
              </a:solidFill>
              <a:latin typeface="Inter Medium"/>
              <a:ea typeface="Inter Medium"/>
              <a:cs typeface="Inter Medium"/>
              <a:sym typeface="Inter Medium"/>
            </a:endParaRPr>
          </a:p>
          <a:p>
            <a:pPr indent="0" lvl="0" marL="0" rtl="0" algn="l">
              <a:spcBef>
                <a:spcPts val="300"/>
              </a:spcBef>
              <a:spcAft>
                <a:spcPts val="0"/>
              </a:spcAft>
              <a:buNone/>
            </a:pPr>
            <a:r>
              <a:rPr b="0" lang="en" sz="935">
                <a:solidFill>
                  <a:srgbClr val="5F6368"/>
                </a:solidFill>
                <a:latin typeface="Inter"/>
                <a:ea typeface="Inter"/>
                <a:cs typeface="Inter"/>
                <a:sym typeface="Inter"/>
              </a:rPr>
              <a:t>If the simulation is significantly faster than realtime, you gain the strategic choice of how to spend that computational surplus:</a:t>
            </a:r>
            <a:endParaRPr b="0" sz="935">
              <a:solidFill>
                <a:srgbClr val="5F6368"/>
              </a:solidFill>
              <a:latin typeface="Inter"/>
              <a:ea typeface="Inter"/>
              <a:cs typeface="Inter"/>
              <a:sym typeface="Inter"/>
            </a:endParaRPr>
          </a:p>
        </p:txBody>
      </p:sp>
      <p:grpSp>
        <p:nvGrpSpPr>
          <p:cNvPr id="316" name="Google Shape;316;p23"/>
          <p:cNvGrpSpPr/>
          <p:nvPr/>
        </p:nvGrpSpPr>
        <p:grpSpPr>
          <a:xfrm>
            <a:off x="381000" y="1666875"/>
            <a:ext cx="4000500" cy="2381400"/>
            <a:chOff x="381000" y="1666875"/>
            <a:chExt cx="4000500" cy="2381400"/>
          </a:xfrm>
        </p:grpSpPr>
        <p:sp>
          <p:nvSpPr>
            <p:cNvPr id="317" name="Google Shape;317;p23"/>
            <p:cNvSpPr/>
            <p:nvPr/>
          </p:nvSpPr>
          <p:spPr>
            <a:xfrm>
              <a:off x="381000" y="1666875"/>
              <a:ext cx="4000500" cy="2381400"/>
            </a:xfrm>
            <a:prstGeom prst="roundRect">
              <a:avLst>
                <a:gd fmla="val 3200"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3"/>
            <p:cNvSpPr/>
            <p:nvPr/>
          </p:nvSpPr>
          <p:spPr>
            <a:xfrm>
              <a:off x="381000" y="1666875"/>
              <a:ext cx="4000500" cy="57300"/>
            </a:xfrm>
            <a:prstGeom prst="roundRect">
              <a:avLst>
                <a:gd fmla="val 50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19" name="Google Shape;319;p23"/>
            <p:cNvGrpSpPr/>
            <p:nvPr/>
          </p:nvGrpSpPr>
          <p:grpSpPr>
            <a:xfrm>
              <a:off x="3924300" y="1847850"/>
              <a:ext cx="266700" cy="266700"/>
              <a:chOff x="19050" y="19050"/>
              <a:chExt cx="266700" cy="266700"/>
            </a:xfrm>
          </p:grpSpPr>
          <p:sp>
            <p:nvSpPr>
              <p:cNvPr id="320" name="Google Shape;320;p23"/>
              <p:cNvSpPr/>
              <p:nvPr/>
            </p:nvSpPr>
            <p:spPr>
              <a:xfrm>
                <a:off x="57150" y="57150"/>
                <a:ext cx="190500" cy="190500"/>
              </a:xfrm>
              <a:prstGeom prst="roundRect">
                <a:avLst>
                  <a:gd fmla="val 10000" name="adj"/>
                </a:avLst>
              </a:prstGeom>
              <a:solidFill>
                <a:srgbClr val="000000">
                  <a:alpha val="0"/>
                </a:srgbClr>
              </a:solidFill>
              <a:ln cap="flat" cmpd="sng" w="19050">
                <a:solidFill>
                  <a:srgbClr val="4338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3"/>
              <p:cNvSpPr/>
              <p:nvPr/>
            </p:nvSpPr>
            <p:spPr>
              <a:xfrm>
                <a:off x="19050" y="19050"/>
                <a:ext cx="266700" cy="266700"/>
              </a:xfrm>
              <a:custGeom>
                <a:rect b="b" l="l" r="r" t="t"/>
                <a:pathLst>
                  <a:path extrusionOk="0" fill="none" h="120000" w="120000">
                    <a:moveTo>
                      <a:pt x="17143" y="34286"/>
                    </a:moveTo>
                    <a:lnTo>
                      <a:pt x="0" y="34286"/>
                    </a:lnTo>
                    <a:moveTo>
                      <a:pt x="17143" y="60000"/>
                    </a:moveTo>
                    <a:lnTo>
                      <a:pt x="0" y="60000"/>
                    </a:lnTo>
                    <a:moveTo>
                      <a:pt x="17143" y="85714"/>
                    </a:moveTo>
                    <a:lnTo>
                      <a:pt x="0" y="85714"/>
                    </a:lnTo>
                    <a:moveTo>
                      <a:pt x="102857" y="34286"/>
                    </a:moveTo>
                    <a:lnTo>
                      <a:pt x="120000" y="34286"/>
                    </a:lnTo>
                    <a:moveTo>
                      <a:pt x="102857" y="60000"/>
                    </a:moveTo>
                    <a:lnTo>
                      <a:pt x="120000" y="60000"/>
                    </a:lnTo>
                    <a:moveTo>
                      <a:pt x="102857" y="85714"/>
                    </a:moveTo>
                    <a:lnTo>
                      <a:pt x="120000" y="85714"/>
                    </a:lnTo>
                    <a:moveTo>
                      <a:pt x="34286" y="17143"/>
                    </a:moveTo>
                    <a:lnTo>
                      <a:pt x="34286" y="0"/>
                    </a:lnTo>
                    <a:moveTo>
                      <a:pt x="60000" y="17143"/>
                    </a:moveTo>
                    <a:lnTo>
                      <a:pt x="60000" y="0"/>
                    </a:lnTo>
                    <a:moveTo>
                      <a:pt x="85714" y="17143"/>
                    </a:moveTo>
                    <a:lnTo>
                      <a:pt x="85714" y="0"/>
                    </a:lnTo>
                    <a:moveTo>
                      <a:pt x="34286" y="102857"/>
                    </a:moveTo>
                    <a:lnTo>
                      <a:pt x="34286" y="120000"/>
                    </a:lnTo>
                    <a:moveTo>
                      <a:pt x="60000" y="102857"/>
                    </a:moveTo>
                    <a:lnTo>
                      <a:pt x="60000" y="120000"/>
                    </a:lnTo>
                    <a:moveTo>
                      <a:pt x="85714" y="102857"/>
                    </a:moveTo>
                    <a:lnTo>
                      <a:pt x="85714" y="120000"/>
                    </a:lnTo>
                  </a:path>
                </a:pathLst>
              </a:custGeom>
              <a:solidFill>
                <a:srgbClr val="FFFFFF"/>
              </a:solidFill>
              <a:ln cap="rnd" cmpd="sng" w="19050">
                <a:solidFill>
                  <a:srgbClr val="4338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22" name="Google Shape;322;p23"/>
            <p:cNvSpPr txBox="1"/>
            <p:nvPr/>
          </p:nvSpPr>
          <p:spPr>
            <a:xfrm>
              <a:off x="571500" y="1857375"/>
              <a:ext cx="3238500" cy="20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4338CA"/>
                  </a:solidFill>
                  <a:latin typeface="Inter"/>
                  <a:ea typeface="Inter"/>
                  <a:cs typeface="Inter"/>
                  <a:sym typeface="Inter"/>
                </a:rPr>
                <a:t>Run-Ahead Strategy</a:t>
              </a:r>
              <a:endParaRPr b="1" sz="1500">
                <a:solidFill>
                  <a:srgbClr val="4338CA"/>
                </a:solidFill>
                <a:latin typeface="Inter"/>
                <a:ea typeface="Inter"/>
                <a:cs typeface="Inter"/>
                <a:sym typeface="Inter"/>
              </a:endParaRPr>
            </a:p>
            <a:p>
              <a:pPr indent="0" lvl="0" marL="0" rtl="0" algn="l">
                <a:spcBef>
                  <a:spcPts val="900"/>
                </a:spcBef>
                <a:spcAft>
                  <a:spcPts val="0"/>
                </a:spcAft>
                <a:buNone/>
              </a:pPr>
              <a:r>
                <a:rPr b="1" lang="en" sz="1150">
                  <a:solidFill>
                    <a:srgbClr val="4338CA"/>
                  </a:solidFill>
                  <a:latin typeface="Inter"/>
                  <a:ea typeface="Inter"/>
                  <a:cs typeface="Inter"/>
                  <a:sym typeface="Inter"/>
                </a:rPr>
                <a:t>Run Ahead:</a:t>
              </a:r>
              <a:r>
                <a:rPr b="0" lang="en" sz="1150">
                  <a:solidFill>
                    <a:srgbClr val="1A1A1A"/>
                  </a:solidFill>
                  <a:latin typeface="Inter"/>
                  <a:ea typeface="Inter"/>
                  <a:cs typeface="Inter"/>
                  <a:sym typeface="Inter"/>
                </a:rPr>
                <a:t> Simulate hours of system execution in seconds to find potential failures, race conditions, or battery drainage curves before they happen in physical deployments.</a:t>
              </a:r>
              <a:endParaRPr b="0" sz="1150">
                <a:solidFill>
                  <a:srgbClr val="1A1A1A"/>
                </a:solidFill>
                <a:latin typeface="Inter"/>
                <a:ea typeface="Inter"/>
                <a:cs typeface="Inter"/>
                <a:sym typeface="Inter"/>
              </a:endParaRPr>
            </a:p>
          </p:txBody>
        </p:sp>
      </p:grpSp>
      <p:grpSp>
        <p:nvGrpSpPr>
          <p:cNvPr id="323" name="Google Shape;323;p23"/>
          <p:cNvGrpSpPr/>
          <p:nvPr/>
        </p:nvGrpSpPr>
        <p:grpSpPr>
          <a:xfrm>
            <a:off x="4762500" y="1666875"/>
            <a:ext cx="4000500" cy="2381400"/>
            <a:chOff x="4762500" y="1666875"/>
            <a:chExt cx="4000500" cy="2381400"/>
          </a:xfrm>
        </p:grpSpPr>
        <p:sp>
          <p:nvSpPr>
            <p:cNvPr id="324" name="Google Shape;324;p23"/>
            <p:cNvSpPr/>
            <p:nvPr/>
          </p:nvSpPr>
          <p:spPr>
            <a:xfrm>
              <a:off x="4762500" y="1666875"/>
              <a:ext cx="4000500" cy="2381400"/>
            </a:xfrm>
            <a:prstGeom prst="roundRect">
              <a:avLst>
                <a:gd fmla="val 3200"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23"/>
            <p:cNvSpPr/>
            <p:nvPr/>
          </p:nvSpPr>
          <p:spPr>
            <a:xfrm>
              <a:off x="4762500" y="1666875"/>
              <a:ext cx="4000500" cy="573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26" name="Google Shape;326;p23"/>
            <p:cNvGrpSpPr/>
            <p:nvPr/>
          </p:nvGrpSpPr>
          <p:grpSpPr>
            <a:xfrm>
              <a:off x="8305800" y="1847850"/>
              <a:ext cx="266700" cy="247650"/>
              <a:chOff x="19050" y="19050"/>
              <a:chExt cx="266700" cy="247650"/>
            </a:xfrm>
          </p:grpSpPr>
          <p:sp>
            <p:nvSpPr>
              <p:cNvPr id="327" name="Google Shape;327;p23"/>
              <p:cNvSpPr/>
              <p:nvPr/>
            </p:nvSpPr>
            <p:spPr>
              <a:xfrm>
                <a:off x="114300" y="19050"/>
                <a:ext cx="76200" cy="76200"/>
              </a:xfrm>
              <a:prstGeom prst="ellipse">
                <a:avLst/>
              </a:prstGeom>
              <a:solidFill>
                <a:srgbClr val="000000">
                  <a:alpha val="0"/>
                </a:srgbClr>
              </a:solidFill>
              <a:ln cap="flat" cmpd="sng" w="19050">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3"/>
              <p:cNvSpPr/>
              <p:nvPr/>
            </p:nvSpPr>
            <p:spPr>
              <a:xfrm>
                <a:off x="19050" y="190500"/>
                <a:ext cx="76200" cy="76200"/>
              </a:xfrm>
              <a:prstGeom prst="ellipse">
                <a:avLst/>
              </a:prstGeom>
              <a:solidFill>
                <a:srgbClr val="000000">
                  <a:alpha val="0"/>
                </a:srgbClr>
              </a:solidFill>
              <a:ln cap="flat" cmpd="sng" w="19050">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23"/>
              <p:cNvSpPr/>
              <p:nvPr/>
            </p:nvSpPr>
            <p:spPr>
              <a:xfrm>
                <a:off x="209550" y="190500"/>
                <a:ext cx="76200" cy="76200"/>
              </a:xfrm>
              <a:prstGeom prst="ellipse">
                <a:avLst/>
              </a:prstGeom>
              <a:solidFill>
                <a:srgbClr val="000000">
                  <a:alpha val="0"/>
                </a:srgbClr>
              </a:solidFill>
              <a:ln cap="flat" cmpd="sng" w="19050">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3"/>
              <p:cNvSpPr/>
              <p:nvPr/>
            </p:nvSpPr>
            <p:spPr>
              <a:xfrm>
                <a:off x="76200" y="85725"/>
                <a:ext cx="152400" cy="142800"/>
              </a:xfrm>
              <a:custGeom>
                <a:rect b="b" l="l" r="r" t="t"/>
                <a:pathLst>
                  <a:path extrusionOk="0" fill="none" h="120000" w="120000">
                    <a:moveTo>
                      <a:pt x="45000" y="0"/>
                    </a:moveTo>
                    <a:lnTo>
                      <a:pt x="0" y="96000"/>
                    </a:lnTo>
                    <a:moveTo>
                      <a:pt x="75000" y="0"/>
                    </a:moveTo>
                    <a:lnTo>
                      <a:pt x="120000" y="96000"/>
                    </a:lnTo>
                    <a:moveTo>
                      <a:pt x="15000" y="120000"/>
                    </a:moveTo>
                    <a:lnTo>
                      <a:pt x="105000" y="120000"/>
                    </a:lnTo>
                  </a:path>
                </a:pathLst>
              </a:custGeom>
              <a:solidFill>
                <a:srgbClr val="FFFFFF"/>
              </a:solidFill>
              <a:ln cap="rnd" cmpd="sng" w="19050">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31" name="Google Shape;331;p23"/>
            <p:cNvSpPr txBox="1"/>
            <p:nvPr/>
          </p:nvSpPr>
          <p:spPr>
            <a:xfrm>
              <a:off x="4953000" y="1857375"/>
              <a:ext cx="3238500" cy="20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0D9488"/>
                  </a:solidFill>
                  <a:latin typeface="Inter"/>
                  <a:ea typeface="Inter"/>
                  <a:cs typeface="Inter"/>
                  <a:sym typeface="Inter"/>
                </a:rPr>
                <a:t>Realtime &amp; Replay</a:t>
              </a:r>
              <a:endParaRPr b="1" sz="1500">
                <a:solidFill>
                  <a:srgbClr val="0D9488"/>
                </a:solidFill>
                <a:latin typeface="Inter"/>
                <a:ea typeface="Inter"/>
                <a:cs typeface="Inter"/>
                <a:sym typeface="Inter"/>
              </a:endParaRPr>
            </a:p>
            <a:p>
              <a:pPr indent="0" lvl="0" marL="0" rtl="0" algn="l">
                <a:spcBef>
                  <a:spcPts val="900"/>
                </a:spcBef>
                <a:spcAft>
                  <a:spcPts val="0"/>
                </a:spcAft>
                <a:buNone/>
              </a:pPr>
              <a:r>
                <a:rPr b="1" lang="en" sz="1050">
                  <a:solidFill>
                    <a:srgbClr val="0D9488"/>
                  </a:solidFill>
                  <a:latin typeface="Inter"/>
                  <a:ea typeface="Inter"/>
                  <a:cs typeface="Inter"/>
                  <a:sym typeface="Inter"/>
                </a:rPr>
                <a:t>Lock to Realtime:</a:t>
              </a:r>
              <a:r>
                <a:rPr b="0" lang="en" sz="1050">
                  <a:solidFill>
                    <a:srgbClr val="1A1A1A"/>
                  </a:solidFill>
                  <a:latin typeface="Inter"/>
                  <a:ea typeface="Inter"/>
                  <a:cs typeface="Inter"/>
                  <a:sym typeface="Inter"/>
                </a:rPr>
                <a:t> Utilize the simulation for live stakeholder demos or Hardware-in-the-Loop (HIL) bridges.</a:t>
              </a:r>
              <a:endParaRPr b="0" sz="1050">
                <a:solidFill>
                  <a:srgbClr val="1A1A1A"/>
                </a:solidFill>
                <a:latin typeface="Inter"/>
                <a:ea typeface="Inter"/>
                <a:cs typeface="Inter"/>
                <a:sym typeface="Inter"/>
              </a:endParaRPr>
            </a:p>
            <a:p>
              <a:pPr indent="0" lvl="0" marL="0" rtl="0" algn="l">
                <a:spcBef>
                  <a:spcPts val="900"/>
                </a:spcBef>
                <a:spcAft>
                  <a:spcPts val="0"/>
                </a:spcAft>
                <a:buNone/>
              </a:pPr>
              <a:r>
                <a:rPr b="1" lang="en" sz="1050">
                  <a:solidFill>
                    <a:srgbClr val="0D9488"/>
                  </a:solidFill>
                  <a:latin typeface="Inter"/>
                  <a:ea typeface="Inter"/>
                  <a:cs typeface="Inter"/>
                  <a:sym typeface="Inter"/>
                </a:rPr>
                <a:t>Replay Deterministically:</a:t>
              </a:r>
              <a:r>
                <a:rPr b="0" lang="en" sz="1050">
                  <a:solidFill>
                    <a:srgbClr val="1A1A1A"/>
                  </a:solidFill>
                  <a:latin typeface="Inter"/>
                  <a:ea typeface="Inter"/>
                  <a:cs typeface="Inter"/>
                  <a:sym typeface="Inter"/>
                </a:rPr>
                <a:t> Conduct exhaustive root-cause analysis immediately after a failure occurs.</a:t>
              </a:r>
              <a:endParaRPr b="0" sz="1050">
                <a:solidFill>
                  <a:srgbClr val="1A1A1A"/>
                </a:solidFill>
                <a:latin typeface="Inter"/>
                <a:ea typeface="Inter"/>
                <a:cs typeface="Inter"/>
                <a:sym typeface="Inter"/>
              </a:endParaRPr>
            </a:p>
          </p:txBody>
        </p:sp>
      </p:grpSp>
      <p:grpSp>
        <p:nvGrpSpPr>
          <p:cNvPr id="332" name="Google Shape;332;p23"/>
          <p:cNvGrpSpPr/>
          <p:nvPr/>
        </p:nvGrpSpPr>
        <p:grpSpPr>
          <a:xfrm>
            <a:off x="381000" y="4191000"/>
            <a:ext cx="8382000" cy="714300"/>
            <a:chOff x="381000" y="4191000"/>
            <a:chExt cx="8382000" cy="714300"/>
          </a:xfrm>
        </p:grpSpPr>
        <p:sp>
          <p:nvSpPr>
            <p:cNvPr id="333" name="Google Shape;333;p23"/>
            <p:cNvSpPr/>
            <p:nvPr/>
          </p:nvSpPr>
          <p:spPr>
            <a:xfrm>
              <a:off x="381000" y="4191000"/>
              <a:ext cx="8382000" cy="714300"/>
            </a:xfrm>
            <a:prstGeom prst="roundRect">
              <a:avLst>
                <a:gd fmla="val 8000" name="adj"/>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23"/>
            <p:cNvSpPr/>
            <p:nvPr/>
          </p:nvSpPr>
          <p:spPr>
            <a:xfrm>
              <a:off x="381000" y="4191000"/>
              <a:ext cx="57300" cy="714300"/>
            </a:xfrm>
            <a:prstGeom prst="roundRect">
              <a:avLst>
                <a:gd fmla="val 50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3"/>
            <p:cNvSpPr txBox="1"/>
            <p:nvPr/>
          </p:nvSpPr>
          <p:spPr>
            <a:xfrm>
              <a:off x="619125" y="4238625"/>
              <a:ext cx="80010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4338CA"/>
                  </a:solidFill>
                  <a:latin typeface="Inter"/>
                  <a:ea typeface="Inter"/>
                  <a:cs typeface="Inter"/>
                  <a:sym typeface="Inter"/>
                </a:rPr>
                <a:t>The Critical Fleet Question:</a:t>
              </a:r>
              <a:r>
                <a:rPr b="0" lang="en" sz="1000">
                  <a:solidFill>
                    <a:srgbClr val="1A1A1A"/>
                  </a:solidFill>
                  <a:latin typeface="Inter"/>
                  <a:ea typeface="Inter"/>
                  <a:cs typeface="Inter"/>
                  <a:sym typeface="Inter"/>
                </a:rPr>
                <a:t> For robotics, vehicles, IoT fleets, and complex RISC‑V deployments, the critical question is no longer just 'does the task run?' The value lies in proving </a:t>
              </a:r>
              <a:r>
                <a:rPr b="1" lang="en" sz="1000">
                  <a:solidFill>
                    <a:srgbClr val="1A1A1A"/>
                  </a:solidFill>
                  <a:latin typeface="Inter"/>
                  <a:ea typeface="Inter"/>
                  <a:cs typeface="Inter"/>
                  <a:sym typeface="Inter"/>
                </a:rPr>
                <a:t>"does the system behave correctly under time constraints, injected faults, and multi-device interaction?"</a:t>
              </a:r>
              <a:endParaRPr b="0" sz="1000">
                <a:solidFill>
                  <a:srgbClr val="1A1A1A"/>
                </a:solidFill>
                <a:latin typeface="Inter"/>
                <a:ea typeface="Inter"/>
                <a:cs typeface="Inter"/>
                <a:sym typeface="Inte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grpSp>
        <p:nvGrpSpPr>
          <p:cNvPr id="340" name="Google Shape;340;p24"/>
          <p:cNvGrpSpPr/>
          <p:nvPr/>
        </p:nvGrpSpPr>
        <p:grpSpPr>
          <a:xfrm>
            <a:off x="0" y="0"/>
            <a:ext cx="9144000" cy="5143500"/>
            <a:chOff x="0" y="0"/>
            <a:chExt cx="9144000" cy="5143500"/>
          </a:xfrm>
        </p:grpSpPr>
        <p:sp>
          <p:nvSpPr>
            <p:cNvPr id="341" name="Google Shape;341;p2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24"/>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43" name="Google Shape;343;p24"/>
          <p:cNvSpPr txBox="1"/>
          <p:nvPr/>
        </p:nvSpPr>
        <p:spPr>
          <a:xfrm>
            <a:off x="381000" y="333375"/>
            <a:ext cx="62274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rgbClr val="1A1A1A"/>
                </a:solidFill>
                <a:latin typeface="Inter"/>
                <a:ea typeface="Inter"/>
                <a:cs typeface="Inter"/>
                <a:sym typeface="Inter"/>
              </a:rPr>
              <a:t>Sources &amp; References</a:t>
            </a:r>
            <a:endParaRPr b="1" sz="2800">
              <a:solidFill>
                <a:srgbClr val="1A1A1A"/>
              </a:solidFill>
              <a:latin typeface="Inter"/>
              <a:ea typeface="Inter"/>
              <a:cs typeface="Inter"/>
              <a:sym typeface="Inter"/>
            </a:endParaRPr>
          </a:p>
        </p:txBody>
      </p:sp>
      <p:sp>
        <p:nvSpPr>
          <p:cNvPr id="344" name="Google Shape;344;p24"/>
          <p:cNvSpPr txBox="1"/>
          <p:nvPr/>
        </p:nvSpPr>
        <p:spPr>
          <a:xfrm>
            <a:off x="381000" y="1238250"/>
            <a:ext cx="39054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4338CA"/>
                </a:solidFill>
                <a:latin typeface="Inter"/>
                <a:ea typeface="Inter"/>
                <a:cs typeface="Inter"/>
                <a:sym typeface="Inter"/>
              </a:rPr>
              <a:t>Project Sources</a:t>
            </a:r>
            <a:endParaRPr b="1" sz="1500">
              <a:solidFill>
                <a:srgbClr val="4338CA"/>
              </a:solidFill>
              <a:latin typeface="Inter"/>
              <a:ea typeface="Inter"/>
              <a:cs typeface="Inter"/>
              <a:sym typeface="Inter"/>
            </a:endParaRPr>
          </a:p>
        </p:txBody>
      </p:sp>
      <p:grpSp>
        <p:nvGrpSpPr>
          <p:cNvPr id="345" name="Google Shape;345;p24"/>
          <p:cNvGrpSpPr/>
          <p:nvPr/>
        </p:nvGrpSpPr>
        <p:grpSpPr>
          <a:xfrm>
            <a:off x="381000" y="1762125"/>
            <a:ext cx="3905400" cy="666900"/>
            <a:chOff x="0" y="0"/>
            <a:chExt cx="3905400" cy="666900"/>
          </a:xfrm>
        </p:grpSpPr>
        <p:sp>
          <p:nvSpPr>
            <p:cNvPr id="346" name="Google Shape;346;p24"/>
            <p:cNvSpPr/>
            <p:nvPr/>
          </p:nvSpPr>
          <p:spPr>
            <a:xfrm>
              <a:off x="0" y="57150"/>
              <a:ext cx="57300" cy="57300"/>
            </a:xfrm>
            <a:prstGeom prst="roundRect">
              <a:avLst>
                <a:gd fmla="val 25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4"/>
            <p:cNvSpPr txBox="1"/>
            <p:nvPr/>
          </p:nvSpPr>
          <p:spPr>
            <a:xfrm>
              <a:off x="190500" y="0"/>
              <a:ext cx="3714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0F172A"/>
                  </a:solidFill>
                  <a:highlight>
                    <a:srgbClr val="F1F5F9"/>
                  </a:highlight>
                  <a:latin typeface="JetBrains Mono SemiBold"/>
                  <a:ea typeface="JetBrains Mono SemiBold"/>
                  <a:cs typeface="JetBrains Mono SemiBold"/>
                  <a:sym typeface="JetBrains Mono SemiBold"/>
                </a:rPr>
                <a:t>zacharyvmm/costar</a:t>
              </a:r>
              <a:r>
                <a:rPr b="0" lang="en" sz="1300">
                  <a:solidFill>
                    <a:srgbClr val="1A1A1A"/>
                  </a:solidFill>
                  <a:latin typeface="Inter SemiBold"/>
                  <a:ea typeface="Inter SemiBold"/>
                  <a:cs typeface="Inter SemiBold"/>
                  <a:sym typeface="Inter SemiBold"/>
                </a:rPr>
                <a:t> README</a:t>
              </a:r>
              <a:endParaRPr b="0" sz="1300">
                <a:solidFill>
                  <a:srgbClr val="1A1A1A"/>
                </a:solidFill>
                <a:latin typeface="Inter SemiBold"/>
                <a:ea typeface="Inter SemiBold"/>
                <a:cs typeface="Inter SemiBold"/>
                <a:sym typeface="Inter SemiBold"/>
              </a:endParaRPr>
            </a:p>
            <a:p>
              <a:pPr indent="0" lvl="0" marL="0" rtl="0" algn="l">
                <a:spcBef>
                  <a:spcPts val="300"/>
                </a:spcBef>
                <a:spcAft>
                  <a:spcPts val="0"/>
                </a:spcAft>
                <a:buNone/>
              </a:pPr>
              <a:r>
                <a:rPr b="0" lang="en" sz="1100">
                  <a:solidFill>
                    <a:srgbClr val="5F6368"/>
                  </a:solidFill>
                  <a:latin typeface="Inter"/>
                  <a:ea typeface="Inter"/>
                  <a:cs typeface="Inter"/>
                  <a:sym typeface="Inter"/>
                </a:rPr>
                <a:t>details on current architecture, status, limitations, and instrumentation tiers.</a:t>
              </a:r>
              <a:endParaRPr b="0" sz="1100">
                <a:solidFill>
                  <a:srgbClr val="5F6368"/>
                </a:solidFill>
                <a:latin typeface="Inter"/>
                <a:ea typeface="Inter"/>
                <a:cs typeface="Inter"/>
                <a:sym typeface="Inter"/>
              </a:endParaRPr>
            </a:p>
          </p:txBody>
        </p:sp>
      </p:grpSp>
      <p:grpSp>
        <p:nvGrpSpPr>
          <p:cNvPr id="348" name="Google Shape;348;p24"/>
          <p:cNvGrpSpPr/>
          <p:nvPr/>
        </p:nvGrpSpPr>
        <p:grpSpPr>
          <a:xfrm>
            <a:off x="381000" y="2619375"/>
            <a:ext cx="3905400" cy="666900"/>
            <a:chOff x="0" y="0"/>
            <a:chExt cx="3905400" cy="666900"/>
          </a:xfrm>
        </p:grpSpPr>
        <p:sp>
          <p:nvSpPr>
            <p:cNvPr id="349" name="Google Shape;349;p24"/>
            <p:cNvSpPr/>
            <p:nvPr/>
          </p:nvSpPr>
          <p:spPr>
            <a:xfrm>
              <a:off x="0" y="57150"/>
              <a:ext cx="57300" cy="57300"/>
            </a:xfrm>
            <a:prstGeom prst="roundRect">
              <a:avLst>
                <a:gd fmla="val 25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24"/>
            <p:cNvSpPr txBox="1"/>
            <p:nvPr/>
          </p:nvSpPr>
          <p:spPr>
            <a:xfrm>
              <a:off x="190500" y="0"/>
              <a:ext cx="3714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0F172A"/>
                  </a:solidFill>
                  <a:highlight>
                    <a:srgbClr val="F1F5F9"/>
                  </a:highlight>
                  <a:latin typeface="JetBrains Mono SemiBold"/>
                  <a:ea typeface="JetBrains Mono SemiBold"/>
                  <a:cs typeface="JetBrains Mono SemiBold"/>
                  <a:sym typeface="JetBrains Mono SemiBold"/>
                </a:rPr>
                <a:t>costar</a:t>
              </a:r>
              <a:r>
                <a:rPr b="0" lang="en" sz="1300">
                  <a:solidFill>
                    <a:srgbClr val="1A1A1A"/>
                  </a:solidFill>
                  <a:latin typeface="Inter SemiBold"/>
                  <a:ea typeface="Inter SemiBold"/>
                  <a:cs typeface="Inter SemiBold"/>
                  <a:sym typeface="Inter SemiBold"/>
                </a:rPr>
                <a:t> docs referenced by README</a:t>
              </a:r>
              <a:endParaRPr b="0" sz="1300">
                <a:solidFill>
                  <a:srgbClr val="1A1A1A"/>
                </a:solidFill>
                <a:latin typeface="Inter SemiBold"/>
                <a:ea typeface="Inter SemiBold"/>
                <a:cs typeface="Inter SemiBold"/>
                <a:sym typeface="Inter SemiBold"/>
              </a:endParaRPr>
            </a:p>
            <a:p>
              <a:pPr indent="0" lvl="0" marL="0" rtl="0" algn="l">
                <a:spcBef>
                  <a:spcPts val="300"/>
                </a:spcBef>
                <a:spcAft>
                  <a:spcPts val="0"/>
                </a:spcAft>
                <a:buNone/>
              </a:pPr>
              <a:r>
                <a:rPr b="0" lang="en" sz="1100">
                  <a:solidFill>
                    <a:srgbClr val="0F172A"/>
                  </a:solidFill>
                  <a:highlight>
                    <a:srgbClr val="F1F5F9"/>
                  </a:highlight>
                  <a:latin typeface="JetBrains Mono"/>
                  <a:ea typeface="JetBrains Mono"/>
                  <a:cs typeface="JetBrains Mono"/>
                  <a:sym typeface="JetBrains Mono"/>
                </a:rPr>
                <a:t>scheduling.md</a:t>
              </a:r>
              <a:r>
                <a:rPr b="0" lang="en" sz="1100">
                  <a:solidFill>
                    <a:srgbClr val="5F6368"/>
                  </a:solidFill>
                  <a:latin typeface="Inter"/>
                  <a:ea typeface="Inter"/>
                  <a:cs typeface="Inter"/>
                  <a:sym typeface="Inter"/>
                </a:rPr>
                <a:t>, </a:t>
              </a:r>
              <a:r>
                <a:rPr b="0" lang="en" sz="1100">
                  <a:solidFill>
                    <a:srgbClr val="0F172A"/>
                  </a:solidFill>
                  <a:highlight>
                    <a:srgbClr val="F1F5F9"/>
                  </a:highlight>
                  <a:latin typeface="JetBrains Mono"/>
                  <a:ea typeface="JetBrains Mono"/>
                  <a:cs typeface="JetBrains Mono"/>
                  <a:sym typeface="JetBrains Mono"/>
                </a:rPr>
                <a:t>debugging.md</a:t>
              </a:r>
              <a:r>
                <a:rPr b="0" lang="en" sz="1100">
                  <a:solidFill>
                    <a:srgbClr val="5F6368"/>
                  </a:solidFill>
                  <a:latin typeface="Inter"/>
                  <a:ea typeface="Inter"/>
                  <a:cs typeface="Inter"/>
                  <a:sym typeface="Inter"/>
                </a:rPr>
                <a:t>, and </a:t>
              </a:r>
              <a:r>
                <a:rPr b="0" lang="en" sz="1100">
                  <a:solidFill>
                    <a:srgbClr val="0F172A"/>
                  </a:solidFill>
                  <a:highlight>
                    <a:srgbClr val="F1F5F9"/>
                  </a:highlight>
                  <a:latin typeface="JetBrains Mono"/>
                  <a:ea typeface="JetBrains Mono"/>
                  <a:cs typeface="JetBrains Mono"/>
                  <a:sym typeface="JetBrains Mono"/>
                </a:rPr>
                <a:t>HANDOFF.md</a:t>
              </a:r>
              <a:r>
                <a:rPr b="0" lang="en" sz="1100">
                  <a:solidFill>
                    <a:srgbClr val="5F6368"/>
                  </a:solidFill>
                  <a:latin typeface="Inter"/>
                  <a:ea typeface="Inter"/>
                  <a:cs typeface="Inter"/>
                  <a:sym typeface="Inter"/>
                </a:rPr>
                <a:t>.</a:t>
              </a:r>
              <a:endParaRPr b="0" sz="1100">
                <a:solidFill>
                  <a:srgbClr val="5F6368"/>
                </a:solidFill>
                <a:latin typeface="Inter"/>
                <a:ea typeface="Inter"/>
                <a:cs typeface="Inter"/>
                <a:sym typeface="Inter"/>
              </a:endParaRPr>
            </a:p>
          </p:txBody>
        </p:sp>
      </p:grpSp>
      <p:sp>
        <p:nvSpPr>
          <p:cNvPr id="351" name="Google Shape;351;p24"/>
          <p:cNvSpPr txBox="1"/>
          <p:nvPr/>
        </p:nvSpPr>
        <p:spPr>
          <a:xfrm>
            <a:off x="4762500" y="1238250"/>
            <a:ext cx="40005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0D9488"/>
                </a:solidFill>
                <a:latin typeface="Inter"/>
                <a:ea typeface="Inter"/>
                <a:cs typeface="Inter"/>
                <a:sym typeface="Inter"/>
              </a:rPr>
              <a:t>External Sources &amp; Tools</a:t>
            </a:r>
            <a:endParaRPr b="1" sz="1500">
              <a:solidFill>
                <a:srgbClr val="0D9488"/>
              </a:solidFill>
              <a:latin typeface="Inter"/>
              <a:ea typeface="Inter"/>
              <a:cs typeface="Inter"/>
              <a:sym typeface="Inter"/>
            </a:endParaRPr>
          </a:p>
        </p:txBody>
      </p:sp>
      <p:grpSp>
        <p:nvGrpSpPr>
          <p:cNvPr id="352" name="Google Shape;352;p24"/>
          <p:cNvGrpSpPr/>
          <p:nvPr/>
        </p:nvGrpSpPr>
        <p:grpSpPr>
          <a:xfrm>
            <a:off x="4762500" y="1762125"/>
            <a:ext cx="4000500" cy="523800"/>
            <a:chOff x="0" y="0"/>
            <a:chExt cx="4000500" cy="523800"/>
          </a:xfrm>
        </p:grpSpPr>
        <p:sp>
          <p:nvSpPr>
            <p:cNvPr id="353" name="Google Shape;353;p24"/>
            <p:cNvSpPr/>
            <p:nvPr/>
          </p:nvSpPr>
          <p:spPr>
            <a:xfrm>
              <a:off x="0" y="57150"/>
              <a:ext cx="57300" cy="57300"/>
            </a:xfrm>
            <a:prstGeom prst="roundRect">
              <a:avLst>
                <a:gd fmla="val 25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24"/>
            <p:cNvSpPr txBox="1"/>
            <p:nvPr/>
          </p:nvSpPr>
          <p:spPr>
            <a:xfrm>
              <a:off x="190500" y="0"/>
              <a:ext cx="3810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5">
                  <a:solidFill>
                    <a:srgbClr val="1A1A1A"/>
                  </a:solidFill>
                  <a:latin typeface="Inter"/>
                  <a:ea typeface="Inter"/>
                  <a:cs typeface="Inter"/>
                  <a:sym typeface="Inter"/>
                </a:rPr>
                <a:t>Renode</a:t>
              </a:r>
              <a:r>
                <a:rPr b="0" lang="en" sz="1105">
                  <a:solidFill>
                    <a:srgbClr val="1A1A1A"/>
                  </a:solidFill>
                  <a:latin typeface="Inter SemiBold"/>
                  <a:ea typeface="Inter SemiBold"/>
                  <a:cs typeface="Inter SemiBold"/>
                  <a:sym typeface="Inter SemiBold"/>
                </a:rPr>
                <a:t> official site and documentation</a:t>
              </a:r>
              <a:endParaRPr b="0" sz="1105">
                <a:solidFill>
                  <a:srgbClr val="1A1A1A"/>
                </a:solidFill>
                <a:latin typeface="Inter SemiBold"/>
                <a:ea typeface="Inter SemiBold"/>
                <a:cs typeface="Inter SemiBold"/>
                <a:sym typeface="Inter SemiBold"/>
              </a:endParaRPr>
            </a:p>
            <a:p>
              <a:pPr indent="0" lvl="0" marL="0" rtl="0" algn="l">
                <a:spcBef>
                  <a:spcPts val="300"/>
                </a:spcBef>
                <a:spcAft>
                  <a:spcPts val="0"/>
                </a:spcAft>
                <a:buNone/>
              </a:pPr>
              <a:r>
                <a:rPr b="0" lang="en" sz="935">
                  <a:solidFill>
                    <a:srgbClr val="5F6368"/>
                  </a:solidFill>
                  <a:latin typeface="Inter"/>
                  <a:ea typeface="Inter"/>
                  <a:cs typeface="Inter"/>
                  <a:sym typeface="Inter"/>
                </a:rPr>
                <a:t>multi-node simulation, deterministic virtual time, CI positioning.</a:t>
              </a:r>
              <a:endParaRPr b="0" sz="935">
                <a:solidFill>
                  <a:srgbClr val="5F6368"/>
                </a:solidFill>
                <a:latin typeface="Inter"/>
                <a:ea typeface="Inter"/>
                <a:cs typeface="Inter"/>
                <a:sym typeface="Inter"/>
              </a:endParaRPr>
            </a:p>
          </p:txBody>
        </p:sp>
      </p:grpSp>
      <p:grpSp>
        <p:nvGrpSpPr>
          <p:cNvPr id="355" name="Google Shape;355;p24"/>
          <p:cNvGrpSpPr/>
          <p:nvPr/>
        </p:nvGrpSpPr>
        <p:grpSpPr>
          <a:xfrm>
            <a:off x="4762500" y="2381250"/>
            <a:ext cx="4000500" cy="523800"/>
            <a:chOff x="0" y="0"/>
            <a:chExt cx="4000500" cy="523800"/>
          </a:xfrm>
        </p:grpSpPr>
        <p:sp>
          <p:nvSpPr>
            <p:cNvPr id="356" name="Google Shape;356;p24"/>
            <p:cNvSpPr/>
            <p:nvPr/>
          </p:nvSpPr>
          <p:spPr>
            <a:xfrm>
              <a:off x="0" y="57150"/>
              <a:ext cx="57300" cy="57300"/>
            </a:xfrm>
            <a:prstGeom prst="roundRect">
              <a:avLst>
                <a:gd fmla="val 25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24"/>
            <p:cNvSpPr txBox="1"/>
            <p:nvPr/>
          </p:nvSpPr>
          <p:spPr>
            <a:xfrm>
              <a:off x="190500" y="0"/>
              <a:ext cx="3810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A1A1A"/>
                  </a:solidFill>
                  <a:latin typeface="Inter"/>
                  <a:ea typeface="Inter"/>
                  <a:cs typeface="Inter"/>
                  <a:sym typeface="Inter"/>
                </a:rPr>
                <a:t>Zephyr</a:t>
              </a:r>
              <a:r>
                <a:rPr b="0" lang="en" sz="1300">
                  <a:solidFill>
                    <a:srgbClr val="1A1A1A"/>
                  </a:solidFill>
                  <a:latin typeface="Inter SemiBold"/>
                  <a:ea typeface="Inter SemiBold"/>
                  <a:cs typeface="Inter SemiBold"/>
                  <a:sym typeface="Inter SemiBold"/>
                </a:rPr>
                <a:t> </a:t>
              </a:r>
              <a:r>
                <a:rPr b="0" lang="en" sz="1100">
                  <a:solidFill>
                    <a:srgbClr val="0F172A"/>
                  </a:solidFill>
                  <a:highlight>
                    <a:srgbClr val="F1F5F9"/>
                  </a:highlight>
                  <a:latin typeface="JetBrains Mono SemiBold"/>
                  <a:ea typeface="JetBrains Mono SemiBold"/>
                  <a:cs typeface="JetBrains Mono SemiBold"/>
                  <a:sym typeface="JetBrains Mono SemiBold"/>
                </a:rPr>
                <a:t>native_sim</a:t>
              </a:r>
              <a:r>
                <a:rPr b="0" lang="en" sz="1300">
                  <a:solidFill>
                    <a:srgbClr val="1A1A1A"/>
                  </a:solidFill>
                  <a:latin typeface="Inter SemiBold"/>
                  <a:ea typeface="Inter SemiBold"/>
                  <a:cs typeface="Inter SemiBold"/>
                  <a:sym typeface="Inter SemiBold"/>
                </a:rPr>
                <a:t> documentation</a:t>
              </a:r>
              <a:endParaRPr b="0" sz="1300">
                <a:solidFill>
                  <a:srgbClr val="1A1A1A"/>
                </a:solidFill>
                <a:latin typeface="Inter SemiBold"/>
                <a:ea typeface="Inter SemiBold"/>
                <a:cs typeface="Inter SemiBold"/>
                <a:sym typeface="Inter SemiBold"/>
              </a:endParaRPr>
            </a:p>
            <a:p>
              <a:pPr indent="0" lvl="0" marL="0" rtl="0" algn="l">
                <a:spcBef>
                  <a:spcPts val="300"/>
                </a:spcBef>
                <a:spcAft>
                  <a:spcPts val="0"/>
                </a:spcAft>
                <a:buNone/>
              </a:pPr>
              <a:r>
                <a:rPr b="0" lang="en" sz="1100">
                  <a:solidFill>
                    <a:srgbClr val="5F6368"/>
                  </a:solidFill>
                  <a:latin typeface="Inter"/>
                  <a:ea typeface="Inter"/>
                  <a:cs typeface="Inter"/>
                  <a:sym typeface="Inter"/>
                </a:rPr>
                <a:t>host-native target, timing model, busy-wait caveats.</a:t>
              </a:r>
              <a:endParaRPr b="0" sz="1100">
                <a:solidFill>
                  <a:srgbClr val="5F6368"/>
                </a:solidFill>
                <a:latin typeface="Inter"/>
                <a:ea typeface="Inter"/>
                <a:cs typeface="Inter"/>
                <a:sym typeface="Inter"/>
              </a:endParaRPr>
            </a:p>
          </p:txBody>
        </p:sp>
      </p:grpSp>
      <p:grpSp>
        <p:nvGrpSpPr>
          <p:cNvPr id="358" name="Google Shape;358;p24"/>
          <p:cNvGrpSpPr/>
          <p:nvPr/>
        </p:nvGrpSpPr>
        <p:grpSpPr>
          <a:xfrm>
            <a:off x="4762500" y="3000375"/>
            <a:ext cx="4000500" cy="523800"/>
            <a:chOff x="0" y="0"/>
            <a:chExt cx="4000500" cy="523800"/>
          </a:xfrm>
        </p:grpSpPr>
        <p:sp>
          <p:nvSpPr>
            <p:cNvPr id="359" name="Google Shape;359;p24"/>
            <p:cNvSpPr/>
            <p:nvPr/>
          </p:nvSpPr>
          <p:spPr>
            <a:xfrm>
              <a:off x="0" y="57150"/>
              <a:ext cx="57300" cy="57300"/>
            </a:xfrm>
            <a:prstGeom prst="roundRect">
              <a:avLst>
                <a:gd fmla="val 25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24"/>
            <p:cNvSpPr txBox="1"/>
            <p:nvPr/>
          </p:nvSpPr>
          <p:spPr>
            <a:xfrm>
              <a:off x="190500" y="0"/>
              <a:ext cx="3810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5">
                  <a:solidFill>
                    <a:srgbClr val="1A1A1A"/>
                  </a:solidFill>
                  <a:latin typeface="Inter"/>
                  <a:ea typeface="Inter"/>
                  <a:cs typeface="Inter"/>
                  <a:sym typeface="Inter"/>
                </a:rPr>
                <a:t>The Native Simulator</a:t>
              </a:r>
              <a:r>
                <a:rPr b="0" lang="en" sz="1105">
                  <a:solidFill>
                    <a:srgbClr val="1A1A1A"/>
                  </a:solidFill>
                  <a:latin typeface="Inter SemiBold"/>
                  <a:ea typeface="Inter SemiBold"/>
                  <a:cs typeface="Inter SemiBold"/>
                  <a:sym typeface="Inter SemiBold"/>
                </a:rPr>
                <a:t> and </a:t>
              </a:r>
              <a:r>
                <a:rPr b="1" lang="en" sz="1105">
                  <a:solidFill>
                    <a:srgbClr val="1A1A1A"/>
                  </a:solidFill>
                  <a:latin typeface="Inter"/>
                  <a:ea typeface="Inter"/>
                  <a:cs typeface="Inter"/>
                  <a:sym typeface="Inter"/>
                </a:rPr>
                <a:t>Zephyr OSSEU 2025</a:t>
              </a:r>
              <a:r>
                <a:rPr b="0" lang="en" sz="1105">
                  <a:solidFill>
                    <a:srgbClr val="1A1A1A"/>
                  </a:solidFill>
                  <a:latin typeface="Inter SemiBold"/>
                  <a:ea typeface="Inter SemiBold"/>
                  <a:cs typeface="Inter SemiBold"/>
                  <a:sym typeface="Inter SemiBold"/>
                </a:rPr>
                <a:t> notes</a:t>
              </a:r>
              <a:endParaRPr b="0" sz="1105">
                <a:solidFill>
                  <a:srgbClr val="1A1A1A"/>
                </a:solidFill>
                <a:latin typeface="Inter SemiBold"/>
                <a:ea typeface="Inter SemiBold"/>
                <a:cs typeface="Inter SemiBold"/>
                <a:sym typeface="Inter SemiBold"/>
              </a:endParaRPr>
            </a:p>
            <a:p>
              <a:pPr indent="0" lvl="0" marL="0" rtl="0" algn="l">
                <a:spcBef>
                  <a:spcPts val="300"/>
                </a:spcBef>
                <a:spcAft>
                  <a:spcPts val="0"/>
                </a:spcAft>
                <a:buNone/>
              </a:pPr>
              <a:r>
                <a:rPr b="0" lang="en" sz="935">
                  <a:solidFill>
                    <a:srgbClr val="5F6368"/>
                  </a:solidFill>
                  <a:latin typeface="Inter"/>
                  <a:ea typeface="Inter"/>
                  <a:cs typeface="Inter"/>
                  <a:sym typeface="Inter"/>
                </a:rPr>
                <a:t>one simulated MCU / HW model runs at a time.</a:t>
              </a:r>
              <a:endParaRPr b="0" sz="935">
                <a:solidFill>
                  <a:srgbClr val="5F6368"/>
                </a:solidFill>
                <a:latin typeface="Inter"/>
                <a:ea typeface="Inter"/>
                <a:cs typeface="Inter"/>
                <a:sym typeface="Inter"/>
              </a:endParaRPr>
            </a:p>
          </p:txBody>
        </p:sp>
      </p:grpSp>
      <p:grpSp>
        <p:nvGrpSpPr>
          <p:cNvPr id="361" name="Google Shape;361;p24"/>
          <p:cNvGrpSpPr/>
          <p:nvPr/>
        </p:nvGrpSpPr>
        <p:grpSpPr>
          <a:xfrm>
            <a:off x="4762500" y="3619500"/>
            <a:ext cx="4000500" cy="523800"/>
            <a:chOff x="0" y="0"/>
            <a:chExt cx="4000500" cy="523800"/>
          </a:xfrm>
        </p:grpSpPr>
        <p:sp>
          <p:nvSpPr>
            <p:cNvPr id="362" name="Google Shape;362;p24"/>
            <p:cNvSpPr/>
            <p:nvPr/>
          </p:nvSpPr>
          <p:spPr>
            <a:xfrm>
              <a:off x="0" y="57150"/>
              <a:ext cx="57300" cy="57300"/>
            </a:xfrm>
            <a:prstGeom prst="roundRect">
              <a:avLst>
                <a:gd fmla="val 25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24"/>
            <p:cNvSpPr txBox="1"/>
            <p:nvPr/>
          </p:nvSpPr>
          <p:spPr>
            <a:xfrm>
              <a:off x="190500" y="0"/>
              <a:ext cx="3810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5">
                  <a:solidFill>
                    <a:srgbClr val="1A1A1A"/>
                  </a:solidFill>
                  <a:latin typeface="Inter"/>
                  <a:ea typeface="Inter"/>
                  <a:cs typeface="Inter"/>
                  <a:sym typeface="Inter"/>
                </a:rPr>
                <a:t>GCC</a:t>
              </a:r>
              <a:r>
                <a:rPr b="0" lang="en" sz="1105">
                  <a:solidFill>
                    <a:srgbClr val="1A1A1A"/>
                  </a:solidFill>
                  <a:latin typeface="Inter SemiBold"/>
                  <a:ea typeface="Inter SemiBold"/>
                  <a:cs typeface="Inter SemiBold"/>
                  <a:sym typeface="Inter SemiBold"/>
                </a:rPr>
                <a:t> instrumentation options</a:t>
              </a:r>
              <a:endParaRPr b="0" sz="1105">
                <a:solidFill>
                  <a:srgbClr val="1A1A1A"/>
                </a:solidFill>
                <a:latin typeface="Inter SemiBold"/>
                <a:ea typeface="Inter SemiBold"/>
                <a:cs typeface="Inter SemiBold"/>
                <a:sym typeface="Inter SemiBold"/>
              </a:endParaRPr>
            </a:p>
            <a:p>
              <a:pPr indent="0" lvl="0" marL="0" rtl="0" algn="l">
                <a:spcBef>
                  <a:spcPts val="300"/>
                </a:spcBef>
                <a:spcAft>
                  <a:spcPts val="0"/>
                </a:spcAft>
                <a:buNone/>
              </a:pPr>
              <a:r>
                <a:rPr b="0" lang="en" sz="935">
                  <a:solidFill>
                    <a:srgbClr val="0F172A"/>
                  </a:solidFill>
                  <a:highlight>
                    <a:srgbClr val="F1F5F9"/>
                  </a:highlight>
                  <a:latin typeface="JetBrains Mono"/>
                  <a:ea typeface="JetBrains Mono"/>
                  <a:cs typeface="JetBrains Mono"/>
                  <a:sym typeface="JetBrains Mono"/>
                </a:rPr>
                <a:t>-finstrument-functions</a:t>
              </a:r>
              <a:r>
                <a:rPr b="0" lang="en" sz="935">
                  <a:solidFill>
                    <a:srgbClr val="5F6368"/>
                  </a:solidFill>
                  <a:latin typeface="Inter"/>
                  <a:ea typeface="Inter"/>
                  <a:cs typeface="Inter"/>
                  <a:sym typeface="Inter"/>
                </a:rPr>
                <a:t> and </a:t>
              </a:r>
              <a:r>
                <a:rPr b="0" lang="en" sz="935">
                  <a:solidFill>
                    <a:srgbClr val="0F172A"/>
                  </a:solidFill>
                  <a:highlight>
                    <a:srgbClr val="F1F5F9"/>
                  </a:highlight>
                  <a:latin typeface="JetBrains Mono"/>
                  <a:ea typeface="JetBrains Mono"/>
                  <a:cs typeface="JetBrains Mono"/>
                  <a:sym typeface="JetBrains Mono"/>
                </a:rPr>
                <a:t>__cyg_profile_func_enter/exit</a:t>
              </a:r>
              <a:r>
                <a:rPr b="0" lang="en" sz="935">
                  <a:solidFill>
                    <a:srgbClr val="5F6368"/>
                  </a:solidFill>
                  <a:latin typeface="Inter"/>
                  <a:ea typeface="Inter"/>
                  <a:cs typeface="Inter"/>
                  <a:sym typeface="Inter"/>
                </a:rPr>
                <a:t>.</a:t>
              </a:r>
              <a:endParaRPr b="0" sz="935">
                <a:solidFill>
                  <a:srgbClr val="5F6368"/>
                </a:solidFill>
                <a:latin typeface="Inter"/>
                <a:ea typeface="Inter"/>
                <a:cs typeface="Inter"/>
                <a:sym typeface="Inter"/>
              </a:endParaRPr>
            </a:p>
          </p:txBody>
        </p:sp>
      </p:grpSp>
      <p:grpSp>
        <p:nvGrpSpPr>
          <p:cNvPr id="364" name="Google Shape;364;p24"/>
          <p:cNvGrpSpPr/>
          <p:nvPr/>
        </p:nvGrpSpPr>
        <p:grpSpPr>
          <a:xfrm>
            <a:off x="4762500" y="4238625"/>
            <a:ext cx="4000500" cy="523800"/>
            <a:chOff x="0" y="0"/>
            <a:chExt cx="4000500" cy="523800"/>
          </a:xfrm>
        </p:grpSpPr>
        <p:sp>
          <p:nvSpPr>
            <p:cNvPr id="365" name="Google Shape;365;p24"/>
            <p:cNvSpPr/>
            <p:nvPr/>
          </p:nvSpPr>
          <p:spPr>
            <a:xfrm>
              <a:off x="0" y="57150"/>
              <a:ext cx="57300" cy="57300"/>
            </a:xfrm>
            <a:prstGeom prst="roundRect">
              <a:avLst>
                <a:gd fmla="val 25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4"/>
            <p:cNvSpPr txBox="1"/>
            <p:nvPr/>
          </p:nvSpPr>
          <p:spPr>
            <a:xfrm>
              <a:off x="190500" y="0"/>
              <a:ext cx="3810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5">
                  <a:solidFill>
                    <a:srgbClr val="1A1A1A"/>
                  </a:solidFill>
                  <a:latin typeface="Inter"/>
                  <a:ea typeface="Inter"/>
                  <a:cs typeface="Inter"/>
                  <a:sym typeface="Inter"/>
                </a:rPr>
                <a:t>Clang</a:t>
              </a:r>
              <a:r>
                <a:rPr b="0" lang="en" sz="1105">
                  <a:solidFill>
                    <a:srgbClr val="1A1A1A"/>
                  </a:solidFill>
                  <a:latin typeface="Inter SemiBold"/>
                  <a:ea typeface="Inter SemiBold"/>
                  <a:cs typeface="Inter SemiBold"/>
                  <a:sym typeface="Inter SemiBold"/>
                </a:rPr>
                <a:t> SanitizerCoverage docs</a:t>
              </a:r>
              <a:endParaRPr b="0" sz="1105">
                <a:solidFill>
                  <a:srgbClr val="1A1A1A"/>
                </a:solidFill>
                <a:latin typeface="Inter SemiBold"/>
                <a:ea typeface="Inter SemiBold"/>
                <a:cs typeface="Inter SemiBold"/>
                <a:sym typeface="Inter SemiBold"/>
              </a:endParaRPr>
            </a:p>
            <a:p>
              <a:pPr indent="0" lvl="0" marL="0" rtl="0" algn="l">
                <a:spcBef>
                  <a:spcPts val="300"/>
                </a:spcBef>
                <a:spcAft>
                  <a:spcPts val="0"/>
                </a:spcAft>
                <a:buNone/>
              </a:pPr>
              <a:r>
                <a:rPr b="0" lang="en" sz="935">
                  <a:solidFill>
                    <a:srgbClr val="0F172A"/>
                  </a:solidFill>
                  <a:highlight>
                    <a:srgbClr val="F1F5F9"/>
                  </a:highlight>
                  <a:latin typeface="JetBrains Mono"/>
                  <a:ea typeface="JetBrains Mono"/>
                  <a:cs typeface="JetBrains Mono"/>
                  <a:sym typeface="JetBrains Mono"/>
                </a:rPr>
                <a:t>-fsanitize-coverage=trace-pc-guard</a:t>
              </a:r>
              <a:r>
                <a:rPr b="0" lang="en" sz="935">
                  <a:solidFill>
                    <a:srgbClr val="5F6368"/>
                  </a:solidFill>
                  <a:latin typeface="Inter"/>
                  <a:ea typeface="Inter"/>
                  <a:cs typeface="Inter"/>
                  <a:sym typeface="Inter"/>
                </a:rPr>
                <a:t> and edge instrumentation.</a:t>
              </a:r>
              <a:endParaRPr b="0" sz="935">
                <a:solidFill>
                  <a:srgbClr val="5F6368"/>
                </a:solidFill>
                <a:latin typeface="Inter"/>
                <a:ea typeface="Inter"/>
                <a:cs typeface="Inter"/>
                <a:sym typeface="Inte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