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4" r:id="rId7"/>
    <p:sldId id="263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2" autoAdjust="0"/>
    <p:restoredTop sz="94660"/>
  </p:normalViewPr>
  <p:slideViewPr>
    <p:cSldViewPr>
      <p:cViewPr varScale="1">
        <p:scale>
          <a:sx n="46" d="100"/>
          <a:sy n="46" d="100"/>
        </p:scale>
        <p:origin x="62" y="7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3A45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3A45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3A45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20300" y="5829300"/>
            <a:ext cx="2171700" cy="1028700"/>
          </a:xfrm>
          <a:custGeom>
            <a:avLst/>
            <a:gdLst/>
            <a:ahLst/>
            <a:cxnLst/>
            <a:rect l="l" t="t" r="r" b="b"/>
            <a:pathLst>
              <a:path w="2171700" h="1028700">
                <a:moveTo>
                  <a:pt x="0" y="1028699"/>
                </a:moveTo>
                <a:lnTo>
                  <a:pt x="2171700" y="1028699"/>
                </a:lnTo>
                <a:lnTo>
                  <a:pt x="2171700" y="0"/>
                </a:lnTo>
                <a:lnTo>
                  <a:pt x="0" y="0"/>
                </a:lnTo>
                <a:lnTo>
                  <a:pt x="0" y="1028699"/>
                </a:lnTo>
                <a:close/>
              </a:path>
            </a:pathLst>
          </a:custGeom>
          <a:solidFill>
            <a:srgbClr val="D0C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020300" y="0"/>
            <a:ext cx="2171700" cy="5772150"/>
          </a:xfrm>
          <a:custGeom>
            <a:avLst/>
            <a:gdLst/>
            <a:ahLst/>
            <a:cxnLst/>
            <a:rect l="l" t="t" r="r" b="b"/>
            <a:pathLst>
              <a:path w="2171700" h="5772150">
                <a:moveTo>
                  <a:pt x="0" y="5772150"/>
                </a:moveTo>
                <a:lnTo>
                  <a:pt x="2171700" y="5772150"/>
                </a:lnTo>
                <a:lnTo>
                  <a:pt x="2171700" y="0"/>
                </a:lnTo>
                <a:lnTo>
                  <a:pt x="0" y="0"/>
                </a:lnTo>
                <a:lnTo>
                  <a:pt x="0" y="5772150"/>
                </a:lnTo>
                <a:close/>
              </a:path>
            </a:pathLst>
          </a:custGeom>
          <a:solidFill>
            <a:srgbClr val="D0C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0020300" cy="6858000"/>
          </a:xfrm>
          <a:custGeom>
            <a:avLst/>
            <a:gdLst/>
            <a:ahLst/>
            <a:cxnLst/>
            <a:rect l="l" t="t" r="r" b="b"/>
            <a:pathLst>
              <a:path w="10020300" h="6858000">
                <a:moveTo>
                  <a:pt x="10020300" y="0"/>
                </a:moveTo>
                <a:lnTo>
                  <a:pt x="0" y="0"/>
                </a:lnTo>
                <a:lnTo>
                  <a:pt x="0" y="6858000"/>
                </a:lnTo>
                <a:lnTo>
                  <a:pt x="10020300" y="6858000"/>
                </a:lnTo>
                <a:lnTo>
                  <a:pt x="10020300" y="0"/>
                </a:lnTo>
                <a:close/>
              </a:path>
            </a:pathLst>
          </a:custGeom>
          <a:solidFill>
            <a:srgbClr val="3A45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981450" y="5800725"/>
            <a:ext cx="6038850" cy="0"/>
          </a:xfrm>
          <a:custGeom>
            <a:avLst/>
            <a:gdLst/>
            <a:ahLst/>
            <a:cxnLst/>
            <a:rect l="l" t="t" r="r" b="b"/>
            <a:pathLst>
              <a:path w="6038850">
                <a:moveTo>
                  <a:pt x="0" y="0"/>
                </a:moveTo>
                <a:lnTo>
                  <a:pt x="6038850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20300" y="5772150"/>
            <a:ext cx="2171700" cy="57150"/>
          </a:xfrm>
          <a:custGeom>
            <a:avLst/>
            <a:gdLst/>
            <a:ahLst/>
            <a:cxnLst/>
            <a:rect l="l" t="t" r="r" b="b"/>
            <a:pathLst>
              <a:path w="2171700" h="57150">
                <a:moveTo>
                  <a:pt x="0" y="57150"/>
                </a:moveTo>
                <a:lnTo>
                  <a:pt x="2171700" y="57150"/>
                </a:lnTo>
                <a:lnTo>
                  <a:pt x="2171700" y="0"/>
                </a:ln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>
            <a:srgbClr val="3A45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3A45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0C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5" y="638175"/>
            <a:ext cx="7648575" cy="57245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2942" y="1326768"/>
            <a:ext cx="9772650" cy="1402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3A45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250" y="2888678"/>
            <a:ext cx="11058525" cy="2314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nvidia.com/deeplearning/performance/dl-performance-matrix-multiplication/index.html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A45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981450" y="5772150"/>
            <a:ext cx="8210550" cy="57150"/>
            <a:chOff x="3981450" y="5772150"/>
            <a:chExt cx="8210550" cy="57150"/>
          </a:xfrm>
        </p:grpSpPr>
        <p:sp>
          <p:nvSpPr>
            <p:cNvPr id="4" name="object 4"/>
            <p:cNvSpPr/>
            <p:nvPr/>
          </p:nvSpPr>
          <p:spPr>
            <a:xfrm>
              <a:off x="3981450" y="5800725"/>
              <a:ext cx="6054090" cy="0"/>
            </a:xfrm>
            <a:custGeom>
              <a:avLst/>
              <a:gdLst/>
              <a:ahLst/>
              <a:cxnLst/>
              <a:rect l="l" t="t" r="r" b="b"/>
              <a:pathLst>
                <a:path w="6054090">
                  <a:moveTo>
                    <a:pt x="0" y="0"/>
                  </a:moveTo>
                  <a:lnTo>
                    <a:pt x="6054090" y="0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29825" y="5772150"/>
              <a:ext cx="2162175" cy="57150"/>
            </a:xfrm>
            <a:custGeom>
              <a:avLst/>
              <a:gdLst/>
              <a:ahLst/>
              <a:cxnLst/>
              <a:rect l="l" t="t" r="r" b="b"/>
              <a:pathLst>
                <a:path w="2162175" h="57150">
                  <a:moveTo>
                    <a:pt x="2162175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2162175" y="57150"/>
                  </a:lnTo>
                  <a:lnTo>
                    <a:pt x="2162175" y="0"/>
                  </a:lnTo>
                  <a:close/>
                </a:path>
              </a:pathLst>
            </a:custGeom>
            <a:solidFill>
              <a:srgbClr val="BD9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18407" y="1206554"/>
            <a:ext cx="11506200" cy="6782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80000"/>
              </a:lnSpc>
              <a:spcBef>
                <a:spcPts val="650"/>
              </a:spcBef>
            </a:pPr>
            <a:r>
              <a:rPr lang="en-CA" sz="5400" dirty="0">
                <a:solidFill>
                  <a:schemeClr val="bg1"/>
                </a:solidFill>
              </a:rPr>
              <a:t>Cross-Platform AI Workload Profiling:</a:t>
            </a:r>
            <a:endParaRPr sz="5400" dirty="0">
              <a:solidFill>
                <a:schemeClr val="bg1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49700" y="5001958"/>
            <a:ext cx="79375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>
                <a:solidFill>
                  <a:srgbClr val="FFFFFF"/>
                </a:solidFill>
                <a:latin typeface="Arial"/>
                <a:cs typeface="Arial"/>
              </a:rPr>
              <a:t>By Paul Chukwu 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95459307-7C2B-5C2F-BA48-F68810AD0131}"/>
              </a:ext>
            </a:extLst>
          </p:cNvPr>
          <p:cNvSpPr txBox="1"/>
          <p:nvPr/>
        </p:nvSpPr>
        <p:spPr>
          <a:xfrm>
            <a:off x="1520796" y="2106548"/>
            <a:ext cx="8766204" cy="737638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66700" marR="5080" algn="ctr">
              <a:lnSpc>
                <a:spcPct val="101699"/>
              </a:lnSpc>
              <a:spcBef>
                <a:spcPts val="65"/>
              </a:spcBef>
            </a:pPr>
            <a:r>
              <a:rPr lang="en-CA" sz="2400" i="1" dirty="0">
                <a:solidFill>
                  <a:schemeClr val="bg1"/>
                </a:solidFill>
              </a:rPr>
              <a:t>Comparing workload behavior across Jetson, Raspberry Pi, Arduino UNO Q, and RISC-V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0C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723900"/>
            <a:ext cx="12192000" cy="5410200"/>
            <a:chOff x="0" y="723900"/>
            <a:chExt cx="12192000" cy="5410200"/>
          </a:xfrm>
        </p:grpSpPr>
        <p:sp>
          <p:nvSpPr>
            <p:cNvPr id="4" name="object 4"/>
            <p:cNvSpPr/>
            <p:nvPr/>
          </p:nvSpPr>
          <p:spPr>
            <a:xfrm>
              <a:off x="0" y="723900"/>
              <a:ext cx="12192000" cy="5410200"/>
            </a:xfrm>
            <a:custGeom>
              <a:avLst/>
              <a:gdLst/>
              <a:ahLst/>
              <a:cxnLst/>
              <a:rect l="l" t="t" r="r" b="b"/>
              <a:pathLst>
                <a:path w="12192000" h="5410200">
                  <a:moveTo>
                    <a:pt x="12192000" y="0"/>
                  </a:moveTo>
                  <a:lnTo>
                    <a:pt x="0" y="0"/>
                  </a:lnTo>
                  <a:lnTo>
                    <a:pt x="0" y="5410200"/>
                  </a:lnTo>
                  <a:lnTo>
                    <a:pt x="12192000" y="54102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66076" y="2495550"/>
              <a:ext cx="4726305" cy="57150"/>
            </a:xfrm>
            <a:custGeom>
              <a:avLst/>
              <a:gdLst/>
              <a:ahLst/>
              <a:cxnLst/>
              <a:rect l="l" t="t" r="r" b="b"/>
              <a:pathLst>
                <a:path w="4726305" h="57150">
                  <a:moveTo>
                    <a:pt x="0" y="57150"/>
                  </a:moveTo>
                  <a:lnTo>
                    <a:pt x="4725924" y="57150"/>
                  </a:lnTo>
                  <a:lnTo>
                    <a:pt x="4725924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0C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3900" y="2524125"/>
              <a:ext cx="6742430" cy="0"/>
            </a:xfrm>
            <a:custGeom>
              <a:avLst/>
              <a:gdLst/>
              <a:ahLst/>
              <a:cxnLst/>
              <a:rect l="l" t="t" r="r" b="b"/>
              <a:pathLst>
                <a:path w="6742430">
                  <a:moveTo>
                    <a:pt x="6742176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BD92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95" dirty="0"/>
              <a:t>MOTIVATION</a:t>
            </a:r>
            <a:r>
              <a:rPr spc="-31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20" dirty="0"/>
              <a:t>GOAL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19901" y="2989961"/>
            <a:ext cx="438594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3A4546"/>
                </a:solidFill>
                <a:latin typeface="Arial"/>
                <a:cs typeface="Arial"/>
              </a:rPr>
              <a:t>How</a:t>
            </a:r>
            <a:r>
              <a:rPr sz="3200" b="1" spc="-40" dirty="0">
                <a:solidFill>
                  <a:srgbClr val="3A4546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3A4546"/>
                </a:solidFill>
                <a:latin typeface="Arial"/>
                <a:cs typeface="Arial"/>
              </a:rPr>
              <a:t>this</a:t>
            </a:r>
            <a:r>
              <a:rPr sz="3200" b="1" spc="-10" dirty="0">
                <a:solidFill>
                  <a:srgbClr val="3A4546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3A4546"/>
                </a:solidFill>
                <a:latin typeface="Arial"/>
                <a:cs typeface="Arial"/>
              </a:rPr>
              <a:t>project</a:t>
            </a:r>
            <a:r>
              <a:rPr sz="3200" b="1" spc="-15" dirty="0">
                <a:solidFill>
                  <a:srgbClr val="3A4546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3A4546"/>
                </a:solidFill>
                <a:latin typeface="Arial"/>
                <a:cs typeface="Arial"/>
              </a:rPr>
              <a:t>help?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4027" y="2989961"/>
            <a:ext cx="3586479" cy="245554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66700" marR="5080">
              <a:lnSpc>
                <a:spcPct val="101699"/>
              </a:lnSpc>
              <a:spcBef>
                <a:spcPts val="65"/>
              </a:spcBef>
            </a:pPr>
            <a:r>
              <a:rPr sz="3200" b="1" dirty="0">
                <a:solidFill>
                  <a:srgbClr val="3A4546"/>
                </a:solidFill>
                <a:latin typeface="Arial"/>
                <a:cs typeface="Arial"/>
              </a:rPr>
              <a:t>Why</a:t>
            </a:r>
            <a:r>
              <a:rPr sz="3200" b="1" spc="-10" dirty="0">
                <a:solidFill>
                  <a:srgbClr val="3A4546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3A4546"/>
                </a:solidFill>
                <a:latin typeface="Arial"/>
                <a:cs typeface="Arial"/>
              </a:rPr>
              <a:t>profile</a:t>
            </a:r>
            <a:r>
              <a:rPr sz="3200" b="1" spc="-10" dirty="0">
                <a:solidFill>
                  <a:srgbClr val="3A4546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3A4546"/>
                </a:solidFill>
                <a:latin typeface="Arial"/>
                <a:cs typeface="Arial"/>
              </a:rPr>
              <a:t>an</a:t>
            </a:r>
            <a:r>
              <a:rPr sz="3200" b="1" spc="-180" dirty="0">
                <a:solidFill>
                  <a:srgbClr val="3A4546"/>
                </a:solidFill>
                <a:latin typeface="Arial"/>
                <a:cs typeface="Arial"/>
              </a:rPr>
              <a:t> </a:t>
            </a:r>
            <a:r>
              <a:rPr sz="3200" b="1" spc="-25" dirty="0">
                <a:solidFill>
                  <a:srgbClr val="3A4546"/>
                </a:solidFill>
                <a:latin typeface="Arial"/>
                <a:cs typeface="Arial"/>
              </a:rPr>
              <a:t>AI </a:t>
            </a:r>
            <a:r>
              <a:rPr sz="3200" b="1" spc="-10" dirty="0">
                <a:solidFill>
                  <a:srgbClr val="3A4546"/>
                </a:solidFill>
                <a:latin typeface="Arial"/>
                <a:cs typeface="Arial"/>
              </a:rPr>
              <a:t>workload?</a:t>
            </a:r>
            <a:endParaRPr sz="3200" dirty="0">
              <a:latin typeface="Arial"/>
              <a:cs typeface="Arial"/>
            </a:endParaRPr>
          </a:p>
          <a:p>
            <a:pPr marL="295275" indent="-282575">
              <a:lnSpc>
                <a:spcPct val="100000"/>
              </a:lnSpc>
              <a:spcBef>
                <a:spcPts val="1739"/>
              </a:spcBef>
              <a:buChar char="•"/>
              <a:tabLst>
                <a:tab pos="295275" algn="l"/>
              </a:tabLst>
            </a:pPr>
            <a:r>
              <a:rPr sz="2000" dirty="0">
                <a:solidFill>
                  <a:srgbClr val="3A4546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A4546"/>
                </a:solidFill>
                <a:latin typeface="Arial MT"/>
                <a:cs typeface="Arial MT"/>
              </a:rPr>
              <a:t>Hardware-</a:t>
            </a:r>
            <a:r>
              <a:rPr sz="2000" dirty="0">
                <a:solidFill>
                  <a:srgbClr val="3A4546"/>
                </a:solidFill>
                <a:latin typeface="Arial MT"/>
                <a:cs typeface="Arial MT"/>
              </a:rPr>
              <a:t>Software</a:t>
            </a:r>
            <a:r>
              <a:rPr sz="2000" spc="2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A4546"/>
                </a:solidFill>
                <a:latin typeface="Arial MT"/>
                <a:cs typeface="Arial MT"/>
              </a:rPr>
              <a:t>Gap</a:t>
            </a:r>
            <a:endParaRPr sz="2000" dirty="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205"/>
              </a:spcBef>
              <a:buChar char="•"/>
              <a:tabLst>
                <a:tab pos="295275" algn="l"/>
              </a:tabLst>
            </a:pPr>
            <a:r>
              <a:rPr sz="2000" dirty="0">
                <a:solidFill>
                  <a:srgbClr val="3A4546"/>
                </a:solidFill>
                <a:latin typeface="Arial MT"/>
                <a:cs typeface="Arial MT"/>
              </a:rPr>
              <a:t>Kernel</a:t>
            </a:r>
            <a:r>
              <a:rPr sz="2000" spc="-5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A4546"/>
                </a:solidFill>
                <a:latin typeface="Arial MT"/>
                <a:cs typeface="Arial MT"/>
              </a:rPr>
              <a:t>Bottlenecks</a:t>
            </a:r>
            <a:endParaRPr sz="2000" dirty="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205"/>
              </a:spcBef>
              <a:buChar char="•"/>
              <a:tabLst>
                <a:tab pos="295275" algn="l"/>
              </a:tabLst>
            </a:pPr>
            <a:r>
              <a:rPr sz="2000" dirty="0">
                <a:solidFill>
                  <a:srgbClr val="3A4546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A4546"/>
                </a:solidFill>
                <a:latin typeface="Arial MT"/>
                <a:cs typeface="Arial MT"/>
              </a:rPr>
              <a:t>Need</a:t>
            </a:r>
            <a:r>
              <a:rPr sz="2000" spc="2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A4546"/>
                </a:solidFill>
                <a:latin typeface="Arial MT"/>
                <a:cs typeface="Arial MT"/>
              </a:rPr>
              <a:t>for</a:t>
            </a:r>
            <a:r>
              <a:rPr sz="2000" spc="-6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A4546"/>
                </a:solidFill>
                <a:latin typeface="Arial MT"/>
                <a:cs typeface="Arial MT"/>
              </a:rPr>
              <a:t>Visibility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17996" y="3918013"/>
            <a:ext cx="4555490" cy="139890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00"/>
              </a:spcBef>
              <a:buChar char="•"/>
              <a:tabLst>
                <a:tab pos="295910" algn="l"/>
              </a:tabLst>
            </a:pPr>
            <a:r>
              <a:rPr lang="en-US" sz="2000" dirty="0">
                <a:solidFill>
                  <a:srgbClr val="3A4546"/>
                </a:solidFill>
                <a:latin typeface="Arial MT"/>
                <a:cs typeface="Arial MT"/>
              </a:rPr>
              <a:t>Compare RISC-V with other devices</a:t>
            </a:r>
            <a:endParaRPr sz="2000" dirty="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1205"/>
              </a:spcBef>
              <a:buChar char="•"/>
              <a:tabLst>
                <a:tab pos="295910" algn="l"/>
              </a:tabLst>
            </a:pPr>
            <a:r>
              <a:rPr sz="2000" dirty="0">
                <a:solidFill>
                  <a:srgbClr val="3A4546"/>
                </a:solidFill>
                <a:latin typeface="Arial MT"/>
                <a:cs typeface="Arial MT"/>
              </a:rPr>
              <a:t>Identify</a:t>
            </a:r>
            <a:r>
              <a:rPr sz="2000" spc="-50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A4546"/>
                </a:solidFill>
                <a:latin typeface="Arial MT"/>
                <a:cs typeface="Arial MT"/>
              </a:rPr>
              <a:t>Bottlenecks</a:t>
            </a:r>
            <a:endParaRPr sz="2000" dirty="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1205"/>
              </a:spcBef>
              <a:buChar char="•"/>
              <a:tabLst>
                <a:tab pos="295910" algn="l"/>
              </a:tabLst>
            </a:pPr>
            <a:r>
              <a:rPr sz="2000" dirty="0">
                <a:solidFill>
                  <a:srgbClr val="3A4546"/>
                </a:solidFill>
                <a:latin typeface="Arial MT"/>
                <a:cs typeface="Arial MT"/>
              </a:rPr>
              <a:t>Drive</a:t>
            </a:r>
            <a:r>
              <a:rPr sz="2000" spc="-10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A4546"/>
                </a:solidFill>
                <a:latin typeface="Arial MT"/>
                <a:cs typeface="Arial MT"/>
              </a:rPr>
              <a:t>Hardware-</a:t>
            </a:r>
            <a:r>
              <a:rPr sz="2000" dirty="0">
                <a:solidFill>
                  <a:srgbClr val="3A4546"/>
                </a:solidFill>
                <a:latin typeface="Arial MT"/>
                <a:cs typeface="Arial MT"/>
              </a:rPr>
              <a:t>Software</a:t>
            </a:r>
            <a:r>
              <a:rPr sz="2000" spc="7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A4546"/>
                </a:solidFill>
                <a:latin typeface="Arial MT"/>
                <a:cs typeface="Arial MT"/>
              </a:rPr>
              <a:t>Co-</a:t>
            </a:r>
            <a:r>
              <a:rPr sz="2000" spc="-10" dirty="0">
                <a:solidFill>
                  <a:srgbClr val="3A4546"/>
                </a:solidFill>
                <a:latin typeface="Arial MT"/>
                <a:cs typeface="Arial MT"/>
              </a:rPr>
              <a:t>Design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15039" y="33553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3A4546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5" descr="$PPTXTitle">
            <a:extLst>
              <a:ext uri="{FF2B5EF4-FFF2-40B4-BE49-F238E27FC236}">
                <a16:creationId xmlns:a16="http://schemas.microsoft.com/office/drawing/2014/main" id="{B5518E76-AAF3-7EE3-1540-A4E6035EF5D7}"/>
              </a:ext>
            </a:extLst>
          </p:cNvPr>
          <p:cNvSpPr txBox="1">
            <a:spLocks/>
          </p:cNvSpPr>
          <p:nvPr/>
        </p:nvSpPr>
        <p:spPr>
          <a:xfrm>
            <a:off x="304800" y="297270"/>
            <a:ext cx="61722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5000" b="0" i="0">
                <a:solidFill>
                  <a:srgbClr val="3A4546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n-US" sz="1550" b="1">
                <a:latin typeface="Arial"/>
                <a:cs typeface="Arial"/>
              </a:rPr>
              <a:t>AI</a:t>
            </a:r>
            <a:r>
              <a:rPr lang="en-US" sz="1550" b="1" spc="150">
                <a:latin typeface="Arial"/>
                <a:cs typeface="Arial"/>
              </a:rPr>
              <a:t> </a:t>
            </a:r>
            <a:r>
              <a:rPr lang="en-US" sz="1550" b="1">
                <a:latin typeface="Arial"/>
                <a:cs typeface="Arial"/>
              </a:rPr>
              <a:t>WORKLOAD</a:t>
            </a:r>
            <a:r>
              <a:rPr lang="en-US" sz="1550" b="1" spc="130">
                <a:latin typeface="Arial"/>
                <a:cs typeface="Arial"/>
              </a:rPr>
              <a:t> </a:t>
            </a:r>
            <a:r>
              <a:rPr lang="en-US" sz="1550" b="1">
                <a:latin typeface="Arial"/>
                <a:cs typeface="Arial"/>
              </a:rPr>
              <a:t>PROFILING</a:t>
            </a:r>
            <a:r>
              <a:rPr lang="en-US" sz="1550" b="1" spc="110">
                <a:latin typeface="Arial"/>
                <a:cs typeface="Arial"/>
              </a:rPr>
              <a:t> </a:t>
            </a:r>
            <a:r>
              <a:rPr lang="en-US" sz="1550" b="1">
                <a:latin typeface="Arial"/>
                <a:cs typeface="Arial"/>
              </a:rPr>
              <a:t>ON</a:t>
            </a:r>
            <a:r>
              <a:rPr lang="en-US" sz="1550" b="1" spc="130">
                <a:latin typeface="Arial"/>
                <a:cs typeface="Arial"/>
              </a:rPr>
              <a:t> </a:t>
            </a:r>
            <a:r>
              <a:rPr lang="en-US" sz="1550" b="1">
                <a:latin typeface="Arial"/>
                <a:cs typeface="Arial"/>
              </a:rPr>
              <a:t>A</a:t>
            </a:r>
            <a:r>
              <a:rPr lang="en-US" sz="1550" b="1" spc="30">
                <a:latin typeface="Arial"/>
                <a:cs typeface="Arial"/>
              </a:rPr>
              <a:t> PHYSICAL</a:t>
            </a:r>
            <a:r>
              <a:rPr lang="en-US" sz="1550" b="1" spc="140">
                <a:latin typeface="Arial"/>
                <a:cs typeface="Arial"/>
              </a:rPr>
              <a:t> </a:t>
            </a:r>
            <a:r>
              <a:rPr lang="en-US" sz="1550" b="1" spc="-20">
                <a:latin typeface="Arial"/>
                <a:cs typeface="Arial"/>
              </a:rPr>
              <a:t>CORE</a:t>
            </a:r>
            <a:endParaRPr lang="en-US" sz="15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52400" y="43967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9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3048000"/>
            </a:xfrm>
            <a:custGeom>
              <a:avLst/>
              <a:gdLst/>
              <a:ahLst/>
              <a:cxnLst/>
              <a:rect l="l" t="t" r="r" b="b"/>
              <a:pathLst>
                <a:path w="12192000" h="3048000">
                  <a:moveTo>
                    <a:pt x="12192000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12192000" y="304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A4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60251" y="3052826"/>
              <a:ext cx="44450" cy="3805554"/>
            </a:xfrm>
            <a:custGeom>
              <a:avLst/>
              <a:gdLst/>
              <a:ahLst/>
              <a:cxnLst/>
              <a:rect l="l" t="t" r="r" b="b"/>
              <a:pathLst>
                <a:path w="44450" h="3805554">
                  <a:moveTo>
                    <a:pt x="44450" y="0"/>
                  </a:moveTo>
                  <a:lnTo>
                    <a:pt x="0" y="0"/>
                  </a:lnTo>
                  <a:lnTo>
                    <a:pt x="0" y="3805174"/>
                  </a:lnTo>
                  <a:lnTo>
                    <a:pt x="44450" y="3805174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3A4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682476" y="1033525"/>
              <a:ext cx="0" cy="2019300"/>
            </a:xfrm>
            <a:custGeom>
              <a:avLst/>
              <a:gdLst/>
              <a:ahLst/>
              <a:cxnLst/>
              <a:rect l="l" t="t" r="r" b="b"/>
              <a:pathLst>
                <a:path h="2019300">
                  <a:moveTo>
                    <a:pt x="0" y="2019173"/>
                  </a:moveTo>
                  <a:lnTo>
                    <a:pt x="0" y="0"/>
                  </a:lnTo>
                </a:path>
              </a:pathLst>
            </a:custGeom>
            <a:ln w="44450">
              <a:solidFill>
                <a:srgbClr val="ECE9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82942" y="1326768"/>
            <a:ext cx="9772650" cy="779701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 marR="5080">
              <a:lnSpc>
                <a:spcPts val="4810"/>
              </a:lnSpc>
              <a:spcBef>
                <a:spcPts val="1280"/>
              </a:spcBef>
            </a:pPr>
            <a:r>
              <a:rPr lang="en-CA" dirty="0">
                <a:solidFill>
                  <a:schemeClr val="bg1"/>
                </a:solidFill>
              </a:rPr>
              <a:t>Different Direction From Fatima</a:t>
            </a:r>
            <a:endParaRPr spc="-20" dirty="0">
              <a:solidFill>
                <a:schemeClr val="bg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15039" y="33553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CE9E6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4661" y="3147050"/>
            <a:ext cx="7609211" cy="4150623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455"/>
              </a:spcBef>
            </a:pPr>
            <a:r>
              <a:rPr lang="en-US" sz="2150" b="1" dirty="0">
                <a:solidFill>
                  <a:srgbClr val="3A4546"/>
                </a:solidFill>
                <a:latin typeface="Arial"/>
                <a:cs typeface="Arial"/>
              </a:rPr>
              <a:t>		Still related but now we will:</a:t>
            </a:r>
          </a:p>
          <a:p>
            <a:pPr marL="12700" marR="5080">
              <a:lnSpc>
                <a:spcPct val="100800"/>
              </a:lnSpc>
              <a:spcBef>
                <a:spcPts val="1085"/>
              </a:spcBef>
              <a:tabLst>
                <a:tab pos="241300" algn="l"/>
              </a:tabLst>
            </a:pPr>
            <a:r>
              <a:rPr lang="en-CA" dirty="0"/>
              <a:t>Take the same workloads and profiling methodology and run them on real edge-computing hardware to understand how the workload behaves under different hardware architectures and resource constraints. </a:t>
            </a:r>
          </a:p>
          <a:p>
            <a:pPr marL="12700" marR="5080">
              <a:lnSpc>
                <a:spcPct val="100800"/>
              </a:lnSpc>
              <a:spcBef>
                <a:spcPts val="1085"/>
              </a:spcBef>
              <a:tabLst>
                <a:tab pos="241300" algn="l"/>
              </a:tabLst>
            </a:pPr>
            <a:endParaRPr lang="en-CA" sz="1800" dirty="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  <a:spcBef>
                <a:spcPts val="1085"/>
              </a:spcBef>
              <a:tabLst>
                <a:tab pos="241300" algn="l"/>
              </a:tabLst>
            </a:pPr>
            <a:r>
              <a:rPr lang="en-CA" dirty="0">
                <a:latin typeface="Calibri"/>
                <a:cs typeface="Calibri"/>
              </a:rPr>
              <a:t>I will be using:</a:t>
            </a:r>
          </a:p>
          <a:p>
            <a:pPr marL="355600" marR="5080" indent="-342900">
              <a:lnSpc>
                <a:spcPct val="100800"/>
              </a:lnSpc>
              <a:spcBef>
                <a:spcPts val="1085"/>
              </a:spcBef>
              <a:buAutoNum type="arabicPeriod"/>
              <a:tabLst>
                <a:tab pos="241300" algn="l"/>
              </a:tabLst>
            </a:pPr>
            <a:r>
              <a:rPr lang="en-CA" dirty="0"/>
              <a:t>Jetson Orin Nano combines a 6-core Arm Cortex-A78AE CPU with an Ampere GPU</a:t>
            </a:r>
          </a:p>
          <a:p>
            <a:pPr marL="355600" marR="5080" indent="-342900">
              <a:lnSpc>
                <a:spcPct val="100800"/>
              </a:lnSpc>
              <a:spcBef>
                <a:spcPts val="1085"/>
              </a:spcBef>
              <a:buAutoNum type="arabicPeriod"/>
              <a:tabLst>
                <a:tab pos="241300" algn="l"/>
              </a:tabLst>
            </a:pPr>
            <a:r>
              <a:rPr lang="en-CA" dirty="0"/>
              <a:t> Pi 5 uses a quad-core Cortex-A76 CPU; </a:t>
            </a:r>
          </a:p>
          <a:p>
            <a:pPr marL="355600" marR="5080" indent="-342900">
              <a:lnSpc>
                <a:spcPct val="100800"/>
              </a:lnSpc>
              <a:spcBef>
                <a:spcPts val="1085"/>
              </a:spcBef>
              <a:buAutoNum type="arabicPeriod"/>
              <a:tabLst>
                <a:tab pos="241300" algn="l"/>
              </a:tabLst>
            </a:pPr>
            <a:r>
              <a:rPr lang="en-CA" dirty="0"/>
              <a:t>UNO Q combines a Cortex-A53 Linux processor with a Cortex-M33 microcontroller.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10" name="object 5" descr="$PPTXTitle">
            <a:extLst>
              <a:ext uri="{FF2B5EF4-FFF2-40B4-BE49-F238E27FC236}">
                <a16:creationId xmlns:a16="http://schemas.microsoft.com/office/drawing/2014/main" id="{A46FB71C-6C7B-B797-F0C0-5355138C95A7}"/>
              </a:ext>
            </a:extLst>
          </p:cNvPr>
          <p:cNvSpPr txBox="1">
            <a:spLocks/>
          </p:cNvSpPr>
          <p:nvPr/>
        </p:nvSpPr>
        <p:spPr>
          <a:xfrm>
            <a:off x="304800" y="297270"/>
            <a:ext cx="61722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5000" b="0" i="0">
                <a:solidFill>
                  <a:srgbClr val="3A4546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n-US" sz="1550" b="1" dirty="0">
                <a:solidFill>
                  <a:schemeClr val="bg1"/>
                </a:solidFill>
                <a:latin typeface="Arial"/>
                <a:cs typeface="Arial"/>
              </a:rPr>
              <a:t>AI</a:t>
            </a:r>
            <a:r>
              <a:rPr lang="en-US" sz="1550" b="1" spc="1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550" b="1" dirty="0">
                <a:solidFill>
                  <a:schemeClr val="bg1"/>
                </a:solidFill>
                <a:latin typeface="Arial"/>
                <a:cs typeface="Arial"/>
              </a:rPr>
              <a:t>WORKLOAD</a:t>
            </a:r>
            <a:r>
              <a:rPr lang="en-US" sz="1550" b="1" spc="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550" b="1" dirty="0">
                <a:solidFill>
                  <a:schemeClr val="bg1"/>
                </a:solidFill>
                <a:latin typeface="Arial"/>
                <a:cs typeface="Arial"/>
              </a:rPr>
              <a:t>PROFILING</a:t>
            </a:r>
            <a:r>
              <a:rPr lang="en-US" sz="1550" b="1" spc="1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550" b="1" dirty="0">
                <a:solidFill>
                  <a:schemeClr val="bg1"/>
                </a:solidFill>
                <a:latin typeface="Arial"/>
                <a:cs typeface="Arial"/>
              </a:rPr>
              <a:t>ON</a:t>
            </a:r>
            <a:r>
              <a:rPr lang="en-US" sz="1550" b="1" spc="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550" b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lang="en-US" sz="1550" b="1" spc="30" dirty="0">
                <a:solidFill>
                  <a:schemeClr val="bg1"/>
                </a:solidFill>
                <a:latin typeface="Arial"/>
                <a:cs typeface="Arial"/>
              </a:rPr>
              <a:t> PHYSICAL</a:t>
            </a:r>
            <a:r>
              <a:rPr lang="en-US" sz="1550" b="1" spc="1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550" b="1" spc="-20" dirty="0">
                <a:solidFill>
                  <a:schemeClr val="bg1"/>
                </a:solidFill>
                <a:latin typeface="Arial"/>
                <a:cs typeface="Arial"/>
              </a:rPr>
              <a:t>CORE</a:t>
            </a:r>
            <a:endParaRPr lang="en-US" sz="15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9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3048000"/>
            </a:xfrm>
            <a:custGeom>
              <a:avLst/>
              <a:gdLst/>
              <a:ahLst/>
              <a:cxnLst/>
              <a:rect l="l" t="t" r="r" b="b"/>
              <a:pathLst>
                <a:path w="12192000" h="3048000">
                  <a:moveTo>
                    <a:pt x="12192000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12192000" y="304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A4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60251" y="3052826"/>
              <a:ext cx="44450" cy="3805554"/>
            </a:xfrm>
            <a:custGeom>
              <a:avLst/>
              <a:gdLst/>
              <a:ahLst/>
              <a:cxnLst/>
              <a:rect l="l" t="t" r="r" b="b"/>
              <a:pathLst>
                <a:path w="44450" h="3805554">
                  <a:moveTo>
                    <a:pt x="44450" y="0"/>
                  </a:moveTo>
                  <a:lnTo>
                    <a:pt x="0" y="0"/>
                  </a:lnTo>
                  <a:lnTo>
                    <a:pt x="0" y="3805174"/>
                  </a:lnTo>
                  <a:lnTo>
                    <a:pt x="44450" y="3805174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3A4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682476" y="1033525"/>
              <a:ext cx="0" cy="2019300"/>
            </a:xfrm>
            <a:custGeom>
              <a:avLst/>
              <a:gdLst/>
              <a:ahLst/>
              <a:cxnLst/>
              <a:rect l="l" t="t" r="r" b="b"/>
              <a:pathLst>
                <a:path h="2019300">
                  <a:moveTo>
                    <a:pt x="0" y="2019173"/>
                  </a:moveTo>
                  <a:lnTo>
                    <a:pt x="0" y="0"/>
                  </a:lnTo>
                </a:path>
              </a:pathLst>
            </a:custGeom>
            <a:ln w="44450">
              <a:solidFill>
                <a:srgbClr val="ECE9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 marR="5080">
              <a:lnSpc>
                <a:spcPts val="4810"/>
              </a:lnSpc>
              <a:spcBef>
                <a:spcPts val="1280"/>
              </a:spcBef>
            </a:pPr>
            <a:r>
              <a:rPr dirty="0">
                <a:solidFill>
                  <a:srgbClr val="ECE9E6"/>
                </a:solidFill>
              </a:rPr>
              <a:t>BENCHMARKING</a:t>
            </a:r>
            <a:r>
              <a:rPr spc="-135" dirty="0">
                <a:solidFill>
                  <a:srgbClr val="ECE9E6"/>
                </a:solidFill>
              </a:rPr>
              <a:t> </a:t>
            </a:r>
            <a:r>
              <a:rPr dirty="0">
                <a:solidFill>
                  <a:srgbClr val="ECE9E6"/>
                </a:solidFill>
              </a:rPr>
              <a:t>WITH</a:t>
            </a:r>
            <a:r>
              <a:rPr spc="-125" dirty="0">
                <a:solidFill>
                  <a:srgbClr val="ECE9E6"/>
                </a:solidFill>
              </a:rPr>
              <a:t> </a:t>
            </a:r>
            <a:r>
              <a:rPr dirty="0">
                <a:solidFill>
                  <a:srgbClr val="ECE9E6"/>
                </a:solidFill>
              </a:rPr>
              <a:t>GEMM</a:t>
            </a:r>
            <a:r>
              <a:rPr spc="-145" dirty="0">
                <a:solidFill>
                  <a:srgbClr val="ECE9E6"/>
                </a:solidFill>
              </a:rPr>
              <a:t> </a:t>
            </a:r>
            <a:r>
              <a:rPr spc="-50" dirty="0">
                <a:solidFill>
                  <a:srgbClr val="ECE9E6"/>
                </a:solidFill>
              </a:rPr>
              <a:t>&amp; </a:t>
            </a:r>
            <a:r>
              <a:rPr spc="-30" dirty="0">
                <a:solidFill>
                  <a:srgbClr val="ECE9E6"/>
                </a:solidFill>
              </a:rPr>
              <a:t>SIMULATING</a:t>
            </a:r>
            <a:r>
              <a:rPr spc="-195" dirty="0">
                <a:solidFill>
                  <a:srgbClr val="ECE9E6"/>
                </a:solidFill>
              </a:rPr>
              <a:t> </a:t>
            </a:r>
            <a:r>
              <a:rPr dirty="0">
                <a:solidFill>
                  <a:srgbClr val="ECE9E6"/>
                </a:solidFill>
              </a:rPr>
              <a:t>WITH</a:t>
            </a:r>
            <a:r>
              <a:rPr spc="-160" dirty="0">
                <a:solidFill>
                  <a:srgbClr val="ECE9E6"/>
                </a:solidFill>
              </a:rPr>
              <a:t> </a:t>
            </a:r>
            <a:r>
              <a:rPr spc="-20" dirty="0">
                <a:solidFill>
                  <a:srgbClr val="ECE9E6"/>
                </a:solidFill>
              </a:rPr>
              <a:t>GEM5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615039" y="33553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ECE9E6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079428" y="3572095"/>
            <a:ext cx="2600960" cy="2453640"/>
            <a:chOff x="8079428" y="3572095"/>
            <a:chExt cx="2600960" cy="24536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0139" y="5009509"/>
              <a:ext cx="1179949" cy="101609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506612" y="3839078"/>
              <a:ext cx="1170305" cy="1067435"/>
            </a:xfrm>
            <a:custGeom>
              <a:avLst/>
              <a:gdLst/>
              <a:ahLst/>
              <a:cxnLst/>
              <a:rect l="l" t="t" r="r" b="b"/>
              <a:pathLst>
                <a:path w="1170304" h="1067435">
                  <a:moveTo>
                    <a:pt x="0" y="1067066"/>
                  </a:moveTo>
                  <a:lnTo>
                    <a:pt x="1170104" y="1067066"/>
                  </a:lnTo>
                  <a:lnTo>
                    <a:pt x="1170104" y="0"/>
                  </a:lnTo>
                  <a:lnTo>
                    <a:pt x="0" y="0"/>
                  </a:lnTo>
                  <a:lnTo>
                    <a:pt x="0" y="1067066"/>
                  </a:lnTo>
                  <a:close/>
                </a:path>
              </a:pathLst>
            </a:custGeom>
            <a:ln w="6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0111" y="5009527"/>
              <a:ext cx="1179940" cy="1016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823400" y="3839082"/>
              <a:ext cx="320040" cy="1067435"/>
            </a:xfrm>
            <a:custGeom>
              <a:avLst/>
              <a:gdLst/>
              <a:ahLst/>
              <a:cxnLst/>
              <a:rect l="l" t="t" r="r" b="b"/>
              <a:pathLst>
                <a:path w="320040" h="1067435">
                  <a:moveTo>
                    <a:pt x="319976" y="533577"/>
                  </a:moveTo>
                  <a:lnTo>
                    <a:pt x="0" y="533577"/>
                  </a:lnTo>
                  <a:lnTo>
                    <a:pt x="0" y="1067066"/>
                  </a:lnTo>
                  <a:lnTo>
                    <a:pt x="319976" y="1067066"/>
                  </a:lnTo>
                  <a:lnTo>
                    <a:pt x="319976" y="533577"/>
                  </a:lnTo>
                  <a:close/>
                </a:path>
                <a:path w="320040" h="1067435">
                  <a:moveTo>
                    <a:pt x="319976" y="0"/>
                  </a:moveTo>
                  <a:lnTo>
                    <a:pt x="0" y="0"/>
                  </a:lnTo>
                  <a:lnTo>
                    <a:pt x="0" y="373519"/>
                  </a:lnTo>
                  <a:lnTo>
                    <a:pt x="319976" y="373519"/>
                  </a:lnTo>
                  <a:lnTo>
                    <a:pt x="319976" y="0"/>
                  </a:lnTo>
                  <a:close/>
                </a:path>
              </a:pathLst>
            </a:custGeom>
            <a:solidFill>
              <a:srgbClr val="FFF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823402" y="3839078"/>
              <a:ext cx="320040" cy="1067435"/>
            </a:xfrm>
            <a:custGeom>
              <a:avLst/>
              <a:gdLst/>
              <a:ahLst/>
              <a:cxnLst/>
              <a:rect l="l" t="t" r="r" b="b"/>
              <a:pathLst>
                <a:path w="320040" h="1067435">
                  <a:moveTo>
                    <a:pt x="0" y="1067066"/>
                  </a:moveTo>
                  <a:lnTo>
                    <a:pt x="319986" y="1067066"/>
                  </a:lnTo>
                  <a:lnTo>
                    <a:pt x="319985" y="0"/>
                  </a:lnTo>
                  <a:lnTo>
                    <a:pt x="0" y="0"/>
                  </a:lnTo>
                  <a:lnTo>
                    <a:pt x="0" y="1067066"/>
                  </a:lnTo>
                  <a:close/>
                </a:path>
              </a:pathLst>
            </a:custGeom>
            <a:ln w="66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823402" y="4212595"/>
              <a:ext cx="320040" cy="160655"/>
            </a:xfrm>
            <a:custGeom>
              <a:avLst/>
              <a:gdLst/>
              <a:ahLst/>
              <a:cxnLst/>
              <a:rect l="l" t="t" r="r" b="b"/>
              <a:pathLst>
                <a:path w="320040" h="160654">
                  <a:moveTo>
                    <a:pt x="319985" y="0"/>
                  </a:moveTo>
                  <a:lnTo>
                    <a:pt x="0" y="0"/>
                  </a:lnTo>
                  <a:lnTo>
                    <a:pt x="0" y="160064"/>
                  </a:lnTo>
                  <a:lnTo>
                    <a:pt x="319986" y="160064"/>
                  </a:lnTo>
                  <a:lnTo>
                    <a:pt x="319985" y="0"/>
                  </a:lnTo>
                  <a:close/>
                </a:path>
              </a:pathLst>
            </a:custGeom>
            <a:solidFill>
              <a:srgbClr val="FFF4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23402" y="4212595"/>
              <a:ext cx="380365" cy="228600"/>
            </a:xfrm>
            <a:custGeom>
              <a:avLst/>
              <a:gdLst/>
              <a:ahLst/>
              <a:cxnLst/>
              <a:rect l="l" t="t" r="r" b="b"/>
              <a:pathLst>
                <a:path w="380365" h="228600">
                  <a:moveTo>
                    <a:pt x="0" y="160064"/>
                  </a:moveTo>
                  <a:lnTo>
                    <a:pt x="319986" y="160064"/>
                  </a:lnTo>
                  <a:lnTo>
                    <a:pt x="319985" y="0"/>
                  </a:lnTo>
                  <a:lnTo>
                    <a:pt x="0" y="0"/>
                  </a:lnTo>
                  <a:lnTo>
                    <a:pt x="0" y="160064"/>
                  </a:lnTo>
                  <a:close/>
                </a:path>
                <a:path w="380365" h="228600">
                  <a:moveTo>
                    <a:pt x="297973" y="187243"/>
                  </a:moveTo>
                  <a:lnTo>
                    <a:pt x="297973" y="192621"/>
                  </a:lnTo>
                  <a:lnTo>
                    <a:pt x="295766" y="197903"/>
                  </a:lnTo>
                  <a:lnTo>
                    <a:pt x="291926" y="201744"/>
                  </a:lnTo>
                  <a:lnTo>
                    <a:pt x="288086" y="205586"/>
                  </a:lnTo>
                  <a:lnTo>
                    <a:pt x="282806" y="207795"/>
                  </a:lnTo>
                  <a:lnTo>
                    <a:pt x="277334" y="207795"/>
                  </a:lnTo>
                  <a:lnTo>
                    <a:pt x="180569" y="207795"/>
                  </a:lnTo>
                  <a:lnTo>
                    <a:pt x="172581" y="209412"/>
                  </a:lnTo>
                  <a:lnTo>
                    <a:pt x="166050" y="213821"/>
                  </a:lnTo>
                  <a:lnTo>
                    <a:pt x="161643" y="220355"/>
                  </a:lnTo>
                  <a:lnTo>
                    <a:pt x="160026" y="228347"/>
                  </a:lnTo>
                  <a:lnTo>
                    <a:pt x="158408" y="220355"/>
                  </a:lnTo>
                  <a:lnTo>
                    <a:pt x="153990" y="213821"/>
                  </a:lnTo>
                  <a:lnTo>
                    <a:pt x="147431" y="209412"/>
                  </a:lnTo>
                  <a:lnTo>
                    <a:pt x="139387" y="207795"/>
                  </a:lnTo>
                  <a:lnTo>
                    <a:pt x="42622" y="207795"/>
                  </a:lnTo>
                  <a:lnTo>
                    <a:pt x="34633" y="206177"/>
                  </a:lnTo>
                  <a:lnTo>
                    <a:pt x="28103" y="201768"/>
                  </a:lnTo>
                  <a:lnTo>
                    <a:pt x="23696" y="195235"/>
                  </a:lnTo>
                  <a:lnTo>
                    <a:pt x="22079" y="187243"/>
                  </a:lnTo>
                </a:path>
                <a:path w="380365" h="228600">
                  <a:moveTo>
                    <a:pt x="341556" y="547"/>
                  </a:moveTo>
                  <a:lnTo>
                    <a:pt x="346644" y="547"/>
                  </a:lnTo>
                  <a:lnTo>
                    <a:pt x="351540" y="2660"/>
                  </a:lnTo>
                  <a:lnTo>
                    <a:pt x="355092" y="6213"/>
                  </a:lnTo>
                  <a:lnTo>
                    <a:pt x="358739" y="9862"/>
                  </a:lnTo>
                  <a:lnTo>
                    <a:pt x="360755" y="14760"/>
                  </a:lnTo>
                  <a:lnTo>
                    <a:pt x="360755" y="19850"/>
                  </a:lnTo>
                  <a:lnTo>
                    <a:pt x="360755" y="60762"/>
                  </a:lnTo>
                  <a:lnTo>
                    <a:pt x="362257" y="68260"/>
                  </a:lnTo>
                  <a:lnTo>
                    <a:pt x="366359" y="74363"/>
                  </a:lnTo>
                  <a:lnTo>
                    <a:pt x="372459" y="78467"/>
                  </a:lnTo>
                  <a:lnTo>
                    <a:pt x="379955" y="79969"/>
                  </a:lnTo>
                  <a:lnTo>
                    <a:pt x="372459" y="81485"/>
                  </a:lnTo>
                  <a:lnTo>
                    <a:pt x="366359" y="85612"/>
                  </a:lnTo>
                  <a:lnTo>
                    <a:pt x="362257" y="91719"/>
                  </a:lnTo>
                  <a:lnTo>
                    <a:pt x="360755" y="99177"/>
                  </a:lnTo>
                  <a:lnTo>
                    <a:pt x="360755" y="140185"/>
                  </a:lnTo>
                  <a:lnTo>
                    <a:pt x="359240" y="147643"/>
                  </a:lnTo>
                  <a:lnTo>
                    <a:pt x="355116" y="153750"/>
                  </a:lnTo>
                  <a:lnTo>
                    <a:pt x="349011" y="157877"/>
                  </a:lnTo>
                  <a:lnTo>
                    <a:pt x="341556" y="159392"/>
                  </a:lnTo>
                </a:path>
              </a:pathLst>
            </a:custGeom>
            <a:ln w="6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7787" y="3883831"/>
              <a:ext cx="65181" cy="7644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915741" y="3883837"/>
              <a:ext cx="728345" cy="648335"/>
            </a:xfrm>
            <a:custGeom>
              <a:avLst/>
              <a:gdLst/>
              <a:ahLst/>
              <a:cxnLst/>
              <a:rect l="l" t="t" r="r" b="b"/>
              <a:pathLst>
                <a:path w="728345" h="648335">
                  <a:moveTo>
                    <a:pt x="50304" y="596201"/>
                  </a:moveTo>
                  <a:lnTo>
                    <a:pt x="43776" y="596201"/>
                  </a:lnTo>
                  <a:lnTo>
                    <a:pt x="37541" y="626071"/>
                  </a:lnTo>
                  <a:lnTo>
                    <a:pt x="36576" y="630580"/>
                  </a:lnTo>
                  <a:lnTo>
                    <a:pt x="35814" y="635000"/>
                  </a:lnTo>
                  <a:lnTo>
                    <a:pt x="35140" y="639318"/>
                  </a:lnTo>
                  <a:lnTo>
                    <a:pt x="33985" y="635381"/>
                  </a:lnTo>
                  <a:lnTo>
                    <a:pt x="32156" y="629907"/>
                  </a:lnTo>
                  <a:lnTo>
                    <a:pt x="30670" y="626071"/>
                  </a:lnTo>
                  <a:lnTo>
                    <a:pt x="28511" y="621068"/>
                  </a:lnTo>
                  <a:lnTo>
                    <a:pt x="25831" y="615213"/>
                  </a:lnTo>
                  <a:lnTo>
                    <a:pt x="20739" y="603885"/>
                  </a:lnTo>
                  <a:lnTo>
                    <a:pt x="17284" y="596201"/>
                  </a:lnTo>
                  <a:lnTo>
                    <a:pt x="10756" y="596201"/>
                  </a:lnTo>
                  <a:lnTo>
                    <a:pt x="0" y="647001"/>
                  </a:lnTo>
                  <a:lnTo>
                    <a:pt x="6718" y="647001"/>
                  </a:lnTo>
                  <a:lnTo>
                    <a:pt x="14693" y="607822"/>
                  </a:lnTo>
                  <a:lnTo>
                    <a:pt x="15176" y="603885"/>
                  </a:lnTo>
                  <a:lnTo>
                    <a:pt x="16421" y="607822"/>
                  </a:lnTo>
                  <a:lnTo>
                    <a:pt x="18148" y="612432"/>
                  </a:lnTo>
                  <a:lnTo>
                    <a:pt x="20358" y="617613"/>
                  </a:lnTo>
                  <a:lnTo>
                    <a:pt x="33032" y="647001"/>
                  </a:lnTo>
                  <a:lnTo>
                    <a:pt x="39751" y="647001"/>
                  </a:lnTo>
                  <a:lnTo>
                    <a:pt x="41338" y="639318"/>
                  </a:lnTo>
                  <a:lnTo>
                    <a:pt x="50304" y="596201"/>
                  </a:lnTo>
                  <a:close/>
                </a:path>
                <a:path w="728345" h="648335">
                  <a:moveTo>
                    <a:pt x="70751" y="610120"/>
                  </a:moveTo>
                  <a:lnTo>
                    <a:pt x="64604" y="610120"/>
                  </a:lnTo>
                  <a:lnTo>
                    <a:pt x="67398" y="596773"/>
                  </a:lnTo>
                  <a:lnTo>
                    <a:pt x="60198" y="601091"/>
                  </a:lnTo>
                  <a:lnTo>
                    <a:pt x="58267" y="610120"/>
                  </a:lnTo>
                  <a:lnTo>
                    <a:pt x="53276" y="610120"/>
                  </a:lnTo>
                  <a:lnTo>
                    <a:pt x="52324" y="615022"/>
                  </a:lnTo>
                  <a:lnTo>
                    <a:pt x="57315" y="615022"/>
                  </a:lnTo>
                  <a:lnTo>
                    <a:pt x="52806" y="636435"/>
                  </a:lnTo>
                  <a:lnTo>
                    <a:pt x="52133" y="639318"/>
                  </a:lnTo>
                  <a:lnTo>
                    <a:pt x="51904" y="640854"/>
                  </a:lnTo>
                  <a:lnTo>
                    <a:pt x="51841" y="643636"/>
                  </a:lnTo>
                  <a:lnTo>
                    <a:pt x="52412" y="644893"/>
                  </a:lnTo>
                  <a:lnTo>
                    <a:pt x="53568" y="645756"/>
                  </a:lnTo>
                  <a:lnTo>
                    <a:pt x="55003" y="647001"/>
                  </a:lnTo>
                  <a:lnTo>
                    <a:pt x="57023" y="647674"/>
                  </a:lnTo>
                  <a:lnTo>
                    <a:pt x="60960" y="647674"/>
                  </a:lnTo>
                  <a:lnTo>
                    <a:pt x="62407" y="647484"/>
                  </a:lnTo>
                  <a:lnTo>
                    <a:pt x="63931" y="647001"/>
                  </a:lnTo>
                  <a:lnTo>
                    <a:pt x="64897" y="642391"/>
                  </a:lnTo>
                  <a:lnTo>
                    <a:pt x="64998" y="641908"/>
                  </a:lnTo>
                  <a:lnTo>
                    <a:pt x="63842" y="642200"/>
                  </a:lnTo>
                  <a:lnTo>
                    <a:pt x="62598" y="642391"/>
                  </a:lnTo>
                  <a:lnTo>
                    <a:pt x="60286" y="642391"/>
                  </a:lnTo>
                  <a:lnTo>
                    <a:pt x="59613" y="642200"/>
                  </a:lnTo>
                  <a:lnTo>
                    <a:pt x="59258" y="641908"/>
                  </a:lnTo>
                  <a:lnTo>
                    <a:pt x="58750" y="641426"/>
                  </a:lnTo>
                  <a:lnTo>
                    <a:pt x="58559" y="640854"/>
                  </a:lnTo>
                  <a:lnTo>
                    <a:pt x="58597" y="639318"/>
                  </a:lnTo>
                  <a:lnTo>
                    <a:pt x="58750" y="637971"/>
                  </a:lnTo>
                  <a:lnTo>
                    <a:pt x="59232" y="635381"/>
                  </a:lnTo>
                  <a:lnTo>
                    <a:pt x="63550" y="615022"/>
                  </a:lnTo>
                  <a:lnTo>
                    <a:pt x="69697" y="615022"/>
                  </a:lnTo>
                  <a:lnTo>
                    <a:pt x="70751" y="610120"/>
                  </a:lnTo>
                  <a:close/>
                </a:path>
                <a:path w="728345" h="648335">
                  <a:moveTo>
                    <a:pt x="83807" y="610120"/>
                  </a:moveTo>
                  <a:lnTo>
                    <a:pt x="77470" y="610120"/>
                  </a:lnTo>
                  <a:lnTo>
                    <a:pt x="69697" y="647001"/>
                  </a:lnTo>
                  <a:lnTo>
                    <a:pt x="76034" y="647001"/>
                  </a:lnTo>
                  <a:lnTo>
                    <a:pt x="83807" y="610120"/>
                  </a:lnTo>
                  <a:close/>
                </a:path>
                <a:path w="728345" h="648335">
                  <a:moveTo>
                    <a:pt x="86588" y="596201"/>
                  </a:moveTo>
                  <a:lnTo>
                    <a:pt x="80454" y="596201"/>
                  </a:lnTo>
                  <a:lnTo>
                    <a:pt x="78917" y="603300"/>
                  </a:lnTo>
                  <a:lnTo>
                    <a:pt x="85153" y="603300"/>
                  </a:lnTo>
                  <a:lnTo>
                    <a:pt x="86474" y="596773"/>
                  </a:lnTo>
                  <a:lnTo>
                    <a:pt x="86588" y="596201"/>
                  </a:lnTo>
                  <a:close/>
                </a:path>
                <a:path w="728345" h="648335">
                  <a:moveTo>
                    <a:pt x="102146" y="596201"/>
                  </a:moveTo>
                  <a:lnTo>
                    <a:pt x="95910" y="596201"/>
                  </a:lnTo>
                  <a:lnTo>
                    <a:pt x="85344" y="647001"/>
                  </a:lnTo>
                  <a:lnTo>
                    <a:pt x="91579" y="647001"/>
                  </a:lnTo>
                  <a:lnTo>
                    <a:pt x="102019" y="596773"/>
                  </a:lnTo>
                  <a:lnTo>
                    <a:pt x="102146" y="596201"/>
                  </a:lnTo>
                  <a:close/>
                </a:path>
                <a:path w="728345" h="648335">
                  <a:moveTo>
                    <a:pt x="136994" y="619925"/>
                  </a:moveTo>
                  <a:lnTo>
                    <a:pt x="135737" y="616178"/>
                  </a:lnTo>
                  <a:lnTo>
                    <a:pt x="133819" y="614248"/>
                  </a:lnTo>
                  <a:lnTo>
                    <a:pt x="133057" y="613486"/>
                  </a:lnTo>
                  <a:lnTo>
                    <a:pt x="131038" y="611327"/>
                  </a:lnTo>
                  <a:lnTo>
                    <a:pt x="131038" y="625398"/>
                  </a:lnTo>
                  <a:lnTo>
                    <a:pt x="110299" y="625398"/>
                  </a:lnTo>
                  <a:lnTo>
                    <a:pt x="128638" y="616851"/>
                  </a:lnTo>
                  <a:lnTo>
                    <a:pt x="130276" y="618477"/>
                  </a:lnTo>
                  <a:lnTo>
                    <a:pt x="130949" y="620585"/>
                  </a:lnTo>
                  <a:lnTo>
                    <a:pt x="131038" y="625398"/>
                  </a:lnTo>
                  <a:lnTo>
                    <a:pt x="131038" y="611327"/>
                  </a:lnTo>
                  <a:lnTo>
                    <a:pt x="130467" y="610704"/>
                  </a:lnTo>
                  <a:lnTo>
                    <a:pt x="126911" y="609358"/>
                  </a:lnTo>
                  <a:lnTo>
                    <a:pt x="119037" y="609358"/>
                  </a:lnTo>
                  <a:lnTo>
                    <a:pt x="115874" y="610222"/>
                  </a:lnTo>
                  <a:lnTo>
                    <a:pt x="112890" y="612140"/>
                  </a:lnTo>
                  <a:lnTo>
                    <a:pt x="109918" y="613968"/>
                  </a:lnTo>
                  <a:lnTo>
                    <a:pt x="108013" y="616178"/>
                  </a:lnTo>
                  <a:lnTo>
                    <a:pt x="107480" y="616851"/>
                  </a:lnTo>
                  <a:lnTo>
                    <a:pt x="105702" y="620585"/>
                  </a:lnTo>
                  <a:lnTo>
                    <a:pt x="103771" y="624332"/>
                  </a:lnTo>
                  <a:lnTo>
                    <a:pt x="102819" y="628269"/>
                  </a:lnTo>
                  <a:lnTo>
                    <a:pt x="102882" y="635571"/>
                  </a:lnTo>
                  <a:lnTo>
                    <a:pt x="103276" y="637209"/>
                  </a:lnTo>
                  <a:lnTo>
                    <a:pt x="109829" y="645947"/>
                  </a:lnTo>
                  <a:lnTo>
                    <a:pt x="112128" y="647293"/>
                  </a:lnTo>
                  <a:lnTo>
                    <a:pt x="114630" y="647865"/>
                  </a:lnTo>
                  <a:lnTo>
                    <a:pt x="121729" y="647865"/>
                  </a:lnTo>
                  <a:lnTo>
                    <a:pt x="125476" y="646518"/>
                  </a:lnTo>
                  <a:lnTo>
                    <a:pt x="128549" y="643826"/>
                  </a:lnTo>
                  <a:lnTo>
                    <a:pt x="129667" y="642874"/>
                  </a:lnTo>
                  <a:lnTo>
                    <a:pt x="131813" y="641045"/>
                  </a:lnTo>
                  <a:lnTo>
                    <a:pt x="133819" y="638162"/>
                  </a:lnTo>
                  <a:lnTo>
                    <a:pt x="134581" y="635571"/>
                  </a:lnTo>
                  <a:lnTo>
                    <a:pt x="134658" y="635279"/>
                  </a:lnTo>
                  <a:lnTo>
                    <a:pt x="135559" y="635279"/>
                  </a:lnTo>
                  <a:lnTo>
                    <a:pt x="128549" y="634517"/>
                  </a:lnTo>
                  <a:lnTo>
                    <a:pt x="127482" y="637209"/>
                  </a:lnTo>
                  <a:lnTo>
                    <a:pt x="125857" y="639229"/>
                  </a:lnTo>
                  <a:lnTo>
                    <a:pt x="123748" y="640664"/>
                  </a:lnTo>
                  <a:lnTo>
                    <a:pt x="121729" y="642099"/>
                  </a:lnTo>
                  <a:lnTo>
                    <a:pt x="119316" y="642874"/>
                  </a:lnTo>
                  <a:lnTo>
                    <a:pt x="115290" y="642874"/>
                  </a:lnTo>
                  <a:lnTo>
                    <a:pt x="113182" y="641819"/>
                  </a:lnTo>
                  <a:lnTo>
                    <a:pt x="111645" y="640092"/>
                  </a:lnTo>
                  <a:lnTo>
                    <a:pt x="110020" y="638162"/>
                  </a:lnTo>
                  <a:lnTo>
                    <a:pt x="109245" y="635571"/>
                  </a:lnTo>
                  <a:lnTo>
                    <a:pt x="109245" y="630872"/>
                  </a:lnTo>
                  <a:lnTo>
                    <a:pt x="109435" y="630199"/>
                  </a:lnTo>
                  <a:lnTo>
                    <a:pt x="136512" y="630199"/>
                  </a:lnTo>
                  <a:lnTo>
                    <a:pt x="136804" y="628269"/>
                  </a:lnTo>
                  <a:lnTo>
                    <a:pt x="136994" y="626452"/>
                  </a:lnTo>
                  <a:lnTo>
                    <a:pt x="136994" y="625398"/>
                  </a:lnTo>
                  <a:lnTo>
                    <a:pt x="136994" y="619925"/>
                  </a:lnTo>
                  <a:close/>
                </a:path>
                <a:path w="728345" h="648335">
                  <a:moveTo>
                    <a:pt x="381393" y="389724"/>
                  </a:moveTo>
                  <a:lnTo>
                    <a:pt x="371805" y="389724"/>
                  </a:lnTo>
                  <a:lnTo>
                    <a:pt x="344246" y="414210"/>
                  </a:lnTo>
                  <a:lnTo>
                    <a:pt x="349123" y="390296"/>
                  </a:lnTo>
                  <a:lnTo>
                    <a:pt x="349237" y="389724"/>
                  </a:lnTo>
                  <a:lnTo>
                    <a:pt x="342430" y="389724"/>
                  </a:lnTo>
                  <a:lnTo>
                    <a:pt x="331863" y="440524"/>
                  </a:lnTo>
                  <a:lnTo>
                    <a:pt x="338683" y="440524"/>
                  </a:lnTo>
                  <a:lnTo>
                    <a:pt x="342138" y="424002"/>
                  </a:lnTo>
                  <a:lnTo>
                    <a:pt x="352793" y="414782"/>
                  </a:lnTo>
                  <a:lnTo>
                    <a:pt x="367474" y="440524"/>
                  </a:lnTo>
                  <a:lnTo>
                    <a:pt x="375069" y="440524"/>
                  </a:lnTo>
                  <a:lnTo>
                    <a:pt x="360273" y="414782"/>
                  </a:lnTo>
                  <a:lnTo>
                    <a:pt x="359930" y="414210"/>
                  </a:lnTo>
                  <a:lnTo>
                    <a:pt x="357784" y="410464"/>
                  </a:lnTo>
                  <a:lnTo>
                    <a:pt x="381393" y="389724"/>
                  </a:lnTo>
                  <a:close/>
                </a:path>
                <a:path w="728345" h="648335">
                  <a:moveTo>
                    <a:pt x="398868" y="403644"/>
                  </a:moveTo>
                  <a:lnTo>
                    <a:pt x="392722" y="403644"/>
                  </a:lnTo>
                  <a:lnTo>
                    <a:pt x="395605" y="390296"/>
                  </a:lnTo>
                  <a:lnTo>
                    <a:pt x="388404" y="394614"/>
                  </a:lnTo>
                  <a:lnTo>
                    <a:pt x="386486" y="403644"/>
                  </a:lnTo>
                  <a:lnTo>
                    <a:pt x="381495" y="403644"/>
                  </a:lnTo>
                  <a:lnTo>
                    <a:pt x="380441" y="408546"/>
                  </a:lnTo>
                  <a:lnTo>
                    <a:pt x="385432" y="408546"/>
                  </a:lnTo>
                  <a:lnTo>
                    <a:pt x="381012" y="429958"/>
                  </a:lnTo>
                  <a:lnTo>
                    <a:pt x="380339" y="432841"/>
                  </a:lnTo>
                  <a:lnTo>
                    <a:pt x="380111" y="434378"/>
                  </a:lnTo>
                  <a:lnTo>
                    <a:pt x="380060" y="437159"/>
                  </a:lnTo>
                  <a:lnTo>
                    <a:pt x="380631" y="438404"/>
                  </a:lnTo>
                  <a:lnTo>
                    <a:pt x="383222" y="440524"/>
                  </a:lnTo>
                  <a:lnTo>
                    <a:pt x="385241" y="441198"/>
                  </a:lnTo>
                  <a:lnTo>
                    <a:pt x="389178" y="441198"/>
                  </a:lnTo>
                  <a:lnTo>
                    <a:pt x="390613" y="441007"/>
                  </a:lnTo>
                  <a:lnTo>
                    <a:pt x="392150" y="440524"/>
                  </a:lnTo>
                  <a:lnTo>
                    <a:pt x="393141" y="435724"/>
                  </a:lnTo>
                  <a:lnTo>
                    <a:pt x="393204" y="435432"/>
                  </a:lnTo>
                  <a:lnTo>
                    <a:pt x="392049" y="435724"/>
                  </a:lnTo>
                  <a:lnTo>
                    <a:pt x="387731" y="435724"/>
                  </a:lnTo>
                  <a:lnTo>
                    <a:pt x="387451" y="435432"/>
                  </a:lnTo>
                  <a:lnTo>
                    <a:pt x="386867" y="434949"/>
                  </a:lnTo>
                  <a:lnTo>
                    <a:pt x="386676" y="434378"/>
                  </a:lnTo>
                  <a:lnTo>
                    <a:pt x="386727" y="432841"/>
                  </a:lnTo>
                  <a:lnTo>
                    <a:pt x="387451" y="428904"/>
                  </a:lnTo>
                  <a:lnTo>
                    <a:pt x="391668" y="408546"/>
                  </a:lnTo>
                  <a:lnTo>
                    <a:pt x="397814" y="408546"/>
                  </a:lnTo>
                  <a:lnTo>
                    <a:pt x="398868" y="403644"/>
                  </a:lnTo>
                  <a:close/>
                </a:path>
                <a:path w="728345" h="648335">
                  <a:moveTo>
                    <a:pt x="411924" y="403644"/>
                  </a:moveTo>
                  <a:lnTo>
                    <a:pt x="405587" y="403644"/>
                  </a:lnTo>
                  <a:lnTo>
                    <a:pt x="397916" y="440524"/>
                  </a:lnTo>
                  <a:lnTo>
                    <a:pt x="404241" y="440524"/>
                  </a:lnTo>
                  <a:lnTo>
                    <a:pt x="411924" y="403644"/>
                  </a:lnTo>
                  <a:close/>
                </a:path>
                <a:path w="728345" h="648335">
                  <a:moveTo>
                    <a:pt x="414807" y="389724"/>
                  </a:moveTo>
                  <a:lnTo>
                    <a:pt x="408660" y="389724"/>
                  </a:lnTo>
                  <a:lnTo>
                    <a:pt x="407035" y="396824"/>
                  </a:lnTo>
                  <a:lnTo>
                    <a:pt x="413359" y="396824"/>
                  </a:lnTo>
                  <a:lnTo>
                    <a:pt x="414693" y="390296"/>
                  </a:lnTo>
                  <a:lnTo>
                    <a:pt x="414807" y="389724"/>
                  </a:lnTo>
                  <a:close/>
                </a:path>
                <a:path w="728345" h="648335">
                  <a:moveTo>
                    <a:pt x="430352" y="389724"/>
                  </a:moveTo>
                  <a:lnTo>
                    <a:pt x="424116" y="389724"/>
                  </a:lnTo>
                  <a:lnTo>
                    <a:pt x="413461" y="440524"/>
                  </a:lnTo>
                  <a:lnTo>
                    <a:pt x="419696" y="440524"/>
                  </a:lnTo>
                  <a:lnTo>
                    <a:pt x="430237" y="390296"/>
                  </a:lnTo>
                  <a:lnTo>
                    <a:pt x="430352" y="389724"/>
                  </a:lnTo>
                  <a:close/>
                </a:path>
                <a:path w="728345" h="648335">
                  <a:moveTo>
                    <a:pt x="465201" y="413435"/>
                  </a:moveTo>
                  <a:lnTo>
                    <a:pt x="463854" y="409689"/>
                  </a:lnTo>
                  <a:lnTo>
                    <a:pt x="462013" y="407771"/>
                  </a:lnTo>
                  <a:lnTo>
                    <a:pt x="459257" y="404914"/>
                  </a:lnTo>
                  <a:lnTo>
                    <a:pt x="459257" y="418909"/>
                  </a:lnTo>
                  <a:lnTo>
                    <a:pt x="438518" y="418909"/>
                  </a:lnTo>
                  <a:lnTo>
                    <a:pt x="439674" y="415163"/>
                  </a:lnTo>
                  <a:lnTo>
                    <a:pt x="441299" y="412381"/>
                  </a:lnTo>
                  <a:lnTo>
                    <a:pt x="445617" y="408635"/>
                  </a:lnTo>
                  <a:lnTo>
                    <a:pt x="448119" y="407771"/>
                  </a:lnTo>
                  <a:lnTo>
                    <a:pt x="453301" y="407771"/>
                  </a:lnTo>
                  <a:lnTo>
                    <a:pt x="455320" y="408635"/>
                  </a:lnTo>
                  <a:lnTo>
                    <a:pt x="456857" y="410362"/>
                  </a:lnTo>
                  <a:lnTo>
                    <a:pt x="458482" y="412000"/>
                  </a:lnTo>
                  <a:lnTo>
                    <a:pt x="459155" y="414108"/>
                  </a:lnTo>
                  <a:lnTo>
                    <a:pt x="459257" y="418909"/>
                  </a:lnTo>
                  <a:lnTo>
                    <a:pt x="459257" y="404914"/>
                  </a:lnTo>
                  <a:lnTo>
                    <a:pt x="458584" y="404215"/>
                  </a:lnTo>
                  <a:lnTo>
                    <a:pt x="455129" y="402869"/>
                  </a:lnTo>
                  <a:lnTo>
                    <a:pt x="447255" y="402869"/>
                  </a:lnTo>
                  <a:lnTo>
                    <a:pt x="443992" y="403745"/>
                  </a:lnTo>
                  <a:lnTo>
                    <a:pt x="441007" y="405663"/>
                  </a:lnTo>
                  <a:lnTo>
                    <a:pt x="438137" y="407479"/>
                  </a:lnTo>
                  <a:lnTo>
                    <a:pt x="431025" y="421792"/>
                  </a:lnTo>
                  <a:lnTo>
                    <a:pt x="431088" y="429094"/>
                  </a:lnTo>
                  <a:lnTo>
                    <a:pt x="442836" y="441388"/>
                  </a:lnTo>
                  <a:lnTo>
                    <a:pt x="449846" y="441388"/>
                  </a:lnTo>
                  <a:lnTo>
                    <a:pt x="462788" y="429094"/>
                  </a:lnTo>
                  <a:lnTo>
                    <a:pt x="462876" y="428802"/>
                  </a:lnTo>
                  <a:lnTo>
                    <a:pt x="463778" y="428802"/>
                  </a:lnTo>
                  <a:lnTo>
                    <a:pt x="456755" y="428040"/>
                  </a:lnTo>
                  <a:lnTo>
                    <a:pt x="455599" y="430720"/>
                  </a:lnTo>
                  <a:lnTo>
                    <a:pt x="454063" y="432739"/>
                  </a:lnTo>
                  <a:lnTo>
                    <a:pt x="449846" y="435622"/>
                  </a:lnTo>
                  <a:lnTo>
                    <a:pt x="447433" y="436397"/>
                  </a:lnTo>
                  <a:lnTo>
                    <a:pt x="443509" y="436397"/>
                  </a:lnTo>
                  <a:lnTo>
                    <a:pt x="441401" y="435330"/>
                  </a:lnTo>
                  <a:lnTo>
                    <a:pt x="439762" y="433603"/>
                  </a:lnTo>
                  <a:lnTo>
                    <a:pt x="438226" y="431685"/>
                  </a:lnTo>
                  <a:lnTo>
                    <a:pt x="437362" y="429094"/>
                  </a:lnTo>
                  <a:lnTo>
                    <a:pt x="437464" y="424383"/>
                  </a:lnTo>
                  <a:lnTo>
                    <a:pt x="437553" y="423710"/>
                  </a:lnTo>
                  <a:lnTo>
                    <a:pt x="464629" y="423710"/>
                  </a:lnTo>
                  <a:lnTo>
                    <a:pt x="465010" y="421792"/>
                  </a:lnTo>
                  <a:lnTo>
                    <a:pt x="465201" y="419976"/>
                  </a:lnTo>
                  <a:lnTo>
                    <a:pt x="465201" y="418909"/>
                  </a:lnTo>
                  <a:lnTo>
                    <a:pt x="465201" y="413435"/>
                  </a:lnTo>
                  <a:close/>
                </a:path>
                <a:path w="728345" h="648335">
                  <a:moveTo>
                    <a:pt x="520115" y="76441"/>
                  </a:moveTo>
                  <a:lnTo>
                    <a:pt x="520014" y="31788"/>
                  </a:lnTo>
                  <a:lnTo>
                    <a:pt x="518769" y="27952"/>
                  </a:lnTo>
                  <a:lnTo>
                    <a:pt x="518579" y="27368"/>
                  </a:lnTo>
                  <a:lnTo>
                    <a:pt x="515607" y="24396"/>
                  </a:lnTo>
                  <a:lnTo>
                    <a:pt x="512724" y="21323"/>
                  </a:lnTo>
                  <a:lnTo>
                    <a:pt x="508495" y="19786"/>
                  </a:lnTo>
                  <a:lnTo>
                    <a:pt x="496023" y="19786"/>
                  </a:lnTo>
                  <a:lnTo>
                    <a:pt x="490359" y="23050"/>
                  </a:lnTo>
                  <a:lnTo>
                    <a:pt x="485940" y="29489"/>
                  </a:lnTo>
                  <a:lnTo>
                    <a:pt x="485406" y="27952"/>
                  </a:lnTo>
                  <a:lnTo>
                    <a:pt x="474421" y="19786"/>
                  </a:lnTo>
                  <a:lnTo>
                    <a:pt x="466648" y="19786"/>
                  </a:lnTo>
                  <a:lnTo>
                    <a:pt x="453707" y="28625"/>
                  </a:lnTo>
                  <a:lnTo>
                    <a:pt x="453593" y="28816"/>
                  </a:lnTo>
                  <a:lnTo>
                    <a:pt x="453593" y="21031"/>
                  </a:lnTo>
                  <a:lnTo>
                    <a:pt x="445236" y="21031"/>
                  </a:lnTo>
                  <a:lnTo>
                    <a:pt x="445236" y="76441"/>
                  </a:lnTo>
                  <a:lnTo>
                    <a:pt x="454647" y="76441"/>
                  </a:lnTo>
                  <a:lnTo>
                    <a:pt x="454647" y="42646"/>
                  </a:lnTo>
                  <a:lnTo>
                    <a:pt x="455129" y="38798"/>
                  </a:lnTo>
                  <a:lnTo>
                    <a:pt x="457136" y="33426"/>
                  </a:lnTo>
                  <a:lnTo>
                    <a:pt x="458774" y="31407"/>
                  </a:lnTo>
                  <a:lnTo>
                    <a:pt x="460984" y="30060"/>
                  </a:lnTo>
                  <a:lnTo>
                    <a:pt x="462889" y="28816"/>
                  </a:lnTo>
                  <a:lnTo>
                    <a:pt x="463181" y="28625"/>
                  </a:lnTo>
                  <a:lnTo>
                    <a:pt x="465582" y="27952"/>
                  </a:lnTo>
                  <a:lnTo>
                    <a:pt x="471728" y="27952"/>
                  </a:lnTo>
                  <a:lnTo>
                    <a:pt x="474230" y="29006"/>
                  </a:lnTo>
                  <a:lnTo>
                    <a:pt x="475767" y="31115"/>
                  </a:lnTo>
                  <a:lnTo>
                    <a:pt x="477304" y="33134"/>
                  </a:lnTo>
                  <a:lnTo>
                    <a:pt x="478066" y="36296"/>
                  </a:lnTo>
                  <a:lnTo>
                    <a:pt x="478066" y="76441"/>
                  </a:lnTo>
                  <a:lnTo>
                    <a:pt x="487375" y="76441"/>
                  </a:lnTo>
                  <a:lnTo>
                    <a:pt x="487375" y="38506"/>
                  </a:lnTo>
                  <a:lnTo>
                    <a:pt x="488721" y="34378"/>
                  </a:lnTo>
                  <a:lnTo>
                    <a:pt x="491223" y="31788"/>
                  </a:lnTo>
                  <a:lnTo>
                    <a:pt x="493522" y="29489"/>
                  </a:lnTo>
                  <a:lnTo>
                    <a:pt x="493814" y="29197"/>
                  </a:lnTo>
                  <a:lnTo>
                    <a:pt x="497078" y="27952"/>
                  </a:lnTo>
                  <a:lnTo>
                    <a:pt x="503123" y="27952"/>
                  </a:lnTo>
                  <a:lnTo>
                    <a:pt x="504952" y="28422"/>
                  </a:lnTo>
                  <a:lnTo>
                    <a:pt x="506577" y="29489"/>
                  </a:lnTo>
                  <a:lnTo>
                    <a:pt x="508215" y="30441"/>
                  </a:lnTo>
                  <a:lnTo>
                    <a:pt x="509270" y="31788"/>
                  </a:lnTo>
                  <a:lnTo>
                    <a:pt x="509816" y="33134"/>
                  </a:lnTo>
                  <a:lnTo>
                    <a:pt x="509943" y="33426"/>
                  </a:lnTo>
                  <a:lnTo>
                    <a:pt x="510514" y="35052"/>
                  </a:lnTo>
                  <a:lnTo>
                    <a:pt x="510806" y="37744"/>
                  </a:lnTo>
                  <a:lnTo>
                    <a:pt x="510806" y="76441"/>
                  </a:lnTo>
                  <a:lnTo>
                    <a:pt x="520115" y="76441"/>
                  </a:lnTo>
                  <a:close/>
                </a:path>
                <a:path w="728345" h="648335">
                  <a:moveTo>
                    <a:pt x="581748" y="76441"/>
                  </a:moveTo>
                  <a:lnTo>
                    <a:pt x="580796" y="74625"/>
                  </a:lnTo>
                  <a:lnTo>
                    <a:pt x="580694" y="74434"/>
                  </a:lnTo>
                  <a:lnTo>
                    <a:pt x="580593" y="74231"/>
                  </a:lnTo>
                  <a:lnTo>
                    <a:pt x="578866" y="48590"/>
                  </a:lnTo>
                  <a:lnTo>
                    <a:pt x="578764" y="34963"/>
                  </a:lnTo>
                  <a:lnTo>
                    <a:pt x="578675" y="33616"/>
                  </a:lnTo>
                  <a:lnTo>
                    <a:pt x="578548" y="32943"/>
                  </a:lnTo>
                  <a:lnTo>
                    <a:pt x="578434" y="32270"/>
                  </a:lnTo>
                  <a:lnTo>
                    <a:pt x="578383" y="31978"/>
                  </a:lnTo>
                  <a:lnTo>
                    <a:pt x="577913" y="29959"/>
                  </a:lnTo>
                  <a:lnTo>
                    <a:pt x="577811" y="29489"/>
                  </a:lnTo>
                  <a:lnTo>
                    <a:pt x="576973" y="27559"/>
                  </a:lnTo>
                  <a:lnTo>
                    <a:pt x="576846" y="27279"/>
                  </a:lnTo>
                  <a:lnTo>
                    <a:pt x="575411" y="25641"/>
                  </a:lnTo>
                  <a:lnTo>
                    <a:pt x="574065" y="24015"/>
                  </a:lnTo>
                  <a:lnTo>
                    <a:pt x="571855" y="22567"/>
                  </a:lnTo>
                  <a:lnTo>
                    <a:pt x="568883" y="21513"/>
                  </a:lnTo>
                  <a:lnTo>
                    <a:pt x="566153" y="20459"/>
                  </a:lnTo>
                  <a:lnTo>
                    <a:pt x="566534" y="20459"/>
                  </a:lnTo>
                  <a:lnTo>
                    <a:pt x="562165" y="19786"/>
                  </a:lnTo>
                  <a:lnTo>
                    <a:pt x="552653" y="19786"/>
                  </a:lnTo>
                  <a:lnTo>
                    <a:pt x="548525" y="20459"/>
                  </a:lnTo>
                  <a:lnTo>
                    <a:pt x="544880" y="21805"/>
                  </a:lnTo>
                  <a:lnTo>
                    <a:pt x="541324" y="23050"/>
                  </a:lnTo>
                  <a:lnTo>
                    <a:pt x="532561" y="36499"/>
                  </a:lnTo>
                  <a:lnTo>
                    <a:pt x="532498" y="36779"/>
                  </a:lnTo>
                  <a:lnTo>
                    <a:pt x="541718" y="38036"/>
                  </a:lnTo>
                  <a:lnTo>
                    <a:pt x="542671" y="34188"/>
                  </a:lnTo>
                  <a:lnTo>
                    <a:pt x="544207" y="31407"/>
                  </a:lnTo>
                  <a:lnTo>
                    <a:pt x="546227" y="29959"/>
                  </a:lnTo>
                  <a:lnTo>
                    <a:pt x="548436" y="28333"/>
                  </a:lnTo>
                  <a:lnTo>
                    <a:pt x="551700" y="27559"/>
                  </a:lnTo>
                  <a:lnTo>
                    <a:pt x="560819" y="27559"/>
                  </a:lnTo>
                  <a:lnTo>
                    <a:pt x="564362" y="28625"/>
                  </a:lnTo>
                  <a:lnTo>
                    <a:pt x="568490" y="32270"/>
                  </a:lnTo>
                  <a:lnTo>
                    <a:pt x="569366" y="34963"/>
                  </a:lnTo>
                  <a:lnTo>
                    <a:pt x="569366" y="41300"/>
                  </a:lnTo>
                  <a:lnTo>
                    <a:pt x="569366" y="48590"/>
                  </a:lnTo>
                  <a:lnTo>
                    <a:pt x="569290" y="56667"/>
                  </a:lnTo>
                  <a:lnTo>
                    <a:pt x="569010" y="58483"/>
                  </a:lnTo>
                  <a:lnTo>
                    <a:pt x="568921" y="59067"/>
                  </a:lnTo>
                  <a:lnTo>
                    <a:pt x="568883" y="59347"/>
                  </a:lnTo>
                  <a:lnTo>
                    <a:pt x="567829" y="61366"/>
                  </a:lnTo>
                  <a:lnTo>
                    <a:pt x="566572" y="63957"/>
                  </a:lnTo>
                  <a:lnTo>
                    <a:pt x="555637" y="70205"/>
                  </a:lnTo>
                  <a:lnTo>
                    <a:pt x="548335" y="70205"/>
                  </a:lnTo>
                  <a:lnTo>
                    <a:pt x="545985" y="69532"/>
                  </a:lnTo>
                  <a:lnTo>
                    <a:pt x="545757" y="69532"/>
                  </a:lnTo>
                  <a:lnTo>
                    <a:pt x="543636" y="67703"/>
                  </a:lnTo>
                  <a:lnTo>
                    <a:pt x="541807" y="66078"/>
                  </a:lnTo>
                  <a:lnTo>
                    <a:pt x="540931" y="64147"/>
                  </a:lnTo>
                  <a:lnTo>
                    <a:pt x="540854" y="59931"/>
                  </a:lnTo>
                  <a:lnTo>
                    <a:pt x="541235" y="58483"/>
                  </a:lnTo>
                  <a:lnTo>
                    <a:pt x="542099" y="57137"/>
                  </a:lnTo>
                  <a:lnTo>
                    <a:pt x="542963" y="55702"/>
                  </a:lnTo>
                  <a:lnTo>
                    <a:pt x="544207" y="54648"/>
                  </a:lnTo>
                  <a:lnTo>
                    <a:pt x="547471" y="53301"/>
                  </a:lnTo>
                  <a:lnTo>
                    <a:pt x="550164" y="52628"/>
                  </a:lnTo>
                  <a:lnTo>
                    <a:pt x="554101" y="52146"/>
                  </a:lnTo>
                  <a:lnTo>
                    <a:pt x="560908" y="51193"/>
                  </a:lnTo>
                  <a:lnTo>
                    <a:pt x="566000" y="49936"/>
                  </a:lnTo>
                  <a:lnTo>
                    <a:pt x="569366" y="48590"/>
                  </a:lnTo>
                  <a:lnTo>
                    <a:pt x="569366" y="41300"/>
                  </a:lnTo>
                  <a:lnTo>
                    <a:pt x="565810" y="42545"/>
                  </a:lnTo>
                  <a:lnTo>
                    <a:pt x="560146" y="43599"/>
                  </a:lnTo>
                  <a:lnTo>
                    <a:pt x="532688" y="54457"/>
                  </a:lnTo>
                  <a:lnTo>
                    <a:pt x="531444" y="56667"/>
                  </a:lnTo>
                  <a:lnTo>
                    <a:pt x="530860" y="59067"/>
                  </a:lnTo>
                  <a:lnTo>
                    <a:pt x="530860" y="66357"/>
                  </a:lnTo>
                  <a:lnTo>
                    <a:pt x="532498" y="70205"/>
                  </a:lnTo>
                  <a:lnTo>
                    <a:pt x="539026" y="76161"/>
                  </a:lnTo>
                  <a:lnTo>
                    <a:pt x="543725" y="77698"/>
                  </a:lnTo>
                  <a:lnTo>
                    <a:pt x="553516" y="77698"/>
                  </a:lnTo>
                  <a:lnTo>
                    <a:pt x="570128" y="69532"/>
                  </a:lnTo>
                  <a:lnTo>
                    <a:pt x="570420" y="72123"/>
                  </a:lnTo>
                  <a:lnTo>
                    <a:pt x="570941" y="74231"/>
                  </a:lnTo>
                  <a:lnTo>
                    <a:pt x="570992" y="74434"/>
                  </a:lnTo>
                  <a:lnTo>
                    <a:pt x="571957" y="76441"/>
                  </a:lnTo>
                  <a:lnTo>
                    <a:pt x="581748" y="76441"/>
                  </a:lnTo>
                  <a:close/>
                </a:path>
                <a:path w="728345" h="648335">
                  <a:moveTo>
                    <a:pt x="615149" y="76250"/>
                  </a:moveTo>
                  <a:lnTo>
                    <a:pt x="613854" y="68287"/>
                  </a:lnTo>
                  <a:lnTo>
                    <a:pt x="613803" y="67995"/>
                  </a:lnTo>
                  <a:lnTo>
                    <a:pt x="612178" y="68287"/>
                  </a:lnTo>
                  <a:lnTo>
                    <a:pt x="607428" y="68287"/>
                  </a:lnTo>
                  <a:lnTo>
                    <a:pt x="605739" y="67221"/>
                  </a:lnTo>
                  <a:lnTo>
                    <a:pt x="605167" y="66649"/>
                  </a:lnTo>
                  <a:lnTo>
                    <a:pt x="604596" y="65112"/>
                  </a:lnTo>
                  <a:lnTo>
                    <a:pt x="604393" y="63385"/>
                  </a:lnTo>
                  <a:lnTo>
                    <a:pt x="604393" y="28333"/>
                  </a:lnTo>
                  <a:lnTo>
                    <a:pt x="613803" y="28333"/>
                  </a:lnTo>
                  <a:lnTo>
                    <a:pt x="613803" y="21031"/>
                  </a:lnTo>
                  <a:lnTo>
                    <a:pt x="604393" y="21031"/>
                  </a:lnTo>
                  <a:lnTo>
                    <a:pt x="604393" y="1727"/>
                  </a:lnTo>
                  <a:lnTo>
                    <a:pt x="595083" y="7302"/>
                  </a:lnTo>
                  <a:lnTo>
                    <a:pt x="595083" y="21031"/>
                  </a:lnTo>
                  <a:lnTo>
                    <a:pt x="588175" y="21031"/>
                  </a:lnTo>
                  <a:lnTo>
                    <a:pt x="588175" y="28333"/>
                  </a:lnTo>
                  <a:lnTo>
                    <a:pt x="595083" y="28333"/>
                  </a:lnTo>
                  <a:lnTo>
                    <a:pt x="595172" y="66649"/>
                  </a:lnTo>
                  <a:lnTo>
                    <a:pt x="595477" y="69532"/>
                  </a:lnTo>
                  <a:lnTo>
                    <a:pt x="604685" y="77114"/>
                  </a:lnTo>
                  <a:lnTo>
                    <a:pt x="610158" y="77114"/>
                  </a:lnTo>
                  <a:lnTo>
                    <a:pt x="612559" y="76835"/>
                  </a:lnTo>
                  <a:lnTo>
                    <a:pt x="615149" y="76250"/>
                  </a:lnTo>
                  <a:close/>
                </a:path>
                <a:path w="728345" h="648335">
                  <a:moveTo>
                    <a:pt x="653122" y="22948"/>
                  </a:moveTo>
                  <a:lnTo>
                    <a:pt x="649706" y="20840"/>
                  </a:lnTo>
                  <a:lnTo>
                    <a:pt x="646442" y="19786"/>
                  </a:lnTo>
                  <a:lnTo>
                    <a:pt x="641172" y="19786"/>
                  </a:lnTo>
                  <a:lnTo>
                    <a:pt x="639152" y="20459"/>
                  </a:lnTo>
                  <a:lnTo>
                    <a:pt x="635508" y="22948"/>
                  </a:lnTo>
                  <a:lnTo>
                    <a:pt x="633488" y="25552"/>
                  </a:lnTo>
                  <a:lnTo>
                    <a:pt x="631380" y="29375"/>
                  </a:lnTo>
                  <a:lnTo>
                    <a:pt x="631380" y="21031"/>
                  </a:lnTo>
                  <a:lnTo>
                    <a:pt x="622922" y="21031"/>
                  </a:lnTo>
                  <a:lnTo>
                    <a:pt x="622922" y="76441"/>
                  </a:lnTo>
                  <a:lnTo>
                    <a:pt x="632333" y="76441"/>
                  </a:lnTo>
                  <a:lnTo>
                    <a:pt x="632333" y="43510"/>
                  </a:lnTo>
                  <a:lnTo>
                    <a:pt x="632815" y="39852"/>
                  </a:lnTo>
                  <a:lnTo>
                    <a:pt x="634542" y="34290"/>
                  </a:lnTo>
                  <a:lnTo>
                    <a:pt x="635698" y="32562"/>
                  </a:lnTo>
                  <a:lnTo>
                    <a:pt x="637184" y="31496"/>
                  </a:lnTo>
                  <a:lnTo>
                    <a:pt x="638962" y="30162"/>
                  </a:lnTo>
                  <a:lnTo>
                    <a:pt x="640778" y="29489"/>
                  </a:lnTo>
                  <a:lnTo>
                    <a:pt x="645096" y="29489"/>
                  </a:lnTo>
                  <a:lnTo>
                    <a:pt x="647407" y="30162"/>
                  </a:lnTo>
                  <a:lnTo>
                    <a:pt x="649706" y="31496"/>
                  </a:lnTo>
                  <a:lnTo>
                    <a:pt x="652932" y="22948"/>
                  </a:lnTo>
                  <a:lnTo>
                    <a:pt x="653122" y="22948"/>
                  </a:lnTo>
                  <a:close/>
                </a:path>
                <a:path w="728345" h="648335">
                  <a:moveTo>
                    <a:pt x="667943" y="21031"/>
                  </a:moveTo>
                  <a:lnTo>
                    <a:pt x="658545" y="21031"/>
                  </a:lnTo>
                  <a:lnTo>
                    <a:pt x="658545" y="76441"/>
                  </a:lnTo>
                  <a:lnTo>
                    <a:pt x="667943" y="76441"/>
                  </a:lnTo>
                  <a:lnTo>
                    <a:pt x="667943" y="21031"/>
                  </a:lnTo>
                  <a:close/>
                </a:path>
                <a:path w="728345" h="648335">
                  <a:moveTo>
                    <a:pt x="667943" y="0"/>
                  </a:moveTo>
                  <a:lnTo>
                    <a:pt x="658545" y="0"/>
                  </a:lnTo>
                  <a:lnTo>
                    <a:pt x="658545" y="10756"/>
                  </a:lnTo>
                  <a:lnTo>
                    <a:pt x="667943" y="10756"/>
                  </a:lnTo>
                  <a:lnTo>
                    <a:pt x="667943" y="0"/>
                  </a:lnTo>
                  <a:close/>
                </a:path>
                <a:path w="728345" h="648335">
                  <a:moveTo>
                    <a:pt x="727760" y="76441"/>
                  </a:moveTo>
                  <a:lnTo>
                    <a:pt x="712330" y="54546"/>
                  </a:lnTo>
                  <a:lnTo>
                    <a:pt x="707110" y="47155"/>
                  </a:lnTo>
                  <a:lnTo>
                    <a:pt x="712203" y="40246"/>
                  </a:lnTo>
                  <a:lnTo>
                    <a:pt x="726313" y="21031"/>
                  </a:lnTo>
                  <a:lnTo>
                    <a:pt x="715086" y="21031"/>
                  </a:lnTo>
                  <a:lnTo>
                    <a:pt x="705777" y="34099"/>
                  </a:lnTo>
                  <a:lnTo>
                    <a:pt x="704430" y="35915"/>
                  </a:lnTo>
                  <a:lnTo>
                    <a:pt x="701548" y="40246"/>
                  </a:lnTo>
                  <a:lnTo>
                    <a:pt x="700582" y="38608"/>
                  </a:lnTo>
                  <a:lnTo>
                    <a:pt x="699249" y="36499"/>
                  </a:lnTo>
                  <a:lnTo>
                    <a:pt x="697763" y="34099"/>
                  </a:lnTo>
                  <a:lnTo>
                    <a:pt x="689254" y="21031"/>
                  </a:lnTo>
                  <a:lnTo>
                    <a:pt x="677456" y="21031"/>
                  </a:lnTo>
                  <a:lnTo>
                    <a:pt x="696175" y="47637"/>
                  </a:lnTo>
                  <a:lnTo>
                    <a:pt x="676008" y="76441"/>
                  </a:lnTo>
                  <a:lnTo>
                    <a:pt x="687336" y="76441"/>
                  </a:lnTo>
                  <a:lnTo>
                    <a:pt x="701840" y="54546"/>
                  </a:lnTo>
                  <a:lnTo>
                    <a:pt x="704811" y="59156"/>
                  </a:lnTo>
                  <a:lnTo>
                    <a:pt x="716229" y="76441"/>
                  </a:lnTo>
                  <a:lnTo>
                    <a:pt x="727760" y="764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330134" y="3732381"/>
              <a:ext cx="2346960" cy="1227455"/>
            </a:xfrm>
            <a:custGeom>
              <a:avLst/>
              <a:gdLst/>
              <a:ahLst/>
              <a:cxnLst/>
              <a:rect l="l" t="t" r="r" b="b"/>
              <a:pathLst>
                <a:path w="2346959" h="1227454">
                  <a:moveTo>
                    <a:pt x="1119936" y="1173764"/>
                  </a:moveTo>
                  <a:lnTo>
                    <a:pt x="1093249" y="666880"/>
                  </a:lnTo>
                  <a:lnTo>
                    <a:pt x="1091159" y="656525"/>
                  </a:lnTo>
                  <a:lnTo>
                    <a:pt x="1085461" y="648069"/>
                  </a:lnTo>
                  <a:lnTo>
                    <a:pt x="1077009" y="642368"/>
                  </a:lnTo>
                  <a:lnTo>
                    <a:pt x="1066658" y="640278"/>
                  </a:lnTo>
                  <a:lnTo>
                    <a:pt x="1077009" y="638173"/>
                  </a:lnTo>
                  <a:lnTo>
                    <a:pt x="1085461" y="632439"/>
                  </a:lnTo>
                  <a:lnTo>
                    <a:pt x="1091159" y="623950"/>
                  </a:lnTo>
                  <a:lnTo>
                    <a:pt x="1093249" y="613580"/>
                  </a:lnTo>
                  <a:lnTo>
                    <a:pt x="1093249" y="133395"/>
                  </a:lnTo>
                  <a:lnTo>
                    <a:pt x="1095353" y="122984"/>
                  </a:lnTo>
                  <a:lnTo>
                    <a:pt x="1101084" y="114500"/>
                  </a:lnTo>
                  <a:lnTo>
                    <a:pt x="1109570" y="108788"/>
                  </a:lnTo>
                  <a:lnTo>
                    <a:pt x="1119936" y="106697"/>
                  </a:lnTo>
                </a:path>
                <a:path w="2346959" h="1227454">
                  <a:moveTo>
                    <a:pt x="0" y="1227160"/>
                  </a:moveTo>
                  <a:lnTo>
                    <a:pt x="2094" y="1216749"/>
                  </a:lnTo>
                  <a:lnTo>
                    <a:pt x="7806" y="1208265"/>
                  </a:lnTo>
                  <a:lnTo>
                    <a:pt x="16280" y="1202554"/>
                  </a:lnTo>
                  <a:lnTo>
                    <a:pt x="26658" y="1200462"/>
                  </a:lnTo>
                  <a:lnTo>
                    <a:pt x="506642" y="1200462"/>
                  </a:lnTo>
                  <a:lnTo>
                    <a:pt x="517025" y="1198370"/>
                  </a:lnTo>
                  <a:lnTo>
                    <a:pt x="525501" y="1192659"/>
                  </a:lnTo>
                  <a:lnTo>
                    <a:pt x="531215" y="1184175"/>
                  </a:lnTo>
                  <a:lnTo>
                    <a:pt x="533309" y="1173764"/>
                  </a:lnTo>
                  <a:lnTo>
                    <a:pt x="535406" y="1184175"/>
                  </a:lnTo>
                  <a:lnTo>
                    <a:pt x="541121" y="1192659"/>
                  </a:lnTo>
                  <a:lnTo>
                    <a:pt x="549598" y="1198370"/>
                  </a:lnTo>
                  <a:lnTo>
                    <a:pt x="559977" y="1200462"/>
                  </a:lnTo>
                  <a:lnTo>
                    <a:pt x="1039971" y="1200462"/>
                  </a:lnTo>
                  <a:lnTo>
                    <a:pt x="1050337" y="1202554"/>
                  </a:lnTo>
                  <a:lnTo>
                    <a:pt x="1058822" y="1208265"/>
                  </a:lnTo>
                  <a:lnTo>
                    <a:pt x="1064553" y="1216749"/>
                  </a:lnTo>
                  <a:lnTo>
                    <a:pt x="1066658" y="1227160"/>
                  </a:lnTo>
                </a:path>
                <a:path w="2346959" h="1227454">
                  <a:moveTo>
                    <a:pt x="1173310" y="53300"/>
                  </a:moveTo>
                  <a:lnTo>
                    <a:pt x="1733259" y="26698"/>
                  </a:lnTo>
                  <a:lnTo>
                    <a:pt x="1743666" y="24592"/>
                  </a:lnTo>
                  <a:lnTo>
                    <a:pt x="1752146" y="18859"/>
                  </a:lnTo>
                  <a:lnTo>
                    <a:pt x="1757855" y="10370"/>
                  </a:lnTo>
                  <a:lnTo>
                    <a:pt x="1759946" y="0"/>
                  </a:lnTo>
                  <a:lnTo>
                    <a:pt x="1762037" y="10370"/>
                  </a:lnTo>
                  <a:lnTo>
                    <a:pt x="1767746" y="18859"/>
                  </a:lnTo>
                  <a:lnTo>
                    <a:pt x="1776227" y="24592"/>
                  </a:lnTo>
                  <a:lnTo>
                    <a:pt x="1786633" y="26698"/>
                  </a:lnTo>
                  <a:lnTo>
                    <a:pt x="2319895" y="26698"/>
                  </a:lnTo>
                  <a:lnTo>
                    <a:pt x="2330302" y="28788"/>
                  </a:lnTo>
                  <a:lnTo>
                    <a:pt x="2338783" y="34489"/>
                  </a:lnTo>
                  <a:lnTo>
                    <a:pt x="2344491" y="42945"/>
                  </a:lnTo>
                  <a:lnTo>
                    <a:pt x="2346582" y="53300"/>
                  </a:lnTo>
                </a:path>
              </a:pathLst>
            </a:custGeom>
            <a:ln w="6667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835670" y="3572103"/>
              <a:ext cx="1284605" cy="1279525"/>
            </a:xfrm>
            <a:custGeom>
              <a:avLst/>
              <a:gdLst/>
              <a:ahLst/>
              <a:cxnLst/>
              <a:rect l="l" t="t" r="r" b="b"/>
              <a:pathLst>
                <a:path w="1284604" h="1279525">
                  <a:moveTo>
                    <a:pt x="63131" y="1279118"/>
                  </a:moveTo>
                  <a:lnTo>
                    <a:pt x="29692" y="1233690"/>
                  </a:lnTo>
                  <a:lnTo>
                    <a:pt x="61785" y="1202664"/>
                  </a:lnTo>
                  <a:lnTo>
                    <a:pt x="48031" y="1202664"/>
                  </a:lnTo>
                  <a:lnTo>
                    <a:pt x="10109" y="1240510"/>
                  </a:lnTo>
                  <a:lnTo>
                    <a:pt x="10109" y="1202664"/>
                  </a:lnTo>
                  <a:lnTo>
                    <a:pt x="0" y="1202664"/>
                  </a:lnTo>
                  <a:lnTo>
                    <a:pt x="0" y="1279118"/>
                  </a:lnTo>
                  <a:lnTo>
                    <a:pt x="10109" y="1279118"/>
                  </a:lnTo>
                  <a:lnTo>
                    <a:pt x="10109" y="1252613"/>
                  </a:lnTo>
                  <a:lnTo>
                    <a:pt x="22618" y="1240409"/>
                  </a:lnTo>
                  <a:lnTo>
                    <a:pt x="49796" y="1279118"/>
                  </a:lnTo>
                  <a:lnTo>
                    <a:pt x="63131" y="1279118"/>
                  </a:lnTo>
                  <a:close/>
                </a:path>
                <a:path w="1284604" h="1279525">
                  <a:moveTo>
                    <a:pt x="490651" y="839749"/>
                  </a:moveTo>
                  <a:lnTo>
                    <a:pt x="457250" y="794321"/>
                  </a:lnTo>
                  <a:lnTo>
                    <a:pt x="489305" y="763397"/>
                  </a:lnTo>
                  <a:lnTo>
                    <a:pt x="475589" y="763397"/>
                  </a:lnTo>
                  <a:lnTo>
                    <a:pt x="437667" y="801230"/>
                  </a:lnTo>
                  <a:lnTo>
                    <a:pt x="437667" y="763397"/>
                  </a:lnTo>
                  <a:lnTo>
                    <a:pt x="427583" y="763397"/>
                  </a:lnTo>
                  <a:lnTo>
                    <a:pt x="427583" y="839749"/>
                  </a:lnTo>
                  <a:lnTo>
                    <a:pt x="437667" y="839749"/>
                  </a:lnTo>
                  <a:lnTo>
                    <a:pt x="437667" y="813333"/>
                  </a:lnTo>
                  <a:lnTo>
                    <a:pt x="450138" y="801141"/>
                  </a:lnTo>
                  <a:lnTo>
                    <a:pt x="477316" y="839749"/>
                  </a:lnTo>
                  <a:lnTo>
                    <a:pt x="490651" y="839749"/>
                  </a:lnTo>
                  <a:close/>
                </a:path>
                <a:path w="1284604" h="1279525">
                  <a:moveTo>
                    <a:pt x="1284160" y="0"/>
                  </a:moveTo>
                  <a:lnTo>
                    <a:pt x="1274559" y="0"/>
                  </a:lnTo>
                  <a:lnTo>
                    <a:pt x="1274559" y="59829"/>
                  </a:lnTo>
                  <a:lnTo>
                    <a:pt x="1234440" y="0"/>
                  </a:lnTo>
                  <a:lnTo>
                    <a:pt x="1223975" y="0"/>
                  </a:lnTo>
                  <a:lnTo>
                    <a:pt x="1223975" y="76352"/>
                  </a:lnTo>
                  <a:lnTo>
                    <a:pt x="1233665" y="76352"/>
                  </a:lnTo>
                  <a:lnTo>
                    <a:pt x="1233665" y="16319"/>
                  </a:lnTo>
                  <a:lnTo>
                    <a:pt x="1273797" y="76352"/>
                  </a:lnTo>
                  <a:lnTo>
                    <a:pt x="1284160" y="76352"/>
                  </a:lnTo>
                  <a:lnTo>
                    <a:pt x="128416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79428" y="5402570"/>
              <a:ext cx="72910" cy="7638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298180" y="6233159"/>
            <a:ext cx="268605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 u="sng" dirty="0">
                <a:solidFill>
                  <a:srgbClr val="4F4F4F"/>
                </a:solidFill>
                <a:uFill>
                  <a:solidFill>
                    <a:srgbClr val="4F4F4F"/>
                  </a:solidFill>
                </a:uFill>
                <a:latin typeface="Arial"/>
                <a:cs typeface="Arial"/>
                <a:hlinkClick r:id="rId6"/>
              </a:rPr>
              <a:t>Source:</a:t>
            </a:r>
            <a:r>
              <a:rPr sz="2150" b="1" u="sng" spc="145" dirty="0">
                <a:solidFill>
                  <a:srgbClr val="4F4F4F"/>
                </a:solidFill>
                <a:uFill>
                  <a:solidFill>
                    <a:srgbClr val="4F4F4F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150" b="1" u="sng" dirty="0">
                <a:solidFill>
                  <a:srgbClr val="4F4F4F"/>
                </a:solidFill>
                <a:uFill>
                  <a:solidFill>
                    <a:srgbClr val="4F4F4F"/>
                  </a:solidFill>
                </a:uFill>
                <a:latin typeface="Arial"/>
                <a:cs typeface="Arial"/>
                <a:hlinkClick r:id="rId6"/>
              </a:rPr>
              <a:t>nvidia</a:t>
            </a:r>
            <a:r>
              <a:rPr sz="2150" b="1" u="sng" spc="195" dirty="0">
                <a:solidFill>
                  <a:srgbClr val="4F4F4F"/>
                </a:solidFill>
                <a:uFill>
                  <a:solidFill>
                    <a:srgbClr val="4F4F4F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150" b="1" u="sng" spc="-20" dirty="0">
                <a:solidFill>
                  <a:srgbClr val="4F4F4F"/>
                </a:solidFill>
                <a:uFill>
                  <a:solidFill>
                    <a:srgbClr val="4F4F4F"/>
                  </a:solidFill>
                </a:uFill>
                <a:latin typeface="Arial"/>
                <a:cs typeface="Arial"/>
                <a:hlinkClick r:id="rId6"/>
              </a:rPr>
              <a:t>docs</a:t>
            </a:r>
            <a:endParaRPr sz="21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0217" y="3338684"/>
            <a:ext cx="5764530" cy="2313940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455"/>
              </a:spcBef>
            </a:pPr>
            <a:r>
              <a:rPr sz="2150" b="1" dirty="0">
                <a:solidFill>
                  <a:srgbClr val="3A4546"/>
                </a:solidFill>
                <a:latin typeface="Arial"/>
                <a:cs typeface="Arial"/>
              </a:rPr>
              <a:t>Why</a:t>
            </a:r>
            <a:r>
              <a:rPr sz="2150" b="1" spc="90" dirty="0">
                <a:solidFill>
                  <a:srgbClr val="3A4546"/>
                </a:solidFill>
                <a:latin typeface="Arial"/>
                <a:cs typeface="Arial"/>
              </a:rPr>
              <a:t> </a:t>
            </a:r>
            <a:r>
              <a:rPr sz="2150" b="1" spc="-20" dirty="0">
                <a:solidFill>
                  <a:srgbClr val="3A4546"/>
                </a:solidFill>
                <a:latin typeface="Arial"/>
                <a:cs typeface="Arial"/>
              </a:rPr>
              <a:t>GEMM?</a:t>
            </a:r>
            <a:endParaRPr sz="2150" dirty="0">
              <a:latin typeface="Arial"/>
              <a:cs typeface="Arial"/>
            </a:endParaRPr>
          </a:p>
          <a:p>
            <a:pPr marL="241300" marR="5080" indent="-228600">
              <a:lnSpc>
                <a:spcPct val="100800"/>
              </a:lnSpc>
              <a:spcBef>
                <a:spcPts val="1085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The core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mathematical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(C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B)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powering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AI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algorithms,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LLMs.</a:t>
            </a:r>
            <a:endParaRPr sz="1800" dirty="0">
              <a:latin typeface="Calibri"/>
              <a:cs typeface="Calibri"/>
            </a:endParaRPr>
          </a:p>
          <a:p>
            <a:pPr marL="241300" marR="487045" indent="-228600">
              <a:lnSpc>
                <a:spcPts val="2180"/>
              </a:lnSpc>
              <a:spcBef>
                <a:spcPts val="75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Dominates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heavily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taxes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processor resources.</a:t>
            </a:r>
            <a:endParaRPr sz="1800" dirty="0">
              <a:latin typeface="Calibri"/>
              <a:cs typeface="Calibri"/>
            </a:endParaRPr>
          </a:p>
          <a:p>
            <a:pPr marL="241300" marR="337820" indent="-228600">
              <a:lnSpc>
                <a:spcPts val="2100"/>
              </a:lnSpc>
              <a:spcBef>
                <a:spcPts val="60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Easy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verify,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highly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optimized,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ultimate </a:t>
            </a:r>
            <a:r>
              <a:rPr sz="1800" dirty="0">
                <a:latin typeface="Calibri"/>
                <a:cs typeface="Calibri"/>
              </a:rPr>
              <a:t>benchmark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processor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limits.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6" name="object 5" descr="$PPTXTitle">
            <a:extLst>
              <a:ext uri="{FF2B5EF4-FFF2-40B4-BE49-F238E27FC236}">
                <a16:creationId xmlns:a16="http://schemas.microsoft.com/office/drawing/2014/main" id="{2E607DED-51A8-84ED-E3B2-530AB7163FD9}"/>
              </a:ext>
            </a:extLst>
          </p:cNvPr>
          <p:cNvSpPr txBox="1">
            <a:spLocks/>
          </p:cNvSpPr>
          <p:nvPr/>
        </p:nvSpPr>
        <p:spPr>
          <a:xfrm>
            <a:off x="304800" y="297270"/>
            <a:ext cx="61722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5000" b="0" i="0">
                <a:solidFill>
                  <a:srgbClr val="3A4546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n-US" sz="1550" b="1" dirty="0">
                <a:solidFill>
                  <a:schemeClr val="bg1"/>
                </a:solidFill>
                <a:latin typeface="Arial"/>
                <a:cs typeface="Arial"/>
              </a:rPr>
              <a:t>AI</a:t>
            </a:r>
            <a:r>
              <a:rPr lang="en-US" sz="1550" b="1" spc="1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550" b="1" dirty="0">
                <a:solidFill>
                  <a:schemeClr val="bg1"/>
                </a:solidFill>
                <a:latin typeface="Arial"/>
                <a:cs typeface="Arial"/>
              </a:rPr>
              <a:t>WORKLOAD</a:t>
            </a:r>
            <a:r>
              <a:rPr lang="en-US" sz="1550" b="1" spc="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550" b="1" dirty="0">
                <a:solidFill>
                  <a:schemeClr val="bg1"/>
                </a:solidFill>
                <a:latin typeface="Arial"/>
                <a:cs typeface="Arial"/>
              </a:rPr>
              <a:t>PROFILING</a:t>
            </a:r>
            <a:r>
              <a:rPr lang="en-US" sz="1550" b="1" spc="1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550" b="1" dirty="0">
                <a:solidFill>
                  <a:schemeClr val="bg1"/>
                </a:solidFill>
                <a:latin typeface="Arial"/>
                <a:cs typeface="Arial"/>
              </a:rPr>
              <a:t>ON</a:t>
            </a:r>
            <a:r>
              <a:rPr lang="en-US" sz="1550" b="1" spc="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550" b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lang="en-US" sz="1550" b="1" spc="30" dirty="0">
                <a:solidFill>
                  <a:schemeClr val="bg1"/>
                </a:solidFill>
                <a:latin typeface="Arial"/>
                <a:cs typeface="Arial"/>
              </a:rPr>
              <a:t> PHYSICAL</a:t>
            </a:r>
            <a:r>
              <a:rPr lang="en-US" sz="1550" b="1" spc="1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550" b="1" spc="-20" dirty="0">
                <a:solidFill>
                  <a:schemeClr val="bg1"/>
                </a:solidFill>
                <a:latin typeface="Arial"/>
                <a:cs typeface="Arial"/>
              </a:rPr>
              <a:t>CORE</a:t>
            </a:r>
            <a:endParaRPr lang="en-US" sz="15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1572035"/>
            <a:ext cx="3204528" cy="1000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solidFill>
                  <a:srgbClr val="3A4546"/>
                </a:solidFill>
                <a:latin typeface="Arial MT"/>
                <a:cs typeface="Arial MT"/>
              </a:rPr>
              <a:t>W</a:t>
            </a:r>
            <a:r>
              <a:rPr lang="en-US" sz="3200" dirty="0">
                <a:solidFill>
                  <a:srgbClr val="3A4546"/>
                </a:solidFill>
                <a:latin typeface="Arial MT"/>
                <a:cs typeface="Arial MT"/>
              </a:rPr>
              <a:t>hy Physical Hardware</a:t>
            </a:r>
            <a:r>
              <a:rPr sz="3200" spc="-10" dirty="0">
                <a:solidFill>
                  <a:srgbClr val="3A4546"/>
                </a:solidFill>
                <a:latin typeface="Arial MT"/>
                <a:cs typeface="Arial MT"/>
              </a:rPr>
              <a:t>?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2666612"/>
            <a:ext cx="3752850" cy="1524776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98450" marR="31115" indent="-286385">
              <a:lnSpc>
                <a:spcPts val="1730"/>
              </a:lnSpc>
              <a:spcBef>
                <a:spcPts val="290"/>
              </a:spcBef>
              <a:buChar char="•"/>
              <a:tabLst>
                <a:tab pos="298450" algn="l"/>
              </a:tabLst>
            </a:pPr>
            <a:r>
              <a:rPr lang="en-US" sz="1550" dirty="0">
                <a:solidFill>
                  <a:srgbClr val="3A4546"/>
                </a:solidFill>
                <a:latin typeface="Arial MT"/>
                <a:cs typeface="Arial MT"/>
              </a:rPr>
              <a:t>No simulations but actual results</a:t>
            </a:r>
            <a:r>
              <a:rPr sz="1550" spc="-20" dirty="0">
                <a:solidFill>
                  <a:srgbClr val="3A4546"/>
                </a:solidFill>
                <a:latin typeface="Arial MT"/>
                <a:cs typeface="Arial MT"/>
              </a:rPr>
              <a:t>.</a:t>
            </a:r>
            <a:endParaRPr sz="1550" dirty="0">
              <a:latin typeface="Arial MT"/>
              <a:cs typeface="Arial MT"/>
            </a:endParaRPr>
          </a:p>
          <a:p>
            <a:pPr marL="298450" marR="5080" indent="-286385">
              <a:lnSpc>
                <a:spcPts val="1730"/>
              </a:lnSpc>
              <a:spcBef>
                <a:spcPts val="1050"/>
              </a:spcBef>
              <a:buChar char="•"/>
              <a:tabLst>
                <a:tab pos="298450" algn="l"/>
              </a:tabLst>
            </a:pPr>
            <a:r>
              <a:rPr lang="en-CA" sz="1600" dirty="0"/>
              <a:t>Real execution time</a:t>
            </a:r>
            <a:r>
              <a:rPr sz="1550" spc="-10" dirty="0">
                <a:solidFill>
                  <a:srgbClr val="3A4546"/>
                </a:solidFill>
                <a:latin typeface="Arial MT"/>
                <a:cs typeface="Arial MT"/>
              </a:rPr>
              <a:t>.</a:t>
            </a:r>
            <a:endParaRPr sz="1550" dirty="0">
              <a:latin typeface="Arial MT"/>
              <a:cs typeface="Arial MT"/>
            </a:endParaRPr>
          </a:p>
          <a:p>
            <a:pPr marL="298450" marR="346710" indent="-286385">
              <a:lnSpc>
                <a:spcPts val="1730"/>
              </a:lnSpc>
              <a:spcBef>
                <a:spcPts val="965"/>
              </a:spcBef>
              <a:buChar char="•"/>
              <a:tabLst>
                <a:tab pos="298450" algn="l"/>
              </a:tabLst>
            </a:pPr>
            <a:r>
              <a:rPr lang="en-CA" sz="1600" dirty="0"/>
              <a:t>Resource utilization. </a:t>
            </a:r>
          </a:p>
          <a:p>
            <a:pPr marL="298450" marR="346710" indent="-286385">
              <a:lnSpc>
                <a:spcPts val="1730"/>
              </a:lnSpc>
              <a:spcBef>
                <a:spcPts val="965"/>
              </a:spcBef>
              <a:buChar char="•"/>
              <a:tabLst>
                <a:tab pos="298450" algn="l"/>
              </a:tabLst>
            </a:pPr>
            <a:r>
              <a:rPr lang="en-CA" sz="1600" dirty="0"/>
              <a:t>Temperature, power consumption, and accelerator behavior</a:t>
            </a:r>
            <a:r>
              <a:rPr sz="1550" spc="-10" dirty="0">
                <a:solidFill>
                  <a:srgbClr val="3A4546"/>
                </a:solidFill>
                <a:latin typeface="Arial MT"/>
                <a:cs typeface="Arial MT"/>
              </a:rPr>
              <a:t>.</a:t>
            </a:r>
            <a:endParaRPr sz="1550" dirty="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04800" y="297270"/>
            <a:ext cx="61722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AI</a:t>
            </a:r>
            <a:r>
              <a:rPr sz="1550" b="1" spc="15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WORKLOAD</a:t>
            </a:r>
            <a:r>
              <a:rPr sz="1550" b="1" spc="13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PROFILING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ON</a:t>
            </a:r>
            <a:r>
              <a:rPr sz="1550" b="1" spc="13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A</a:t>
            </a:r>
            <a:r>
              <a:rPr sz="1550" b="1" spc="30" dirty="0">
                <a:latin typeface="Arial"/>
                <a:cs typeface="Arial"/>
              </a:rPr>
              <a:t> </a:t>
            </a:r>
            <a:r>
              <a:rPr lang="en-US" sz="1550" b="1" spc="30" dirty="0">
                <a:latin typeface="Arial"/>
                <a:cs typeface="Arial"/>
              </a:rPr>
              <a:t>PHYSICAL</a:t>
            </a:r>
            <a:r>
              <a:rPr sz="1550" b="1" spc="140" dirty="0">
                <a:latin typeface="Arial"/>
                <a:cs typeface="Arial"/>
              </a:rPr>
              <a:t> </a:t>
            </a:r>
            <a:r>
              <a:rPr sz="1550" b="1" spc="-20" dirty="0">
                <a:latin typeface="Arial"/>
                <a:cs typeface="Arial"/>
              </a:rPr>
              <a:t>CORE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15039" y="33553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3A4546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4A37A7-84E7-4D7B-124B-63A19C3BB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785" y="119061"/>
            <a:ext cx="3553182" cy="2905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C06316-6A65-4024-DBD2-7E5035B8B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726" y="2046168"/>
            <a:ext cx="3742274" cy="24988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8B3048-2EE1-89AD-96BD-7176D82EB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216983"/>
            <a:ext cx="2380487" cy="1853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786DA9-7262-8FBF-C944-74A78C41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6BBE0F9-0D2A-688A-823A-1415861D26FD}"/>
              </a:ext>
            </a:extLst>
          </p:cNvPr>
          <p:cNvSpPr/>
          <p:nvPr/>
        </p:nvSpPr>
        <p:spPr>
          <a:xfrm>
            <a:off x="0" y="613410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12192000" h="723900">
                <a:moveTo>
                  <a:pt x="0" y="723899"/>
                </a:moveTo>
                <a:lnTo>
                  <a:pt x="12192000" y="723899"/>
                </a:lnTo>
                <a:lnTo>
                  <a:pt x="12192000" y="0"/>
                </a:lnTo>
                <a:lnTo>
                  <a:pt x="0" y="0"/>
                </a:lnTo>
                <a:lnTo>
                  <a:pt x="0" y="723899"/>
                </a:lnTo>
                <a:close/>
              </a:path>
            </a:pathLst>
          </a:custGeom>
          <a:solidFill>
            <a:srgbClr val="D0C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2A5E96D-6DBA-2205-5501-0D7E2C02FB21}"/>
              </a:ext>
            </a:extLst>
          </p:cNvPr>
          <p:cNvGrpSpPr/>
          <p:nvPr/>
        </p:nvGrpSpPr>
        <p:grpSpPr>
          <a:xfrm>
            <a:off x="0" y="0"/>
            <a:ext cx="12192000" cy="6134100"/>
            <a:chOff x="0" y="0"/>
            <a:chExt cx="12192000" cy="61341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03CF96A-8701-7C40-3333-D6141B26C70F}"/>
                </a:ext>
              </a:extLst>
            </p:cNvPr>
            <p:cNvSpPr/>
            <p:nvPr/>
          </p:nvSpPr>
          <p:spPr>
            <a:xfrm>
              <a:off x="0" y="0"/>
              <a:ext cx="12192000" cy="723900"/>
            </a:xfrm>
            <a:custGeom>
              <a:avLst/>
              <a:gdLst/>
              <a:ahLst/>
              <a:cxnLst/>
              <a:rect l="l" t="t" r="r" b="b"/>
              <a:pathLst>
                <a:path w="12192000" h="723900">
                  <a:moveTo>
                    <a:pt x="0" y="723900"/>
                  </a:moveTo>
                  <a:lnTo>
                    <a:pt x="12192000" y="7239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D0C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0A0E83B-D9AA-421C-FDCB-E7CF91EC32F3}"/>
                </a:ext>
              </a:extLst>
            </p:cNvPr>
            <p:cNvSpPr/>
            <p:nvPr/>
          </p:nvSpPr>
          <p:spPr>
            <a:xfrm>
              <a:off x="0" y="723900"/>
              <a:ext cx="12192000" cy="5410200"/>
            </a:xfrm>
            <a:custGeom>
              <a:avLst/>
              <a:gdLst/>
              <a:ahLst/>
              <a:cxnLst/>
              <a:rect l="l" t="t" r="r" b="b"/>
              <a:pathLst>
                <a:path w="12192000" h="5410200">
                  <a:moveTo>
                    <a:pt x="12192000" y="0"/>
                  </a:moveTo>
                  <a:lnTo>
                    <a:pt x="0" y="0"/>
                  </a:lnTo>
                  <a:lnTo>
                    <a:pt x="0" y="5410200"/>
                  </a:lnTo>
                  <a:lnTo>
                    <a:pt x="12192000" y="54102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0DDFC6B-71C0-2A7F-3FE5-E21BDD04A362}"/>
                </a:ext>
              </a:extLst>
            </p:cNvPr>
            <p:cNvSpPr/>
            <p:nvPr/>
          </p:nvSpPr>
          <p:spPr>
            <a:xfrm>
              <a:off x="7466076" y="2495550"/>
              <a:ext cx="4726305" cy="57150"/>
            </a:xfrm>
            <a:custGeom>
              <a:avLst/>
              <a:gdLst/>
              <a:ahLst/>
              <a:cxnLst/>
              <a:rect l="l" t="t" r="r" b="b"/>
              <a:pathLst>
                <a:path w="4726305" h="57150">
                  <a:moveTo>
                    <a:pt x="0" y="57150"/>
                  </a:moveTo>
                  <a:lnTo>
                    <a:pt x="4725924" y="57150"/>
                  </a:lnTo>
                  <a:lnTo>
                    <a:pt x="4725924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0C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6385A02-FE09-FF07-7BBA-D9258CBE5489}"/>
                </a:ext>
              </a:extLst>
            </p:cNvPr>
            <p:cNvSpPr/>
            <p:nvPr/>
          </p:nvSpPr>
          <p:spPr>
            <a:xfrm>
              <a:off x="723900" y="2524125"/>
              <a:ext cx="6742430" cy="0"/>
            </a:xfrm>
            <a:custGeom>
              <a:avLst/>
              <a:gdLst/>
              <a:ahLst/>
              <a:cxnLst/>
              <a:rect l="l" t="t" r="r" b="b"/>
              <a:pathLst>
                <a:path w="6742430">
                  <a:moveTo>
                    <a:pt x="6742176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BD92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6FDA5449-3315-BD70-D60F-C9A136BF3D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-125" dirty="0"/>
              <a:t> </a:t>
            </a:r>
            <a:r>
              <a:rPr spc="-165" dirty="0"/>
              <a:t>PATH</a:t>
            </a:r>
            <a:r>
              <a:rPr spc="-110" dirty="0"/>
              <a:t> </a:t>
            </a:r>
            <a:r>
              <a:rPr spc="-10" dirty="0"/>
              <a:t>FORWARD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072E46E-7433-722F-4697-A4075D4D3B7E}"/>
              </a:ext>
            </a:extLst>
          </p:cNvPr>
          <p:cNvSpPr txBox="1"/>
          <p:nvPr/>
        </p:nvSpPr>
        <p:spPr>
          <a:xfrm>
            <a:off x="473075" y="338454"/>
            <a:ext cx="3413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A4546"/>
                </a:solidFill>
                <a:latin typeface="Arial MT"/>
                <a:cs typeface="Arial MT"/>
              </a:rPr>
              <a:t>AI</a:t>
            </a:r>
            <a:r>
              <a:rPr sz="1200" spc="-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A4546"/>
                </a:solidFill>
                <a:latin typeface="Arial MT"/>
                <a:cs typeface="Arial MT"/>
              </a:rPr>
              <a:t>WORKLOAD</a:t>
            </a:r>
            <a:r>
              <a:rPr sz="1200" spc="-40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A4546"/>
                </a:solidFill>
                <a:latin typeface="Arial MT"/>
                <a:cs typeface="Arial MT"/>
              </a:rPr>
              <a:t>PROFILING</a:t>
            </a:r>
            <a:r>
              <a:rPr sz="1200" spc="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3A4546"/>
                </a:solidFill>
                <a:latin typeface="Arial MT"/>
                <a:cs typeface="Arial MT"/>
              </a:rPr>
              <a:t>ON</a:t>
            </a:r>
            <a:r>
              <a:rPr sz="1200" spc="-80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A4546"/>
                </a:solidFill>
                <a:latin typeface="Arial MT"/>
                <a:cs typeface="Arial MT"/>
              </a:rPr>
              <a:t>A</a:t>
            </a:r>
            <a:r>
              <a:rPr sz="1200" spc="-1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A4546"/>
                </a:solidFill>
                <a:latin typeface="Arial MT"/>
                <a:cs typeface="Arial MT"/>
              </a:rPr>
              <a:t>RISC-</a:t>
            </a:r>
            <a:r>
              <a:rPr sz="1200" dirty="0">
                <a:solidFill>
                  <a:srgbClr val="3A4546"/>
                </a:solidFill>
                <a:latin typeface="Arial MT"/>
                <a:cs typeface="Arial MT"/>
              </a:rPr>
              <a:t>V</a:t>
            </a:r>
            <a:r>
              <a:rPr sz="1200" spc="-15" dirty="0">
                <a:solidFill>
                  <a:srgbClr val="3A4546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3A4546"/>
                </a:solidFill>
                <a:latin typeface="Arial MT"/>
                <a:cs typeface="Arial MT"/>
              </a:rPr>
              <a:t>CORE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2180E9A-1747-09E3-52EC-75C28BF18FDE}"/>
              </a:ext>
            </a:extLst>
          </p:cNvPr>
          <p:cNvSpPr txBox="1"/>
          <p:nvPr/>
        </p:nvSpPr>
        <p:spPr>
          <a:xfrm>
            <a:off x="617855" y="2871406"/>
            <a:ext cx="10050145" cy="1414811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1935" marR="5080">
              <a:lnSpc>
                <a:spcPct val="101699"/>
              </a:lnSpc>
              <a:spcBef>
                <a:spcPts val="60"/>
              </a:spcBef>
            </a:pPr>
            <a:r>
              <a:rPr sz="3200" b="1" dirty="0">
                <a:solidFill>
                  <a:srgbClr val="3A4546"/>
                </a:solidFill>
                <a:latin typeface="Arial"/>
                <a:cs typeface="Arial"/>
              </a:rPr>
              <a:t>Next</a:t>
            </a:r>
            <a:r>
              <a:rPr sz="3200" b="1" spc="-55" dirty="0">
                <a:solidFill>
                  <a:srgbClr val="3A4546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3A4546"/>
                </a:solidFill>
                <a:latin typeface="Arial"/>
                <a:cs typeface="Arial"/>
              </a:rPr>
              <a:t>Steps</a:t>
            </a:r>
            <a:r>
              <a:rPr lang="en-US" sz="3200" b="1" dirty="0">
                <a:solidFill>
                  <a:srgbClr val="3A4546"/>
                </a:solidFill>
                <a:latin typeface="Arial"/>
                <a:cs typeface="Arial"/>
              </a:rPr>
              <a:t> To achieve Ultimate Goal</a:t>
            </a:r>
            <a:endParaRPr sz="3200" dirty="0">
              <a:latin typeface="Arial"/>
              <a:cs typeface="Arial"/>
            </a:endParaRPr>
          </a:p>
          <a:p>
            <a:pPr marL="295910" marR="5080" indent="-283210">
              <a:lnSpc>
                <a:spcPct val="150200"/>
              </a:lnSpc>
              <a:spcBef>
                <a:spcPts val="340"/>
              </a:spcBef>
              <a:buChar char="•"/>
              <a:tabLst>
                <a:tab pos="295910" algn="l"/>
              </a:tabLst>
            </a:pPr>
            <a:r>
              <a:rPr lang="en-US" sz="2000" dirty="0">
                <a:solidFill>
                  <a:srgbClr val="3A4546"/>
                </a:solidFill>
                <a:latin typeface="Arial MT"/>
                <a:cs typeface="Arial MT"/>
              </a:rPr>
              <a:t>Test on real time systems like the jetson nano, raspberry pi. </a:t>
            </a:r>
            <a:endParaRPr sz="2000" dirty="0">
              <a:latin typeface="Arial MT"/>
              <a:cs typeface="Arial MT"/>
            </a:endParaRPr>
          </a:p>
          <a:p>
            <a:pPr marL="295910" marR="467995" indent="-283210">
              <a:lnSpc>
                <a:spcPct val="150200"/>
              </a:lnSpc>
              <a:buChar char="•"/>
              <a:tabLst>
                <a:tab pos="295910" algn="l"/>
              </a:tabLst>
            </a:pPr>
            <a:r>
              <a:rPr lang="en-US" sz="2000" dirty="0">
                <a:solidFill>
                  <a:srgbClr val="3A4546"/>
                </a:solidFill>
                <a:latin typeface="Arial MT"/>
                <a:cs typeface="Arial MT"/>
              </a:rPr>
              <a:t>Compare the results on the varying hardware.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DDBE7DA-9F1C-8562-F31D-E87A4268B148}"/>
              </a:ext>
            </a:extLst>
          </p:cNvPr>
          <p:cNvSpPr txBox="1"/>
          <p:nvPr/>
        </p:nvSpPr>
        <p:spPr>
          <a:xfrm>
            <a:off x="11615039" y="33553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3A4546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17376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33650" y="320420"/>
            <a:ext cx="5348605" cy="1124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200" dirty="0">
                <a:solidFill>
                  <a:srgbClr val="FFFFFF"/>
                </a:solidFill>
              </a:rPr>
              <a:t>THANK</a:t>
            </a:r>
            <a:r>
              <a:rPr sz="7200" spc="-165" dirty="0">
                <a:solidFill>
                  <a:srgbClr val="FFFFFF"/>
                </a:solidFill>
              </a:rPr>
              <a:t> </a:t>
            </a:r>
            <a:r>
              <a:rPr sz="7200" spc="-25" dirty="0">
                <a:solidFill>
                  <a:srgbClr val="FFFFFF"/>
                </a:solidFill>
              </a:rPr>
              <a:t>YOU</a:t>
            </a:r>
            <a:endParaRPr sz="7200"/>
          </a:p>
        </p:txBody>
      </p:sp>
      <p:grpSp>
        <p:nvGrpSpPr>
          <p:cNvPr id="3" name="object 3"/>
          <p:cNvGrpSpPr/>
          <p:nvPr/>
        </p:nvGrpSpPr>
        <p:grpSpPr>
          <a:xfrm>
            <a:off x="809625" y="2219325"/>
            <a:ext cx="7191375" cy="2276475"/>
            <a:chOff x="809625" y="2219325"/>
            <a:chExt cx="7191375" cy="2276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625" y="3429000"/>
              <a:ext cx="7191375" cy="1066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625" y="2219325"/>
              <a:ext cx="6953250" cy="809625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6380B8E-30B2-79A6-428F-2B2E08B05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882712"/>
            <a:ext cx="3048425" cy="2981741"/>
          </a:xfrm>
          <a:prstGeom prst="rect">
            <a:avLst/>
          </a:prstGeom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B5E9028E-D007-52FF-7037-1475C92792E4}"/>
              </a:ext>
            </a:extLst>
          </p:cNvPr>
          <p:cNvSpPr txBox="1"/>
          <p:nvPr/>
        </p:nvSpPr>
        <p:spPr>
          <a:xfrm>
            <a:off x="8439150" y="3987338"/>
            <a:ext cx="3752850" cy="255198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98450" marR="31115" indent="-286385">
              <a:lnSpc>
                <a:spcPts val="1730"/>
              </a:lnSpc>
              <a:spcBef>
                <a:spcPts val="290"/>
              </a:spcBef>
              <a:buChar char="•"/>
              <a:tabLst>
                <a:tab pos="298450" algn="l"/>
              </a:tabLst>
            </a:pPr>
            <a:r>
              <a:rPr lang="en-US" sz="1550" dirty="0" err="1">
                <a:solidFill>
                  <a:schemeClr val="bg1"/>
                </a:solidFill>
                <a:latin typeface="Arial MT"/>
                <a:cs typeface="Arial MT"/>
              </a:rPr>
              <a:t>linkedIN</a:t>
            </a:r>
            <a:endParaRPr sz="155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4F4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300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MT</vt:lpstr>
      <vt:lpstr>Calibri</vt:lpstr>
      <vt:lpstr>Office Theme</vt:lpstr>
      <vt:lpstr>Cross-Platform AI Workload Profiling:</vt:lpstr>
      <vt:lpstr>MOTIVATION AND GOAL</vt:lpstr>
      <vt:lpstr>Different Direction From Fatima</vt:lpstr>
      <vt:lpstr>BENCHMARKING WITH GEMM &amp; SIMULATING WITH GEM5</vt:lpstr>
      <vt:lpstr>AI WORKLOAD PROFILING ON A PHYSICAL CORE</vt:lpstr>
      <vt:lpstr>THE PATH FORWARD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Paul Chukwu</cp:lastModifiedBy>
  <cp:revision>4</cp:revision>
  <dcterms:created xsi:type="dcterms:W3CDTF">2026-08-19T19:37:55Z</dcterms:created>
  <dcterms:modified xsi:type="dcterms:W3CDTF">2026-08-19T21:08:37Z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2026-07-17T00:00:00Z</vt:filetime>
  </property>
  <property fmtid="{D5CDD505-2E9C-101B-9397-08002B2CF9AE}" pid="4" name="LastSaved">
    <vt:filetime>2026-08-19T00:00:00Z</vt:filetime>
  </property>
</Properties>
</file>