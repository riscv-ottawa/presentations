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Inter SemiBold"/>
      <p:regular r:id="rId16"/>
      <p:bold r:id="rId17"/>
      <p:italic r:id="rId18"/>
      <p:boldItalic r:id="rId19"/>
    </p:embeddedFont>
    <p:embeddedFont>
      <p:font typeface="Inter"/>
      <p:bold r:id="rId20"/>
      <p:boldItalic r:id="rId21"/>
    </p:embeddedFont>
    <p:embeddedFont>
      <p:font typeface="JetBrains Mono SemiBold"/>
      <p:regular r:id="rId22"/>
      <p:bold r:id="rId23"/>
      <p:italic r:id="rId24"/>
      <p:boldItalic r:id="rId25"/>
    </p:embeddedFont>
    <p:embeddedFont>
      <p:font typeface="Inter Medium"/>
      <p:regular r:id="rId26"/>
      <p:bold r:id="rId27"/>
      <p:italic r:id="rId28"/>
      <p:boldItalic r:id="rId29"/>
    </p:embeddedFont>
    <p:embeddedFont>
      <p:font typeface="JetBrains Mon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bold.fntdata"/><Relationship Id="rId22" Type="http://schemas.openxmlformats.org/officeDocument/2006/relationships/font" Target="fonts/JetBrainsMonoSemiBold-regular.fntdata"/><Relationship Id="rId21" Type="http://schemas.openxmlformats.org/officeDocument/2006/relationships/font" Target="fonts/Inter-boldItalic.fntdata"/><Relationship Id="rId24" Type="http://schemas.openxmlformats.org/officeDocument/2006/relationships/font" Target="fonts/JetBrainsMonoSemiBold-italic.fntdata"/><Relationship Id="rId23" Type="http://schemas.openxmlformats.org/officeDocument/2006/relationships/font" Target="fonts/JetBrainsMonoSemiBold-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nterMedium-regular.fntdata"/><Relationship Id="rId25" Type="http://schemas.openxmlformats.org/officeDocument/2006/relationships/font" Target="fonts/JetBrainsMonoSemiBold-boldItalic.fntdata"/><Relationship Id="rId28" Type="http://schemas.openxmlformats.org/officeDocument/2006/relationships/font" Target="fonts/InterMedium-italic.fntdata"/><Relationship Id="rId27" Type="http://schemas.openxmlformats.org/officeDocument/2006/relationships/font" Target="fonts/InterMedium-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nterMedium-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JetBrainsMono-bold.fntdata"/><Relationship Id="rId30" Type="http://schemas.openxmlformats.org/officeDocument/2006/relationships/font" Target="fonts/JetBrainsMono-regular.fntdata"/><Relationship Id="rId11" Type="http://schemas.openxmlformats.org/officeDocument/2006/relationships/slide" Target="slides/slide6.xml"/><Relationship Id="rId33" Type="http://schemas.openxmlformats.org/officeDocument/2006/relationships/font" Target="fonts/JetBrainsMono-boldItalic.fntdata"/><Relationship Id="rId10" Type="http://schemas.openxmlformats.org/officeDocument/2006/relationships/slide" Target="slides/slide5.xml"/><Relationship Id="rId32" Type="http://schemas.openxmlformats.org/officeDocument/2006/relationships/font" Target="fonts/JetBrainsMono-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InterSemiBold-bold.fntdata"/><Relationship Id="rId16" Type="http://schemas.openxmlformats.org/officeDocument/2006/relationships/font" Target="fonts/InterSemiBold-regular.fntdata"/><Relationship Id="rId19" Type="http://schemas.openxmlformats.org/officeDocument/2006/relationships/font" Target="fonts/InterSemiBold-boldItalic.fntdata"/><Relationship Id="rId18" Type="http://schemas.openxmlformats.org/officeDocument/2006/relationships/font" Target="fonts/InterSemi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f9329e7f76_29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3f9329e7f76_2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9329e7f76_28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9329e7f76_2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f9329e7f76_27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f9329e7f76_2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f772cafd49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f772cafd49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f9329e7f76_24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f9329e7f76_2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f9329e7f76_22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f9329e7f76_2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f9329e7f76_2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f9329e7f76_2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f9329e7f76_20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f9329e7f76_2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f9329e7f76_19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f9329e7f76_1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f9329e7f76_14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f9329e7f76_1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9329e7f76_13_0)">
  <p:cSld name="Generated (g3f9329e7f76_13_0)">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8"/>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8"/>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9"/>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10"/>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10"/>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10"/>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 name="Google Shape;4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1"/>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2"/>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8" name="Google Shape;4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4"/>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56" name="Google Shape;56;p14"/>
          <p:cNvPicPr preferRelativeResize="0"/>
          <p:nvPr/>
        </p:nvPicPr>
        <p:blipFill rotWithShape="1">
          <a:blip r:embed="rId3">
            <a:alphaModFix/>
          </a:blip>
          <a:srcRect b="0" l="0" r="0" t="0"/>
          <a:stretch/>
        </p:blipFill>
        <p:spPr>
          <a:xfrm>
            <a:off x="9525" y="9525"/>
            <a:ext cx="8877300" cy="4876800"/>
          </a:xfrm>
          <a:prstGeom prst="rect">
            <a:avLst/>
          </a:prstGeom>
          <a:noFill/>
          <a:ln>
            <a:noFill/>
          </a:ln>
        </p:spPr>
      </p:pic>
      <p:sp>
        <p:nvSpPr>
          <p:cNvPr id="57" name="Google Shape;57;p14"/>
          <p:cNvSpPr/>
          <p:nvPr/>
        </p:nvSpPr>
        <p:spPr>
          <a:xfrm>
            <a:off x="476250" y="476250"/>
            <a:ext cx="114300" cy="114300"/>
          </a:xfrm>
          <a:prstGeom prst="ellipse">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 name="Google Shape;58;p14"/>
          <p:cNvSpPr txBox="1"/>
          <p:nvPr/>
        </p:nvSpPr>
        <p:spPr>
          <a:xfrm>
            <a:off x="381000" y="1238250"/>
            <a:ext cx="5143500" cy="2381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960">
                <a:solidFill>
                  <a:schemeClr val="dk1"/>
                </a:solidFill>
                <a:latin typeface="Inter"/>
                <a:ea typeface="Inter"/>
                <a:cs typeface="Inter"/>
                <a:sym typeface="Inter"/>
              </a:rPr>
              <a:t>costar:</a:t>
            </a:r>
            <a:endParaRPr b="1" sz="2960">
              <a:solidFill>
                <a:schemeClr val="dk1"/>
              </a:solidFill>
              <a:latin typeface="Inter"/>
              <a:ea typeface="Inter"/>
              <a:cs typeface="Inter"/>
              <a:sym typeface="Inter"/>
            </a:endParaRPr>
          </a:p>
          <a:p>
            <a:pPr indent="0" lvl="0" marL="0" rtl="0" algn="l">
              <a:spcBef>
                <a:spcPts val="300"/>
              </a:spcBef>
              <a:spcAft>
                <a:spcPts val="0"/>
              </a:spcAft>
              <a:buNone/>
            </a:pPr>
            <a:r>
              <a:rPr b="1" lang="en" sz="2960">
                <a:solidFill>
                  <a:srgbClr val="1A1A1A"/>
                </a:solidFill>
                <a:latin typeface="Inter"/>
                <a:ea typeface="Inter"/>
                <a:cs typeface="Inter"/>
                <a:sym typeface="Inter"/>
              </a:rPr>
              <a:t>Discovering Native-Speed</a:t>
            </a:r>
            <a:endParaRPr b="1" sz="2960">
              <a:solidFill>
                <a:srgbClr val="1A1A1A"/>
              </a:solidFill>
              <a:latin typeface="Inter"/>
              <a:ea typeface="Inter"/>
              <a:cs typeface="Inter"/>
              <a:sym typeface="Inter"/>
            </a:endParaRPr>
          </a:p>
          <a:p>
            <a:pPr indent="0" lvl="0" marL="0" rtl="0" algn="l">
              <a:spcBef>
                <a:spcPts val="300"/>
              </a:spcBef>
              <a:spcAft>
                <a:spcPts val="0"/>
              </a:spcAft>
              <a:buNone/>
            </a:pPr>
            <a:r>
              <a:rPr b="1" lang="en" sz="2960">
                <a:solidFill>
                  <a:srgbClr val="1A1A1A"/>
                </a:solidFill>
                <a:latin typeface="Inter"/>
                <a:ea typeface="Inter"/>
                <a:cs typeface="Inter"/>
                <a:sym typeface="Inter"/>
              </a:rPr>
              <a:t>Multi-Machine Simulation</a:t>
            </a:r>
            <a:endParaRPr b="1" sz="2960">
              <a:solidFill>
                <a:srgbClr val="1A1A1A"/>
              </a:solidFill>
              <a:latin typeface="Inter"/>
              <a:ea typeface="Inter"/>
              <a:cs typeface="Inter"/>
              <a:sym typeface="Inter"/>
            </a:endParaRPr>
          </a:p>
          <a:p>
            <a:pPr indent="0" lvl="0" marL="0" rtl="0" algn="l">
              <a:spcBef>
                <a:spcPts val="1500"/>
              </a:spcBef>
              <a:spcAft>
                <a:spcPts val="0"/>
              </a:spcAft>
              <a:buNone/>
            </a:pPr>
            <a:r>
              <a:rPr b="0" lang="en" sz="1388">
                <a:solidFill>
                  <a:schemeClr val="dk1"/>
                </a:solidFill>
                <a:latin typeface="Inter"/>
                <a:ea typeface="Inter"/>
                <a:cs typeface="Inter"/>
                <a:sym typeface="Inter"/>
              </a:rPr>
              <a:t>What if </a:t>
            </a:r>
            <a:r>
              <a:rPr b="0" i="1" lang="en" sz="1249">
                <a:solidFill>
                  <a:schemeClr val="dk1"/>
                </a:solidFill>
                <a:latin typeface="JetBrains Mono"/>
                <a:ea typeface="JetBrains Mono"/>
                <a:cs typeface="JetBrains Mono"/>
                <a:sym typeface="JetBrains Mono"/>
              </a:rPr>
              <a:t>native_sim</a:t>
            </a:r>
            <a:r>
              <a:rPr b="0" lang="en" sz="1388">
                <a:solidFill>
                  <a:schemeClr val="dk1"/>
                </a:solidFill>
                <a:latin typeface="Inter"/>
                <a:ea typeface="Inter"/>
                <a:cs typeface="Inter"/>
                <a:sym typeface="Inter"/>
              </a:rPr>
              <a:t> scaled to a whole system?</a:t>
            </a:r>
            <a:endParaRPr b="0" sz="1388">
              <a:solidFill>
                <a:schemeClr val="dk1"/>
              </a:solidFill>
              <a:latin typeface="Inter"/>
              <a:ea typeface="Inter"/>
              <a:cs typeface="Inter"/>
              <a:sym typeface="Inter"/>
            </a:endParaRPr>
          </a:p>
          <a:p>
            <a:pPr indent="0" lvl="0" marL="0" rtl="0" algn="l">
              <a:spcBef>
                <a:spcPts val="600"/>
              </a:spcBef>
              <a:spcAft>
                <a:spcPts val="0"/>
              </a:spcAft>
              <a:buNone/>
            </a:pPr>
            <a:r>
              <a:rPr b="0" lang="en" sz="1203">
                <a:solidFill>
                  <a:srgbClr val="5F6368"/>
                </a:solidFill>
                <a:latin typeface="Inter"/>
                <a:ea typeface="Inter"/>
                <a:cs typeface="Inter"/>
                <a:sym typeface="Inter"/>
              </a:rPr>
              <a:t>A guided exploration toward costar: native-speed, deterministic, multi-machine RTOS simulation.</a:t>
            </a:r>
            <a:endParaRPr b="0" sz="1203">
              <a:solidFill>
                <a:srgbClr val="5F6368"/>
              </a:solidFill>
              <a:latin typeface="Inter"/>
              <a:ea typeface="Inter"/>
              <a:cs typeface="Inter"/>
              <a:sym typeface="Inter"/>
            </a:endParaRPr>
          </a:p>
        </p:txBody>
      </p:sp>
      <p:sp>
        <p:nvSpPr>
          <p:cNvPr id="59" name="Google Shape;59;p14"/>
          <p:cNvSpPr/>
          <p:nvPr/>
        </p:nvSpPr>
        <p:spPr>
          <a:xfrm>
            <a:off x="381000" y="3771900"/>
            <a:ext cx="762000" cy="38100"/>
          </a:xfrm>
          <a:prstGeom prst="roundRect">
            <a:avLst>
              <a:gd fmla="val 50000" name="adj"/>
            </a:avLst>
          </a:pr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 name="Google Shape;60;p14"/>
          <p:cNvSpPr txBox="1"/>
          <p:nvPr/>
        </p:nvSpPr>
        <p:spPr>
          <a:xfrm>
            <a:off x="381000" y="3952875"/>
            <a:ext cx="5143500" cy="809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1A1A1A"/>
                </a:solidFill>
                <a:latin typeface="Inter"/>
                <a:ea typeface="Inter"/>
                <a:cs typeface="Inter"/>
                <a:sym typeface="Inter"/>
              </a:rPr>
              <a:t>Zachary MM</a:t>
            </a:r>
            <a:endParaRPr b="1" sz="1300">
              <a:solidFill>
                <a:srgbClr val="1A1A1A"/>
              </a:solidFill>
              <a:latin typeface="Inter"/>
              <a:ea typeface="Inter"/>
              <a:cs typeface="Inter"/>
              <a:sym typeface="Inter"/>
            </a:endParaRPr>
          </a:p>
          <a:p>
            <a:pPr indent="0" lvl="0" marL="0" rtl="0" algn="l">
              <a:spcBef>
                <a:spcPts val="300"/>
              </a:spcBef>
              <a:spcAft>
                <a:spcPts val="0"/>
              </a:spcAft>
              <a:buNone/>
            </a:pPr>
            <a:r>
              <a:rPr lang="en" sz="1100">
                <a:solidFill>
                  <a:schemeClr val="dk1"/>
                </a:solidFill>
                <a:latin typeface="JetBrains Mono"/>
                <a:ea typeface="JetBrains Mono"/>
                <a:cs typeface="JetBrains Mono"/>
                <a:sym typeface="JetBrains Mono"/>
              </a:rPr>
              <a:t>github.com/zacharyvmm/costar</a:t>
            </a:r>
            <a:endParaRPr sz="1100">
              <a:solidFill>
                <a:schemeClr val="dk1"/>
              </a:solidFill>
              <a:latin typeface="JetBrains Mono"/>
              <a:ea typeface="JetBrains Mono"/>
              <a:cs typeface="JetBrains Mono"/>
              <a:sym typeface="JetBrains Mono"/>
            </a:endParaRPr>
          </a:p>
        </p:txBody>
      </p:sp>
      <p:grpSp>
        <p:nvGrpSpPr>
          <p:cNvPr id="61" name="Google Shape;61;p14"/>
          <p:cNvGrpSpPr/>
          <p:nvPr/>
        </p:nvGrpSpPr>
        <p:grpSpPr>
          <a:xfrm>
            <a:off x="5810250" y="1333500"/>
            <a:ext cx="2952900" cy="2952900"/>
            <a:chOff x="0" y="0"/>
            <a:chExt cx="2952900" cy="2952900"/>
          </a:xfrm>
        </p:grpSpPr>
        <p:sp>
          <p:nvSpPr>
            <p:cNvPr id="62" name="Google Shape;62;p14"/>
            <p:cNvSpPr/>
            <p:nvPr/>
          </p:nvSpPr>
          <p:spPr>
            <a:xfrm>
              <a:off x="0" y="0"/>
              <a:ext cx="2952900" cy="2952900"/>
            </a:xfrm>
            <a:prstGeom prst="roundRect">
              <a:avLst>
                <a:gd fmla="val 2580" name="adj"/>
              </a:avLst>
            </a:prstGeom>
            <a:solidFill>
              <a:srgbClr val="F8F9FA"/>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 name="Google Shape;63;p14"/>
            <p:cNvSpPr txBox="1"/>
            <p:nvPr/>
          </p:nvSpPr>
          <p:spPr>
            <a:xfrm>
              <a:off x="190500" y="142875"/>
              <a:ext cx="25719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900">
                  <a:solidFill>
                    <a:schemeClr val="dk1"/>
                  </a:solidFill>
                  <a:latin typeface="Inter"/>
                  <a:ea typeface="Inter"/>
                  <a:cs typeface="Inter"/>
                  <a:sym typeface="Inter"/>
                </a:rPr>
                <a:t>Deterministic Sync Topology</a:t>
              </a:r>
              <a:endParaRPr>
                <a:solidFill>
                  <a:schemeClr val="dk1"/>
                </a:solidFill>
              </a:endParaRPr>
            </a:p>
          </p:txBody>
        </p:sp>
        <p:sp>
          <p:nvSpPr>
            <p:cNvPr id="64" name="Google Shape;64;p14"/>
            <p:cNvSpPr/>
            <p:nvPr/>
          </p:nvSpPr>
          <p:spPr>
            <a:xfrm>
              <a:off x="952500" y="771525"/>
              <a:ext cx="714300" cy="514500"/>
            </a:xfrm>
            <a:custGeom>
              <a:rect b="b" l="l" r="r" t="t"/>
              <a:pathLst>
                <a:path extrusionOk="0" h="120000" w="120000">
                  <a:moveTo>
                    <a:pt x="0" y="0"/>
                  </a:moveTo>
                  <a:cubicBezTo>
                    <a:pt x="48000" y="0"/>
                    <a:pt x="64000" y="120000"/>
                    <a:pt x="120000" y="120000"/>
                  </a:cubicBezTo>
                </a:path>
              </a:pathLst>
            </a:custGeom>
            <a:solidFill>
              <a:srgbClr val="000000">
                <a:alpha val="0"/>
              </a:srgbClr>
            </a:solidFill>
            <a:ln cap="flat" cmpd="sng" w="1905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 name="Google Shape;65;p14"/>
            <p:cNvSpPr/>
            <p:nvPr/>
          </p:nvSpPr>
          <p:spPr>
            <a:xfrm>
              <a:off x="952500" y="1285875"/>
              <a:ext cx="714300" cy="0"/>
            </a:xfrm>
            <a:custGeom>
              <a:rect b="b" l="l" r="r" t="t"/>
              <a:pathLst>
                <a:path extrusionOk="0" h="120000" w="120000">
                  <a:moveTo>
                    <a:pt x="0" y="0"/>
                  </a:moveTo>
                  <a:lnTo>
                    <a:pt x="120000" y="0"/>
                  </a:lnTo>
                </a:path>
              </a:pathLst>
            </a:custGeom>
            <a:solidFill>
              <a:srgbClr val="000000">
                <a:alpha val="0"/>
              </a:srgbClr>
            </a:solidFill>
            <a:ln cap="flat" cmpd="sng" w="1905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6" name="Google Shape;66;p14"/>
            <p:cNvSpPr/>
            <p:nvPr/>
          </p:nvSpPr>
          <p:spPr>
            <a:xfrm>
              <a:off x="952500" y="1285875"/>
              <a:ext cx="714300" cy="514500"/>
            </a:xfrm>
            <a:custGeom>
              <a:rect b="b" l="l" r="r" t="t"/>
              <a:pathLst>
                <a:path extrusionOk="0" h="120000" w="120000">
                  <a:moveTo>
                    <a:pt x="0" y="120000"/>
                  </a:moveTo>
                  <a:cubicBezTo>
                    <a:pt x="48000" y="120000"/>
                    <a:pt x="64000" y="0"/>
                    <a:pt x="120000" y="0"/>
                  </a:cubicBezTo>
                </a:path>
              </a:pathLst>
            </a:custGeom>
            <a:solidFill>
              <a:srgbClr val="000000">
                <a:alpha val="0"/>
              </a:srgbClr>
            </a:solidFill>
            <a:ln cap="flat" cmpd="sng" w="1905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 name="Google Shape;67;p14"/>
            <p:cNvSpPr/>
            <p:nvPr/>
          </p:nvSpPr>
          <p:spPr>
            <a:xfrm>
              <a:off x="190500" y="619125"/>
              <a:ext cx="762000" cy="304800"/>
            </a:xfrm>
            <a:prstGeom prst="roundRect">
              <a:avLst>
                <a:gd fmla="val 12500" name="adj"/>
              </a:avLst>
            </a:prstGeom>
            <a:solidFill>
              <a:srgbClr val="FFFFFF"/>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 name="Google Shape;68;p14"/>
            <p:cNvSpPr txBox="1"/>
            <p:nvPr/>
          </p:nvSpPr>
          <p:spPr>
            <a:xfrm>
              <a:off x="190500" y="619125"/>
              <a:ext cx="7620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800">
                  <a:solidFill>
                    <a:srgbClr val="1A1A1A"/>
                  </a:solidFill>
                  <a:latin typeface="JetBrains Mono SemiBold"/>
                  <a:ea typeface="JetBrains Mono SemiBold"/>
                  <a:cs typeface="JetBrains Mono SemiBold"/>
                  <a:sym typeface="JetBrains Mono SemiBold"/>
                </a:rPr>
                <a:t>node_01 </a:t>
              </a:r>
              <a:r>
                <a:rPr b="0" lang="en" sz="800">
                  <a:solidFill>
                    <a:schemeClr val="dk1"/>
                  </a:solidFill>
                  <a:latin typeface="JetBrains Mono SemiBold"/>
                  <a:ea typeface="JetBrains Mono SemiBold"/>
                  <a:cs typeface="JetBrains Mono SemiBold"/>
                  <a:sym typeface="JetBrains Mono SemiBold"/>
                </a:rPr>
                <a:t>(RTOS)</a:t>
              </a:r>
              <a:endParaRPr b="0" sz="800">
                <a:solidFill>
                  <a:schemeClr val="dk1"/>
                </a:solidFill>
                <a:latin typeface="JetBrains Mono SemiBold"/>
                <a:ea typeface="JetBrains Mono SemiBold"/>
                <a:cs typeface="JetBrains Mono SemiBold"/>
                <a:sym typeface="JetBrains Mono SemiBold"/>
              </a:endParaRPr>
            </a:p>
          </p:txBody>
        </p:sp>
        <p:sp>
          <p:nvSpPr>
            <p:cNvPr id="69" name="Google Shape;69;p14"/>
            <p:cNvSpPr/>
            <p:nvPr/>
          </p:nvSpPr>
          <p:spPr>
            <a:xfrm>
              <a:off x="190500" y="1133475"/>
              <a:ext cx="762000" cy="304800"/>
            </a:xfrm>
            <a:prstGeom prst="roundRect">
              <a:avLst>
                <a:gd fmla="val 12500" name="adj"/>
              </a:avLst>
            </a:prstGeom>
            <a:solidFill>
              <a:srgbClr val="FFFFFF"/>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 name="Google Shape;70;p14"/>
            <p:cNvSpPr txBox="1"/>
            <p:nvPr/>
          </p:nvSpPr>
          <p:spPr>
            <a:xfrm>
              <a:off x="190500" y="1133475"/>
              <a:ext cx="7620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800">
                  <a:solidFill>
                    <a:srgbClr val="1A1A1A"/>
                  </a:solidFill>
                  <a:latin typeface="JetBrains Mono SemiBold"/>
                  <a:ea typeface="JetBrains Mono SemiBold"/>
                  <a:cs typeface="JetBrains Mono SemiBold"/>
                  <a:sym typeface="JetBrains Mono SemiBold"/>
                </a:rPr>
                <a:t>node_02 </a:t>
              </a:r>
              <a:r>
                <a:rPr b="0" lang="en" sz="800">
                  <a:solidFill>
                    <a:schemeClr val="dk1"/>
                  </a:solidFill>
                  <a:latin typeface="JetBrains Mono SemiBold"/>
                  <a:ea typeface="JetBrains Mono SemiBold"/>
                  <a:cs typeface="JetBrains Mono SemiBold"/>
                  <a:sym typeface="JetBrains Mono SemiBold"/>
                </a:rPr>
                <a:t>(RTOS)</a:t>
              </a:r>
              <a:endParaRPr b="0" sz="800">
                <a:solidFill>
                  <a:schemeClr val="dk1"/>
                </a:solidFill>
                <a:latin typeface="JetBrains Mono SemiBold"/>
                <a:ea typeface="JetBrains Mono SemiBold"/>
                <a:cs typeface="JetBrains Mono SemiBold"/>
                <a:sym typeface="JetBrains Mono SemiBold"/>
              </a:endParaRPr>
            </a:p>
          </p:txBody>
        </p:sp>
        <p:sp>
          <p:nvSpPr>
            <p:cNvPr id="71" name="Google Shape;71;p14"/>
            <p:cNvSpPr/>
            <p:nvPr/>
          </p:nvSpPr>
          <p:spPr>
            <a:xfrm>
              <a:off x="190500" y="1647825"/>
              <a:ext cx="762000" cy="304800"/>
            </a:xfrm>
            <a:prstGeom prst="roundRect">
              <a:avLst>
                <a:gd fmla="val 12500" name="adj"/>
              </a:avLst>
            </a:prstGeom>
            <a:solidFill>
              <a:srgbClr val="FFFFFF"/>
            </a:solidFill>
            <a:ln cap="flat" cmpd="sng" w="143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 name="Google Shape;72;p14"/>
            <p:cNvSpPr txBox="1"/>
            <p:nvPr/>
          </p:nvSpPr>
          <p:spPr>
            <a:xfrm>
              <a:off x="190500" y="1647825"/>
              <a:ext cx="762000" cy="304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800">
                  <a:solidFill>
                    <a:srgbClr val="1A1A1A"/>
                  </a:solidFill>
                  <a:latin typeface="JetBrains Mono SemiBold"/>
                  <a:ea typeface="JetBrains Mono SemiBold"/>
                  <a:cs typeface="JetBrains Mono SemiBold"/>
                  <a:sym typeface="JetBrains Mono SemiBold"/>
                </a:rPr>
                <a:t>node_03 </a:t>
              </a:r>
              <a:r>
                <a:rPr b="0" lang="en" sz="800">
                  <a:solidFill>
                    <a:schemeClr val="dk1"/>
                  </a:solidFill>
                  <a:latin typeface="JetBrains Mono SemiBold"/>
                  <a:ea typeface="JetBrains Mono SemiBold"/>
                  <a:cs typeface="JetBrains Mono SemiBold"/>
                  <a:sym typeface="JetBrains Mono SemiBold"/>
                </a:rPr>
                <a:t>(RTOS)</a:t>
              </a:r>
              <a:endParaRPr b="0" sz="800">
                <a:solidFill>
                  <a:schemeClr val="dk1"/>
                </a:solidFill>
                <a:latin typeface="JetBrains Mono SemiBold"/>
                <a:ea typeface="JetBrains Mono SemiBold"/>
                <a:cs typeface="JetBrains Mono SemiBold"/>
                <a:sym typeface="JetBrains Mono SemiBold"/>
              </a:endParaRPr>
            </a:p>
          </p:txBody>
        </p:sp>
        <p:sp>
          <p:nvSpPr>
            <p:cNvPr id="73" name="Google Shape;73;p14"/>
            <p:cNvSpPr/>
            <p:nvPr/>
          </p:nvSpPr>
          <p:spPr>
            <a:xfrm>
              <a:off x="1666875" y="1095375"/>
              <a:ext cx="1095300" cy="381000"/>
            </a:xfrm>
            <a:prstGeom prst="roundRect">
              <a:avLst>
                <a:gd fmla="val 15000" name="adj"/>
              </a:avLst>
            </a:prstGeom>
            <a:solidFill>
              <a:srgbClr val="4338C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 name="Google Shape;74;p14"/>
            <p:cNvSpPr txBox="1"/>
            <p:nvPr/>
          </p:nvSpPr>
          <p:spPr>
            <a:xfrm>
              <a:off x="1666875" y="1095375"/>
              <a:ext cx="1095300" cy="381000"/>
            </a:xfrm>
            <a:prstGeom prst="rect">
              <a:avLst/>
            </a:prstGeom>
            <a:solidFill>
              <a:schemeClr val="dk1"/>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 sz="800">
                  <a:solidFill>
                    <a:srgbClr val="FFFFFF"/>
                  </a:solidFill>
                  <a:latin typeface="JetBrains Mono"/>
                  <a:ea typeface="JetBrains Mono"/>
                  <a:cs typeface="JetBrains Mono"/>
                  <a:sym typeface="JetBrains Mono"/>
                </a:rPr>
                <a:t>COSTAR SYNC</a:t>
              </a:r>
              <a:endParaRPr b="1" sz="800">
                <a:solidFill>
                  <a:srgbClr val="FFFFFF"/>
                </a:solidFill>
                <a:latin typeface="JetBrains Mono"/>
                <a:ea typeface="JetBrains Mono"/>
                <a:cs typeface="JetBrains Mono"/>
                <a:sym typeface="JetBrains Mono"/>
              </a:endParaRPr>
            </a:p>
          </p:txBody>
        </p:sp>
        <p:sp>
          <p:nvSpPr>
            <p:cNvPr id="75" name="Google Shape;75;p14"/>
            <p:cNvSpPr/>
            <p:nvPr/>
          </p:nvSpPr>
          <p:spPr>
            <a:xfrm>
              <a:off x="1276350" y="990600"/>
              <a:ext cx="76200" cy="76200"/>
            </a:xfrm>
            <a:prstGeom prst="ellipse">
              <a:avLst/>
            </a:pr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 name="Google Shape;76;p14"/>
            <p:cNvSpPr/>
            <p:nvPr/>
          </p:nvSpPr>
          <p:spPr>
            <a:xfrm>
              <a:off x="1276350" y="1247775"/>
              <a:ext cx="76200" cy="76200"/>
            </a:xfrm>
            <a:prstGeom prst="ellipse">
              <a:avLst/>
            </a:pr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 name="Google Shape;77;p14"/>
            <p:cNvSpPr/>
            <p:nvPr/>
          </p:nvSpPr>
          <p:spPr>
            <a:xfrm>
              <a:off x="1276350" y="1504950"/>
              <a:ext cx="76200" cy="76200"/>
            </a:xfrm>
            <a:prstGeom prst="ellipse">
              <a:avLst/>
            </a:pr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solidFill>
                  <a:schemeClr val="dk1"/>
                </a:solidFill>
              </a:endParaRPr>
            </a:p>
          </p:txBody>
        </p:sp>
        <p:pic>
          <p:nvPicPr>
            <p:cNvPr id="78" name="Google Shape;78;p14"/>
            <p:cNvPicPr preferRelativeResize="0"/>
            <p:nvPr/>
          </p:nvPicPr>
          <p:blipFill rotWithShape="1">
            <a:blip r:embed="rId4">
              <a:alphaModFix/>
            </a:blip>
            <a:srcRect b="0" l="0" r="0" t="0"/>
            <a:stretch/>
          </p:blipFill>
          <p:spPr>
            <a:xfrm>
              <a:off x="185738" y="2281238"/>
              <a:ext cx="2581200" cy="485700"/>
            </a:xfrm>
            <a:prstGeom prst="rect">
              <a:avLst/>
            </a:prstGeom>
            <a:noFill/>
            <a:ln>
              <a:noFill/>
            </a:ln>
          </p:spPr>
        </p:pic>
        <p:sp>
          <p:nvSpPr>
            <p:cNvPr id="79" name="Google Shape;79;p14"/>
            <p:cNvSpPr txBox="1"/>
            <p:nvPr/>
          </p:nvSpPr>
          <p:spPr>
            <a:xfrm>
              <a:off x="285750" y="2286000"/>
              <a:ext cx="23814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750">
                  <a:solidFill>
                    <a:srgbClr val="5F6368"/>
                  </a:solidFill>
                  <a:latin typeface="JetBrains Mono"/>
                  <a:ea typeface="JetBrains Mono"/>
                  <a:cs typeface="JetBrains Mono"/>
                  <a:sym typeface="JetBrains Mono"/>
                </a:rPr>
                <a:t>sim_rate: </a:t>
              </a:r>
              <a:r>
                <a:rPr b="1" lang="en" sz="750">
                  <a:solidFill>
                    <a:schemeClr val="dk1"/>
                  </a:solidFill>
                  <a:latin typeface="JetBrains Mono"/>
                  <a:ea typeface="JetBrains Mono"/>
                  <a:cs typeface="JetBrains Mono"/>
                  <a:sym typeface="JetBrains Mono"/>
                </a:rPr>
                <a:t>NATIVE (1:1)</a:t>
              </a:r>
              <a:endParaRPr sz="750">
                <a:solidFill>
                  <a:schemeClr val="dk1"/>
                </a:solidFill>
                <a:latin typeface="JetBrains Mono"/>
                <a:ea typeface="JetBrains Mono"/>
                <a:cs typeface="JetBrains Mono"/>
                <a:sym typeface="JetBrains Mono"/>
              </a:endParaRPr>
            </a:p>
            <a:p>
              <a:pPr indent="0" lvl="0" marL="0" rtl="0" algn="l">
                <a:spcBef>
                  <a:spcPts val="150"/>
                </a:spcBef>
                <a:spcAft>
                  <a:spcPts val="0"/>
                </a:spcAft>
                <a:buNone/>
              </a:pPr>
              <a:r>
                <a:rPr lang="en" sz="750">
                  <a:solidFill>
                    <a:srgbClr val="5F6368"/>
                  </a:solidFill>
                  <a:latin typeface="JetBrains Mono"/>
                  <a:ea typeface="JetBrains Mono"/>
                  <a:cs typeface="JetBrains Mono"/>
                  <a:sym typeface="JetBrains Mono"/>
                </a:rPr>
                <a:t>precision: </a:t>
              </a:r>
              <a:r>
                <a:rPr b="1" lang="en" sz="750">
                  <a:solidFill>
                    <a:schemeClr val="dk1"/>
                  </a:solidFill>
                  <a:latin typeface="JetBrains Mono"/>
                  <a:ea typeface="JetBrains Mono"/>
                  <a:cs typeface="JetBrains Mono"/>
                  <a:sym typeface="JetBrains Mono"/>
                </a:rPr>
                <a:t>DETERMINISTIC</a:t>
              </a:r>
              <a:endParaRPr sz="750">
                <a:solidFill>
                  <a:schemeClr val="dk1"/>
                </a:solidFill>
                <a:latin typeface="JetBrains Mono"/>
                <a:ea typeface="JetBrains Mono"/>
                <a:cs typeface="JetBrains Mono"/>
                <a:sym typeface="JetBrains Mono"/>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5"/>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5" name="Google Shape;85;p15"/>
          <p:cNvSpPr/>
          <p:nvPr/>
        </p:nvSpPr>
        <p:spPr>
          <a:xfrm>
            <a:off x="381000" y="952500"/>
            <a:ext cx="8382000" cy="96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 name="Google Shape;86;p15"/>
          <p:cNvSpPr txBox="1"/>
          <p:nvPr/>
        </p:nvSpPr>
        <p:spPr>
          <a:xfrm>
            <a:off x="381000" y="333375"/>
            <a:ext cx="59520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040">
                <a:solidFill>
                  <a:srgbClr val="1A1A1A"/>
                </a:solidFill>
                <a:latin typeface="Inter"/>
                <a:ea typeface="Inter"/>
                <a:cs typeface="Inter"/>
                <a:sym typeface="Inter"/>
              </a:rPr>
              <a:t>Start with the Wish List</a:t>
            </a:r>
            <a:endParaRPr b="1" sz="2040">
              <a:solidFill>
                <a:srgbClr val="1A1A1A"/>
              </a:solidFill>
              <a:latin typeface="Inter"/>
              <a:ea typeface="Inter"/>
              <a:cs typeface="Inter"/>
              <a:sym typeface="Inter"/>
            </a:endParaRPr>
          </a:p>
          <a:p>
            <a:pPr indent="0" lvl="0" marL="0" rtl="0" algn="l">
              <a:spcBef>
                <a:spcPts val="300"/>
              </a:spcBef>
              <a:spcAft>
                <a:spcPts val="0"/>
              </a:spcAft>
              <a:buNone/>
            </a:pPr>
            <a:r>
              <a:rPr b="0" lang="en" sz="1190">
                <a:solidFill>
                  <a:schemeClr val="dk1"/>
                </a:solidFill>
                <a:latin typeface="Inter"/>
                <a:ea typeface="Inter"/>
                <a:cs typeface="Inter"/>
                <a:sym typeface="Inter"/>
              </a:rPr>
              <a:t>Embedded CI that Feels Like Web/Backend</a:t>
            </a:r>
            <a:endParaRPr b="0" sz="1190">
              <a:solidFill>
                <a:schemeClr val="dk1"/>
              </a:solidFill>
              <a:latin typeface="Inter"/>
              <a:ea typeface="Inter"/>
              <a:cs typeface="Inter"/>
              <a:sym typeface="Inter"/>
            </a:endParaRPr>
          </a:p>
        </p:txBody>
      </p:sp>
      <p:grpSp>
        <p:nvGrpSpPr>
          <p:cNvPr id="87" name="Google Shape;87;p15"/>
          <p:cNvGrpSpPr/>
          <p:nvPr/>
        </p:nvGrpSpPr>
        <p:grpSpPr>
          <a:xfrm>
            <a:off x="381000" y="1143000"/>
            <a:ext cx="8382000" cy="904800"/>
            <a:chOff x="381000" y="1143000"/>
            <a:chExt cx="8382000" cy="904800"/>
          </a:xfrm>
        </p:grpSpPr>
        <p:sp>
          <p:nvSpPr>
            <p:cNvPr id="88" name="Google Shape;88;p15"/>
            <p:cNvSpPr txBox="1"/>
            <p:nvPr/>
          </p:nvSpPr>
          <p:spPr>
            <a:xfrm>
              <a:off x="381000" y="1143000"/>
              <a:ext cx="4000500" cy="9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1A1A1A"/>
                  </a:solidFill>
                  <a:latin typeface="Inter"/>
                  <a:ea typeface="Inter"/>
                  <a:cs typeface="Inter"/>
                  <a:sym typeface="Inter"/>
                </a:rPr>
                <a:t>What would embedded continuous integration look like if it operated with the speed and flexibility of modern web and backend CI pipelines? The goal is to ensure that every single commit can run a realistic, multi-node firmware scenario without relying on expensive, slow physical hardware grids.</a:t>
              </a:r>
              <a:endParaRPr b="0" sz="1100">
                <a:solidFill>
                  <a:srgbClr val="1A1A1A"/>
                </a:solidFill>
                <a:latin typeface="Inter"/>
                <a:ea typeface="Inter"/>
                <a:cs typeface="Inter"/>
                <a:sym typeface="Inter"/>
              </a:endParaRPr>
            </a:p>
          </p:txBody>
        </p:sp>
        <p:sp>
          <p:nvSpPr>
            <p:cNvPr id="89" name="Google Shape;89;p15"/>
            <p:cNvSpPr txBox="1"/>
            <p:nvPr/>
          </p:nvSpPr>
          <p:spPr>
            <a:xfrm>
              <a:off x="4762500" y="1143000"/>
              <a:ext cx="4000500" cy="90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1A1A1A"/>
                  </a:solidFill>
                  <a:latin typeface="Inter"/>
                  <a:ea typeface="Inter"/>
                  <a:cs typeface="Inter"/>
                  <a:sym typeface="Inter"/>
                </a:rPr>
                <a:t>To achieve this ideal state, the simulation environment must be strictly deterministic, allowing developers to diff outputs against golden traces reliably. It must be exceptionally fast to execute on every single pull request without causing pipeline bottlenecks.</a:t>
              </a:r>
              <a:endParaRPr b="0" sz="1100">
                <a:solidFill>
                  <a:srgbClr val="1A1A1A"/>
                </a:solidFill>
                <a:latin typeface="Inter"/>
                <a:ea typeface="Inter"/>
                <a:cs typeface="Inter"/>
                <a:sym typeface="Inter"/>
              </a:endParaRPr>
            </a:p>
          </p:txBody>
        </p:sp>
      </p:grpSp>
      <p:cxnSp>
        <p:nvCxnSpPr>
          <p:cNvPr id="90" name="Google Shape;90;p15"/>
          <p:cNvCxnSpPr/>
          <p:nvPr/>
        </p:nvCxnSpPr>
        <p:spPr>
          <a:xfrm>
            <a:off x="381000" y="2190750"/>
            <a:ext cx="8382000" cy="0"/>
          </a:xfrm>
          <a:prstGeom prst="straightConnector1">
            <a:avLst/>
          </a:prstGeom>
          <a:solidFill>
            <a:srgbClr val="FFFFFF"/>
          </a:solidFill>
          <a:ln cap="flat" cmpd="sng" w="9525">
            <a:solidFill>
              <a:srgbClr val="CBD5E1"/>
            </a:solidFill>
            <a:prstDash val="solid"/>
            <a:round/>
            <a:headEnd len="sm" w="sm" type="none"/>
            <a:tailEnd len="sm" w="sm" type="none"/>
          </a:ln>
        </p:spPr>
      </p:cxnSp>
      <p:grpSp>
        <p:nvGrpSpPr>
          <p:cNvPr id="91" name="Google Shape;91;p15"/>
          <p:cNvGrpSpPr/>
          <p:nvPr/>
        </p:nvGrpSpPr>
        <p:grpSpPr>
          <a:xfrm>
            <a:off x="381000" y="2333625"/>
            <a:ext cx="8382000" cy="1333575"/>
            <a:chOff x="381000" y="2333625"/>
            <a:chExt cx="8382000" cy="1333575"/>
          </a:xfrm>
        </p:grpSpPr>
        <p:sp>
          <p:nvSpPr>
            <p:cNvPr id="92" name="Google Shape;92;p15"/>
            <p:cNvSpPr/>
            <p:nvPr/>
          </p:nvSpPr>
          <p:spPr>
            <a:xfrm>
              <a:off x="381000" y="2333625"/>
              <a:ext cx="2476500" cy="28500"/>
            </a:xfrm>
            <a:prstGeom prst="roundRect">
              <a:avLst>
                <a:gd fmla="val 50000" name="adj"/>
              </a:avLst>
            </a:pr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 name="Google Shape;93;p15"/>
            <p:cNvSpPr txBox="1"/>
            <p:nvPr/>
          </p:nvSpPr>
          <p:spPr>
            <a:xfrm>
              <a:off x="381000" y="2476500"/>
              <a:ext cx="2476500" cy="11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chemeClr val="dk1"/>
                  </a:solidFill>
                  <a:latin typeface="Inter"/>
                  <a:ea typeface="Inter"/>
                  <a:cs typeface="Inter"/>
                  <a:sym typeface="Inter"/>
                </a:rPr>
                <a:t>01 / Simultaneous</a:t>
              </a:r>
              <a:endParaRPr b="1" sz="1200">
                <a:solidFill>
                  <a:schemeClr val="dk1"/>
                </a:solidFill>
                <a:latin typeface="Inter"/>
                <a:ea typeface="Inter"/>
                <a:cs typeface="Inter"/>
                <a:sym typeface="Inter"/>
              </a:endParaRPr>
            </a:p>
            <a:p>
              <a:pPr indent="0" lvl="0" marL="0" rtl="0" algn="l">
                <a:spcBef>
                  <a:spcPts val="600"/>
                </a:spcBef>
                <a:spcAft>
                  <a:spcPts val="0"/>
                </a:spcAft>
                <a:buNone/>
              </a:pPr>
              <a:r>
                <a:rPr b="0" lang="en" sz="1100">
                  <a:solidFill>
                    <a:srgbClr val="5F6368"/>
                  </a:solidFill>
                  <a:latin typeface="Inter"/>
                  <a:ea typeface="Inter"/>
                  <a:cs typeface="Inter"/>
                  <a:sym typeface="Inter"/>
                </a:rPr>
                <a:t>Instant execution of multiple MCUs and RTOSes simultaneously.</a:t>
              </a:r>
              <a:endParaRPr b="0" sz="1100">
                <a:solidFill>
                  <a:srgbClr val="5F6368"/>
                </a:solidFill>
                <a:latin typeface="Inter"/>
                <a:ea typeface="Inter"/>
                <a:cs typeface="Inter"/>
                <a:sym typeface="Inter"/>
              </a:endParaRPr>
            </a:p>
          </p:txBody>
        </p:sp>
        <p:sp>
          <p:nvSpPr>
            <p:cNvPr id="94" name="Google Shape;94;p15"/>
            <p:cNvSpPr/>
            <p:nvPr/>
          </p:nvSpPr>
          <p:spPr>
            <a:xfrm>
              <a:off x="3333750" y="2333625"/>
              <a:ext cx="2476500" cy="28500"/>
            </a:xfrm>
            <a:prstGeom prst="roundRect">
              <a:avLst>
                <a:gd fmla="val 50000" name="adj"/>
              </a:avLst>
            </a:pr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5"/>
            <p:cNvSpPr txBox="1"/>
            <p:nvPr/>
          </p:nvSpPr>
          <p:spPr>
            <a:xfrm>
              <a:off x="3333750" y="2476500"/>
              <a:ext cx="2476500" cy="11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chemeClr val="dk1"/>
                  </a:solidFill>
                  <a:latin typeface="Inter"/>
                  <a:ea typeface="Inter"/>
                  <a:cs typeface="Inter"/>
                  <a:sym typeface="Inter"/>
                </a:rPr>
                <a:t>02 / Virtual Topology</a:t>
              </a:r>
              <a:endParaRPr b="1" sz="1200">
                <a:solidFill>
                  <a:schemeClr val="dk1"/>
                </a:solidFill>
                <a:latin typeface="Inter"/>
                <a:ea typeface="Inter"/>
                <a:cs typeface="Inter"/>
                <a:sym typeface="Inter"/>
              </a:endParaRPr>
            </a:p>
            <a:p>
              <a:pPr indent="0" lvl="0" marL="0" rtl="0" algn="l">
                <a:spcBef>
                  <a:spcPts val="600"/>
                </a:spcBef>
                <a:spcAft>
                  <a:spcPts val="0"/>
                </a:spcAft>
                <a:buNone/>
              </a:pPr>
              <a:r>
                <a:rPr b="0" lang="en" sz="1100">
                  <a:solidFill>
                    <a:srgbClr val="5F6368"/>
                  </a:solidFill>
                  <a:latin typeface="Inter"/>
                  <a:ea typeface="Inter"/>
                  <a:cs typeface="Inter"/>
                  <a:sym typeface="Inter"/>
                </a:rPr>
                <a:t>Comprehensive virtual devices and simulated network interconnects.</a:t>
              </a:r>
              <a:endParaRPr b="0" sz="1100">
                <a:solidFill>
                  <a:srgbClr val="5F6368"/>
                </a:solidFill>
                <a:latin typeface="Inter"/>
                <a:ea typeface="Inter"/>
                <a:cs typeface="Inter"/>
                <a:sym typeface="Inter"/>
              </a:endParaRPr>
            </a:p>
          </p:txBody>
        </p:sp>
        <p:sp>
          <p:nvSpPr>
            <p:cNvPr id="96" name="Google Shape;96;p15"/>
            <p:cNvSpPr/>
            <p:nvPr/>
          </p:nvSpPr>
          <p:spPr>
            <a:xfrm>
              <a:off x="6286500" y="2333625"/>
              <a:ext cx="2476500" cy="28500"/>
            </a:xfrm>
            <a:prstGeom prst="roundRect">
              <a:avLst>
                <a:gd fmla="val 50000" name="adj"/>
              </a:avLst>
            </a:pr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 name="Google Shape;97;p15"/>
            <p:cNvSpPr txBox="1"/>
            <p:nvPr/>
          </p:nvSpPr>
          <p:spPr>
            <a:xfrm>
              <a:off x="6286500" y="2476500"/>
              <a:ext cx="2476500" cy="11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chemeClr val="dk1"/>
                  </a:solidFill>
                  <a:latin typeface="Inter"/>
                  <a:ea typeface="Inter"/>
                  <a:cs typeface="Inter"/>
                  <a:sym typeface="Inter"/>
                </a:rPr>
                <a:t>03 / Deterministic</a:t>
              </a:r>
              <a:endParaRPr b="1" sz="1200">
                <a:solidFill>
                  <a:schemeClr val="dk1"/>
                </a:solidFill>
                <a:latin typeface="Inter"/>
                <a:ea typeface="Inter"/>
                <a:cs typeface="Inter"/>
                <a:sym typeface="Inter"/>
              </a:endParaRPr>
            </a:p>
            <a:p>
              <a:pPr indent="0" lvl="0" marL="0" rtl="0" algn="l">
                <a:spcBef>
                  <a:spcPts val="600"/>
                </a:spcBef>
                <a:spcAft>
                  <a:spcPts val="0"/>
                </a:spcAft>
                <a:buNone/>
              </a:pPr>
              <a:r>
                <a:rPr b="0" lang="en" sz="1100">
                  <a:solidFill>
                    <a:srgbClr val="5F6368"/>
                  </a:solidFill>
                  <a:latin typeface="Inter"/>
                  <a:ea typeface="Inter"/>
                  <a:cs typeface="Inter"/>
                  <a:sym typeface="Inter"/>
                </a:rPr>
                <a:t>100% replayable failures to completely eliminate 'heisenbugs'.</a:t>
              </a:r>
              <a:endParaRPr b="0" sz="1100">
                <a:solidFill>
                  <a:srgbClr val="5F6368"/>
                </a:solidFill>
                <a:latin typeface="Inter"/>
                <a:ea typeface="Inter"/>
                <a:cs typeface="Inter"/>
                <a:sym typeface="Inter"/>
              </a:endParaRPr>
            </a:p>
          </p:txBody>
        </p:sp>
      </p:grpSp>
      <p:grpSp>
        <p:nvGrpSpPr>
          <p:cNvPr id="98" name="Google Shape;98;p15"/>
          <p:cNvGrpSpPr/>
          <p:nvPr/>
        </p:nvGrpSpPr>
        <p:grpSpPr>
          <a:xfrm>
            <a:off x="381000" y="3857625"/>
            <a:ext cx="8382000" cy="809700"/>
            <a:chOff x="381000" y="3857625"/>
            <a:chExt cx="8382000" cy="809700"/>
          </a:xfrm>
        </p:grpSpPr>
        <p:sp>
          <p:nvSpPr>
            <p:cNvPr id="99" name="Google Shape;99;p15"/>
            <p:cNvSpPr/>
            <p:nvPr/>
          </p:nvSpPr>
          <p:spPr>
            <a:xfrm>
              <a:off x="381000" y="3857625"/>
              <a:ext cx="8382000" cy="809700"/>
            </a:xfrm>
            <a:prstGeom prst="roundRect">
              <a:avLst>
                <a:gd fmla="val 7058" name="adj"/>
              </a:avLst>
            </a:prstGeom>
            <a:solidFill>
              <a:srgbClr val="F8F9FA"/>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15"/>
            <p:cNvSpPr/>
            <p:nvPr/>
          </p:nvSpPr>
          <p:spPr>
            <a:xfrm>
              <a:off x="381000" y="3857625"/>
              <a:ext cx="57300" cy="809700"/>
            </a:xfrm>
            <a:prstGeom prst="roundRect">
              <a:avLst>
                <a:gd fmla="val 33333" name="adj"/>
              </a:avLst>
            </a:pr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solidFill>
                  <a:schemeClr val="dk1"/>
                </a:solidFill>
              </a:endParaRPr>
            </a:p>
          </p:txBody>
        </p:sp>
        <p:sp>
          <p:nvSpPr>
            <p:cNvPr id="101" name="Google Shape;101;p15"/>
            <p:cNvSpPr txBox="1"/>
            <p:nvPr/>
          </p:nvSpPr>
          <p:spPr>
            <a:xfrm>
              <a:off x="666750" y="3857625"/>
              <a:ext cx="7810500" cy="8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i="0" lang="en" sz="1150">
                  <a:solidFill>
                    <a:schemeClr val="dk1"/>
                  </a:solidFill>
                  <a:latin typeface="Inter"/>
                  <a:ea typeface="Inter"/>
                  <a:cs typeface="Inter"/>
                  <a:sym typeface="Inter"/>
                </a:rPr>
                <a:t>The Infrastructure Paradigm:</a:t>
              </a:r>
              <a:r>
                <a:rPr b="0" i="0" lang="en" sz="1150">
                  <a:solidFill>
                    <a:srgbClr val="1A1A1A"/>
                  </a:solidFill>
                  <a:latin typeface="Inter"/>
                  <a:ea typeface="Inter"/>
                  <a:cs typeface="Inter"/>
                  <a:sym typeface="Inter"/>
                </a:rPr>
                <a:t> If we solve this core infrastructure challenge, simulation stops being an occasional, difficult-to-maintain demo and becomes a seamless, normal part of the daily development loop.</a:t>
              </a:r>
              <a:endParaRPr b="0" i="0" sz="1150">
                <a:solidFill>
                  <a:srgbClr val="1A1A1A"/>
                </a:solidFill>
                <a:latin typeface="Inter"/>
                <a:ea typeface="Inter"/>
                <a:cs typeface="Inter"/>
                <a:sym typeface="Inte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5" name="Shape 105"/>
        <p:cNvGrpSpPr/>
        <p:nvPr/>
      </p:nvGrpSpPr>
      <p:grpSpPr>
        <a:xfrm>
          <a:off x="0" y="0"/>
          <a:ext cx="0" cy="0"/>
          <a:chOff x="0" y="0"/>
          <a:chExt cx="0" cy="0"/>
        </a:xfrm>
      </p:grpSpPr>
      <p:sp>
        <p:nvSpPr>
          <p:cNvPr id="106" name="Google Shape;106;p16"/>
          <p:cNvSpPr/>
          <p:nvPr/>
        </p:nvSpPr>
        <p:spPr>
          <a:xfrm>
            <a:off x="381000" y="952500"/>
            <a:ext cx="8382000" cy="96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 name="Google Shape;107;p16"/>
          <p:cNvSpPr txBox="1"/>
          <p:nvPr/>
        </p:nvSpPr>
        <p:spPr>
          <a:xfrm>
            <a:off x="381000" y="238125"/>
            <a:ext cx="67629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200">
                <a:solidFill>
                  <a:srgbClr val="1A1A1A"/>
                </a:solidFill>
                <a:latin typeface="Inter"/>
                <a:ea typeface="Inter"/>
                <a:cs typeface="Inter"/>
                <a:sym typeface="Inter"/>
              </a:rPr>
              <a:t>Two Tools Proving Pieces of the Answer</a:t>
            </a:r>
            <a:endParaRPr b="1" sz="2200">
              <a:solidFill>
                <a:srgbClr val="1A1A1A"/>
              </a:solidFill>
              <a:latin typeface="Inter"/>
              <a:ea typeface="Inter"/>
              <a:cs typeface="Inter"/>
              <a:sym typeface="Inter"/>
            </a:endParaRPr>
          </a:p>
          <a:p>
            <a:pPr indent="0" lvl="0" marL="0" rtl="0" algn="l">
              <a:spcBef>
                <a:spcPts val="150"/>
              </a:spcBef>
              <a:spcAft>
                <a:spcPts val="0"/>
              </a:spcAft>
              <a:buNone/>
            </a:pPr>
            <a:r>
              <a:rPr b="0" lang="en" sz="1400">
                <a:solidFill>
                  <a:schemeClr val="dk1"/>
                </a:solidFill>
                <a:latin typeface="Inter Medium"/>
                <a:ea typeface="Inter Medium"/>
                <a:cs typeface="Inter Medium"/>
                <a:sym typeface="Inter Medium"/>
              </a:rPr>
              <a:t>Renode &amp; Zephyr Native_Sim Trade-offs</a:t>
            </a:r>
            <a:endParaRPr b="0" sz="1400">
              <a:solidFill>
                <a:schemeClr val="dk1"/>
              </a:solidFill>
              <a:latin typeface="Inter Medium"/>
              <a:ea typeface="Inter Medium"/>
              <a:cs typeface="Inter Medium"/>
              <a:sym typeface="Inter Medium"/>
            </a:endParaRPr>
          </a:p>
        </p:txBody>
      </p:sp>
      <p:grpSp>
        <p:nvGrpSpPr>
          <p:cNvPr id="108" name="Google Shape;108;p16"/>
          <p:cNvGrpSpPr/>
          <p:nvPr/>
        </p:nvGrpSpPr>
        <p:grpSpPr>
          <a:xfrm>
            <a:off x="381000" y="1143000"/>
            <a:ext cx="4048200" cy="2428800"/>
            <a:chOff x="0" y="0"/>
            <a:chExt cx="4048200" cy="2428800"/>
          </a:xfrm>
        </p:grpSpPr>
        <p:sp>
          <p:nvSpPr>
            <p:cNvPr id="109" name="Google Shape;109;p16"/>
            <p:cNvSpPr/>
            <p:nvPr/>
          </p:nvSpPr>
          <p:spPr>
            <a:xfrm>
              <a:off x="0" y="0"/>
              <a:ext cx="4048200" cy="2428800"/>
            </a:xfrm>
            <a:prstGeom prst="roundRect">
              <a:avLst>
                <a:gd fmla="val 3137" name="adj"/>
              </a:avLst>
            </a:prstGeom>
            <a:solidFill>
              <a:srgbClr val="F8F9FA"/>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 name="Google Shape;110;p16"/>
            <p:cNvSpPr/>
            <p:nvPr/>
          </p:nvSpPr>
          <p:spPr>
            <a:xfrm>
              <a:off x="0" y="0"/>
              <a:ext cx="4048200" cy="38100"/>
            </a:xfrm>
            <a:prstGeom prst="roundRect">
              <a:avLst>
                <a:gd fmla="val 50000" name="adj"/>
              </a:avLst>
            </a:pr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11" name="Google Shape;111;p16"/>
            <p:cNvGrpSpPr/>
            <p:nvPr/>
          </p:nvGrpSpPr>
          <p:grpSpPr>
            <a:xfrm>
              <a:off x="209550" y="171450"/>
              <a:ext cx="266700" cy="247650"/>
              <a:chOff x="19050" y="19050"/>
              <a:chExt cx="266700" cy="247650"/>
            </a:xfrm>
          </p:grpSpPr>
          <p:sp>
            <p:nvSpPr>
              <p:cNvPr id="112" name="Google Shape;112;p16"/>
              <p:cNvSpPr/>
              <p:nvPr/>
            </p:nvSpPr>
            <p:spPr>
              <a:xfrm>
                <a:off x="114300" y="19050"/>
                <a:ext cx="76200" cy="76200"/>
              </a:xfrm>
              <a:prstGeom prst="ellipse">
                <a:avLst/>
              </a:prstGeom>
              <a:solidFill>
                <a:srgbClr val="000000">
                  <a:alpha val="0"/>
                </a:srgbClr>
              </a:solidFill>
              <a:ln cap="flat" cmpd="sng" w="1905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 name="Google Shape;113;p16"/>
              <p:cNvSpPr/>
              <p:nvPr/>
            </p:nvSpPr>
            <p:spPr>
              <a:xfrm>
                <a:off x="19050" y="190500"/>
                <a:ext cx="76200" cy="76200"/>
              </a:xfrm>
              <a:prstGeom prst="ellipse">
                <a:avLst/>
              </a:prstGeom>
              <a:solidFill>
                <a:srgbClr val="000000">
                  <a:alpha val="0"/>
                </a:srgbClr>
              </a:solidFill>
              <a:ln cap="flat" cmpd="sng" w="1905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 name="Google Shape;114;p16"/>
              <p:cNvSpPr/>
              <p:nvPr/>
            </p:nvSpPr>
            <p:spPr>
              <a:xfrm>
                <a:off x="209550" y="190500"/>
                <a:ext cx="76200" cy="76200"/>
              </a:xfrm>
              <a:prstGeom prst="ellipse">
                <a:avLst/>
              </a:prstGeom>
              <a:solidFill>
                <a:srgbClr val="000000">
                  <a:alpha val="0"/>
                </a:srgbClr>
              </a:solidFill>
              <a:ln cap="flat" cmpd="sng" w="1905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 name="Google Shape;115;p16"/>
              <p:cNvSpPr/>
              <p:nvPr/>
            </p:nvSpPr>
            <p:spPr>
              <a:xfrm>
                <a:off x="76200" y="85725"/>
                <a:ext cx="152400" cy="142800"/>
              </a:xfrm>
              <a:custGeom>
                <a:rect b="b" l="l" r="r" t="t"/>
                <a:pathLst>
                  <a:path extrusionOk="0" fill="none" h="120000" w="120000">
                    <a:moveTo>
                      <a:pt x="45000" y="0"/>
                    </a:moveTo>
                    <a:lnTo>
                      <a:pt x="0" y="96000"/>
                    </a:lnTo>
                    <a:moveTo>
                      <a:pt x="75000" y="0"/>
                    </a:moveTo>
                    <a:lnTo>
                      <a:pt x="120000" y="96000"/>
                    </a:lnTo>
                    <a:moveTo>
                      <a:pt x="15000" y="120000"/>
                    </a:moveTo>
                    <a:lnTo>
                      <a:pt x="105000" y="120000"/>
                    </a:lnTo>
                  </a:path>
                </a:pathLst>
              </a:custGeom>
              <a:solidFill>
                <a:srgbClr val="FFFFFF"/>
              </a:solidFill>
              <a:ln cap="rnd" cmpd="sng" w="1905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solidFill>
                    <a:schemeClr val="dk1"/>
                  </a:solidFill>
                </a:endParaRPr>
              </a:p>
            </p:txBody>
          </p:sp>
        </p:grpSp>
        <p:sp>
          <p:nvSpPr>
            <p:cNvPr id="116" name="Google Shape;116;p16"/>
            <p:cNvSpPr txBox="1"/>
            <p:nvPr/>
          </p:nvSpPr>
          <p:spPr>
            <a:xfrm>
              <a:off x="571500" y="133350"/>
              <a:ext cx="32862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600">
                  <a:solidFill>
                    <a:srgbClr val="1A1A1A"/>
                  </a:solidFill>
                  <a:latin typeface="Inter SemiBold"/>
                  <a:ea typeface="Inter SemiBold"/>
                  <a:cs typeface="Inter SemiBold"/>
                  <a:sym typeface="Inter SemiBold"/>
                </a:rPr>
                <a:t>Renode</a:t>
              </a:r>
              <a:endParaRPr/>
            </a:p>
          </p:txBody>
        </p:sp>
        <p:sp>
          <p:nvSpPr>
            <p:cNvPr id="117" name="Google Shape;117;p16"/>
            <p:cNvSpPr txBox="1"/>
            <p:nvPr/>
          </p:nvSpPr>
          <p:spPr>
            <a:xfrm>
              <a:off x="190500" y="571500"/>
              <a:ext cx="36672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chemeClr val="dk1"/>
                  </a:solidFill>
                  <a:latin typeface="Inter SemiBold"/>
                  <a:ea typeface="Inter SemiBold"/>
                  <a:cs typeface="Inter SemiBold"/>
                  <a:sym typeface="Inter SemiBold"/>
                </a:rPr>
                <a:t>Multi-Node Mindset</a:t>
              </a:r>
              <a:endParaRPr b="0" sz="1000">
                <a:solidFill>
                  <a:schemeClr val="dk1"/>
                </a:solidFill>
                <a:latin typeface="Inter SemiBold"/>
                <a:ea typeface="Inter SemiBold"/>
                <a:cs typeface="Inter SemiBold"/>
                <a:sym typeface="Inter SemiBold"/>
              </a:endParaRPr>
            </a:p>
            <a:p>
              <a:pPr indent="0" lvl="0" marL="0" rtl="0" algn="l">
                <a:spcBef>
                  <a:spcPts val="750"/>
                </a:spcBef>
                <a:spcAft>
                  <a:spcPts val="0"/>
                </a:spcAft>
                <a:buNone/>
              </a:pPr>
              <a:r>
                <a:rPr lang="en" sz="1150">
                  <a:solidFill>
                    <a:srgbClr val="5F6368"/>
                  </a:solidFill>
                  <a:latin typeface="Inter"/>
                  <a:ea typeface="Inter"/>
                  <a:cs typeface="Inter"/>
                  <a:sym typeface="Inter"/>
                </a:rPr>
                <a:t>Offers excellent multi-node system simulation and real ISA emulation, delivering high hardware fidelity.</a:t>
              </a:r>
              <a:endParaRPr sz="1150">
                <a:solidFill>
                  <a:srgbClr val="5F6368"/>
                </a:solidFill>
                <a:latin typeface="Inter"/>
                <a:ea typeface="Inter"/>
                <a:cs typeface="Inter"/>
                <a:sym typeface="Inter"/>
              </a:endParaRPr>
            </a:p>
            <a:p>
              <a:pPr indent="0" lvl="0" marL="0" rtl="0" algn="l">
                <a:spcBef>
                  <a:spcPts val="900"/>
                </a:spcBef>
                <a:spcAft>
                  <a:spcPts val="0"/>
                </a:spcAft>
                <a:buNone/>
              </a:pPr>
              <a:r>
                <a:rPr b="0" lang="en" sz="1150">
                  <a:solidFill>
                    <a:schemeClr val="dk1"/>
                  </a:solidFill>
                  <a:latin typeface="Inter SemiBold"/>
                  <a:ea typeface="Inter SemiBold"/>
                  <a:cs typeface="Inter SemiBold"/>
                  <a:sym typeface="Inter SemiBold"/>
                </a:rPr>
                <a:t>Trade-off:</a:t>
              </a:r>
              <a:r>
                <a:rPr lang="en" sz="1150">
                  <a:solidFill>
                    <a:srgbClr val="1A1A1A"/>
                  </a:solidFill>
                  <a:latin typeface="Inter"/>
                  <a:ea typeface="Inter"/>
                  <a:cs typeface="Inter"/>
                  <a:sym typeface="Inter"/>
                </a:rPr>
                <a:t> Full instruction-set translation comes at the cost of execution speed.</a:t>
              </a:r>
              <a:endParaRPr sz="1150">
                <a:solidFill>
                  <a:srgbClr val="1A1A1A"/>
                </a:solidFill>
                <a:latin typeface="Inter"/>
                <a:ea typeface="Inter"/>
                <a:cs typeface="Inter"/>
                <a:sym typeface="Inter"/>
              </a:endParaRPr>
            </a:p>
          </p:txBody>
        </p:sp>
      </p:grpSp>
      <p:grpSp>
        <p:nvGrpSpPr>
          <p:cNvPr id="118" name="Google Shape;118;p16"/>
          <p:cNvGrpSpPr/>
          <p:nvPr/>
        </p:nvGrpSpPr>
        <p:grpSpPr>
          <a:xfrm>
            <a:off x="4714875" y="1143000"/>
            <a:ext cx="4048200" cy="2428800"/>
            <a:chOff x="0" y="0"/>
            <a:chExt cx="4048200" cy="2428800"/>
          </a:xfrm>
        </p:grpSpPr>
        <p:sp>
          <p:nvSpPr>
            <p:cNvPr id="119" name="Google Shape;119;p16"/>
            <p:cNvSpPr/>
            <p:nvPr/>
          </p:nvSpPr>
          <p:spPr>
            <a:xfrm>
              <a:off x="0" y="0"/>
              <a:ext cx="4048200" cy="2428800"/>
            </a:xfrm>
            <a:prstGeom prst="roundRect">
              <a:avLst>
                <a:gd fmla="val 3137" name="adj"/>
              </a:avLst>
            </a:prstGeom>
            <a:solidFill>
              <a:srgbClr val="F8F9FA"/>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6"/>
            <p:cNvSpPr/>
            <p:nvPr/>
          </p:nvSpPr>
          <p:spPr>
            <a:xfrm>
              <a:off x="0" y="0"/>
              <a:ext cx="4048200" cy="38100"/>
            </a:xfrm>
            <a:prstGeom prst="roundRect">
              <a:avLst>
                <a:gd fmla="val 50000" name="adj"/>
              </a:avLst>
            </a:pr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21" name="Google Shape;121;p16"/>
            <p:cNvGrpSpPr/>
            <p:nvPr/>
          </p:nvGrpSpPr>
          <p:grpSpPr>
            <a:xfrm>
              <a:off x="209550" y="171450"/>
              <a:ext cx="266700" cy="266700"/>
              <a:chOff x="19050" y="19050"/>
              <a:chExt cx="266700" cy="266700"/>
            </a:xfrm>
          </p:grpSpPr>
          <p:sp>
            <p:nvSpPr>
              <p:cNvPr id="122" name="Google Shape;122;p16"/>
              <p:cNvSpPr/>
              <p:nvPr/>
            </p:nvSpPr>
            <p:spPr>
              <a:xfrm>
                <a:off x="57150" y="57150"/>
                <a:ext cx="190500" cy="190500"/>
              </a:xfrm>
              <a:prstGeom prst="roundRect">
                <a:avLst>
                  <a:gd fmla="val 10000" name="adj"/>
                </a:avLst>
              </a:prstGeom>
              <a:solidFill>
                <a:srgbClr val="000000">
                  <a:alpha val="0"/>
                </a:srgbClr>
              </a:solidFill>
              <a:ln cap="flat" cmpd="sng" w="1905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 name="Google Shape;123;p16"/>
              <p:cNvSpPr/>
              <p:nvPr/>
            </p:nvSpPr>
            <p:spPr>
              <a:xfrm>
                <a:off x="19050" y="19050"/>
                <a:ext cx="266700" cy="266700"/>
              </a:xfrm>
              <a:custGeom>
                <a:rect b="b" l="l" r="r" t="t"/>
                <a:pathLst>
                  <a:path extrusionOk="0" fill="none" h="120000" w="120000">
                    <a:moveTo>
                      <a:pt x="17143" y="34286"/>
                    </a:moveTo>
                    <a:lnTo>
                      <a:pt x="0" y="34286"/>
                    </a:lnTo>
                    <a:moveTo>
                      <a:pt x="17143" y="60000"/>
                    </a:moveTo>
                    <a:lnTo>
                      <a:pt x="0" y="60000"/>
                    </a:lnTo>
                    <a:moveTo>
                      <a:pt x="17143" y="85714"/>
                    </a:moveTo>
                    <a:lnTo>
                      <a:pt x="0" y="85714"/>
                    </a:lnTo>
                    <a:moveTo>
                      <a:pt x="102857" y="34286"/>
                    </a:moveTo>
                    <a:lnTo>
                      <a:pt x="120000" y="34286"/>
                    </a:lnTo>
                    <a:moveTo>
                      <a:pt x="102857" y="60000"/>
                    </a:moveTo>
                    <a:lnTo>
                      <a:pt x="120000" y="60000"/>
                    </a:lnTo>
                    <a:moveTo>
                      <a:pt x="102857" y="85714"/>
                    </a:moveTo>
                    <a:lnTo>
                      <a:pt x="120000" y="85714"/>
                    </a:lnTo>
                    <a:moveTo>
                      <a:pt x="34286" y="17143"/>
                    </a:moveTo>
                    <a:lnTo>
                      <a:pt x="34286" y="0"/>
                    </a:lnTo>
                    <a:moveTo>
                      <a:pt x="60000" y="17143"/>
                    </a:moveTo>
                    <a:lnTo>
                      <a:pt x="60000" y="0"/>
                    </a:lnTo>
                    <a:moveTo>
                      <a:pt x="85714" y="17143"/>
                    </a:moveTo>
                    <a:lnTo>
                      <a:pt x="85714" y="0"/>
                    </a:lnTo>
                    <a:moveTo>
                      <a:pt x="34286" y="102857"/>
                    </a:moveTo>
                    <a:lnTo>
                      <a:pt x="34286" y="120000"/>
                    </a:lnTo>
                    <a:moveTo>
                      <a:pt x="60000" y="102857"/>
                    </a:moveTo>
                    <a:lnTo>
                      <a:pt x="60000" y="120000"/>
                    </a:lnTo>
                    <a:moveTo>
                      <a:pt x="85714" y="102857"/>
                    </a:moveTo>
                    <a:lnTo>
                      <a:pt x="85714" y="120000"/>
                    </a:lnTo>
                  </a:path>
                </a:pathLst>
              </a:custGeom>
              <a:solidFill>
                <a:srgbClr val="FFFFFF"/>
              </a:solidFill>
              <a:ln cap="rnd" cmpd="sng" w="1905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24" name="Google Shape;124;p16"/>
            <p:cNvSpPr txBox="1"/>
            <p:nvPr/>
          </p:nvSpPr>
          <p:spPr>
            <a:xfrm>
              <a:off x="571500" y="133350"/>
              <a:ext cx="3286200" cy="304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600">
                  <a:solidFill>
                    <a:srgbClr val="1A1A1A"/>
                  </a:solidFill>
                  <a:latin typeface="Inter SemiBold"/>
                  <a:ea typeface="Inter SemiBold"/>
                  <a:cs typeface="Inter SemiBold"/>
                  <a:sym typeface="Inter SemiBold"/>
                </a:rPr>
                <a:t>Zephyr native_sim</a:t>
              </a:r>
              <a:endParaRPr/>
            </a:p>
          </p:txBody>
        </p:sp>
        <p:sp>
          <p:nvSpPr>
            <p:cNvPr id="125" name="Google Shape;125;p16"/>
            <p:cNvSpPr txBox="1"/>
            <p:nvPr/>
          </p:nvSpPr>
          <p:spPr>
            <a:xfrm>
              <a:off x="190500" y="571500"/>
              <a:ext cx="36672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00">
                  <a:solidFill>
                    <a:schemeClr val="dk1"/>
                  </a:solidFill>
                  <a:latin typeface="Inter SemiBold"/>
                  <a:ea typeface="Inter SemiBold"/>
                  <a:cs typeface="Inter SemiBold"/>
                  <a:sym typeface="Inter SemiBold"/>
                </a:rPr>
                <a:t>Host-Native Speed Mindset</a:t>
              </a:r>
              <a:endParaRPr b="0" sz="1000">
                <a:solidFill>
                  <a:schemeClr val="dk1"/>
                </a:solidFill>
                <a:latin typeface="Inter SemiBold"/>
                <a:ea typeface="Inter SemiBold"/>
                <a:cs typeface="Inter SemiBold"/>
                <a:sym typeface="Inter SemiBold"/>
              </a:endParaRPr>
            </a:p>
            <a:p>
              <a:pPr indent="0" lvl="0" marL="0" rtl="0" algn="l">
                <a:spcBef>
                  <a:spcPts val="750"/>
                </a:spcBef>
                <a:spcAft>
                  <a:spcPts val="0"/>
                </a:spcAft>
                <a:buNone/>
              </a:pPr>
              <a:r>
                <a:rPr lang="en" sz="1150">
                  <a:solidFill>
                    <a:srgbClr val="5F6368"/>
                  </a:solidFill>
                  <a:latin typeface="Inter"/>
                  <a:ea typeface="Inter"/>
                  <a:cs typeface="Inter"/>
                  <a:sym typeface="Inter"/>
                </a:rPr>
                <a:t>Compiles the Zephyr application as a host executable, resulting in incredibly fast execution with very low overhead.</a:t>
              </a:r>
              <a:endParaRPr sz="1150">
                <a:solidFill>
                  <a:srgbClr val="5F6368"/>
                </a:solidFill>
                <a:latin typeface="Inter"/>
                <a:ea typeface="Inter"/>
                <a:cs typeface="Inter"/>
                <a:sym typeface="Inter"/>
              </a:endParaRPr>
            </a:p>
            <a:p>
              <a:pPr indent="0" lvl="0" marL="0" rtl="0" algn="l">
                <a:spcBef>
                  <a:spcPts val="900"/>
                </a:spcBef>
                <a:spcAft>
                  <a:spcPts val="0"/>
                </a:spcAft>
                <a:buNone/>
              </a:pPr>
              <a:r>
                <a:rPr b="0" lang="en" sz="1150">
                  <a:solidFill>
                    <a:schemeClr val="dk1"/>
                  </a:solidFill>
                  <a:latin typeface="Inter SemiBold"/>
                  <a:ea typeface="Inter SemiBold"/>
                  <a:cs typeface="Inter SemiBold"/>
                  <a:sym typeface="Inter SemiBold"/>
                </a:rPr>
                <a:t>Trade-off:</a:t>
              </a:r>
              <a:r>
                <a:rPr lang="en" sz="1150">
                  <a:solidFill>
                    <a:srgbClr val="1A1A1A"/>
                  </a:solidFill>
                  <a:latin typeface="Inter"/>
                  <a:ea typeface="Inter"/>
                  <a:cs typeface="Inter"/>
                  <a:sym typeface="Inter"/>
                </a:rPr>
                <a:t> Limited in scope, typically handling a single simulated MCU at a time.</a:t>
              </a:r>
              <a:endParaRPr sz="1150">
                <a:solidFill>
                  <a:srgbClr val="1A1A1A"/>
                </a:solidFill>
                <a:latin typeface="Inter"/>
                <a:ea typeface="Inter"/>
                <a:cs typeface="Inter"/>
                <a:sym typeface="Inter"/>
              </a:endParaRPr>
            </a:p>
            <a:p>
              <a:pPr indent="-301625" lvl="0" marL="457200" rtl="0" algn="l">
                <a:spcBef>
                  <a:spcPts val="0"/>
                </a:spcBef>
                <a:spcAft>
                  <a:spcPts val="0"/>
                </a:spcAft>
                <a:buClr>
                  <a:srgbClr val="1A1A1A"/>
                </a:buClr>
                <a:buSzPts val="1150"/>
                <a:buFont typeface="Inter"/>
                <a:buChar char="-"/>
              </a:pPr>
              <a:r>
                <a:rPr lang="en" sz="1150">
                  <a:solidFill>
                    <a:srgbClr val="1A1A1A"/>
                  </a:solidFill>
                  <a:latin typeface="Inter"/>
                  <a:ea typeface="Inter"/>
                  <a:cs typeface="Inter"/>
                  <a:sym typeface="Inter"/>
                </a:rPr>
                <a:t>Only works on linux</a:t>
              </a:r>
              <a:endParaRPr sz="1150">
                <a:solidFill>
                  <a:srgbClr val="1A1A1A"/>
                </a:solidFill>
                <a:latin typeface="Inter"/>
                <a:ea typeface="Inter"/>
                <a:cs typeface="Inter"/>
                <a:sym typeface="Inter"/>
              </a:endParaRPr>
            </a:p>
            <a:p>
              <a:pPr indent="-301625" lvl="0" marL="457200" rtl="0" algn="l">
                <a:spcBef>
                  <a:spcPts val="0"/>
                </a:spcBef>
                <a:spcAft>
                  <a:spcPts val="0"/>
                </a:spcAft>
                <a:buClr>
                  <a:srgbClr val="1A1A1A"/>
                </a:buClr>
                <a:buSzPts val="1150"/>
                <a:buFont typeface="Inter"/>
                <a:buChar char="-"/>
              </a:pPr>
              <a:r>
                <a:rPr lang="en" sz="1150">
                  <a:solidFill>
                    <a:srgbClr val="1A1A1A"/>
                  </a:solidFill>
                  <a:latin typeface="Inter"/>
                  <a:ea typeface="Inter"/>
                  <a:cs typeface="Inter"/>
                  <a:sym typeface="Inter"/>
                </a:rPr>
                <a:t>Only works with zephyr</a:t>
              </a:r>
              <a:endParaRPr sz="1150">
                <a:solidFill>
                  <a:srgbClr val="1A1A1A"/>
                </a:solidFill>
                <a:latin typeface="Inter"/>
                <a:ea typeface="Inter"/>
                <a:cs typeface="Inter"/>
                <a:sym typeface="Inter"/>
              </a:endParaRPr>
            </a:p>
            <a:p>
              <a:pPr indent="-301625" lvl="0" marL="457200" rtl="0" algn="l">
                <a:spcBef>
                  <a:spcPts val="0"/>
                </a:spcBef>
                <a:spcAft>
                  <a:spcPts val="0"/>
                </a:spcAft>
                <a:buClr>
                  <a:srgbClr val="1A1A1A"/>
                </a:buClr>
                <a:buSzPts val="1150"/>
                <a:buFont typeface="Inter"/>
                <a:buChar char="-"/>
              </a:pPr>
              <a:r>
                <a:rPr lang="en" sz="1150">
                  <a:solidFill>
                    <a:srgbClr val="1A1A1A"/>
                  </a:solidFill>
                  <a:latin typeface="Inter"/>
                  <a:ea typeface="Inter"/>
                  <a:cs typeface="Inter"/>
                  <a:sym typeface="Inter"/>
                </a:rPr>
                <a:t>Only works with a single MCU</a:t>
              </a:r>
              <a:endParaRPr sz="1150">
                <a:solidFill>
                  <a:srgbClr val="1A1A1A"/>
                </a:solidFill>
                <a:latin typeface="Inter"/>
                <a:ea typeface="Inter"/>
                <a:cs typeface="Inter"/>
                <a:sym typeface="Inter"/>
              </a:endParaRPr>
            </a:p>
          </p:txBody>
        </p:sp>
      </p:grpSp>
      <p:grpSp>
        <p:nvGrpSpPr>
          <p:cNvPr id="126" name="Google Shape;126;p16"/>
          <p:cNvGrpSpPr/>
          <p:nvPr/>
        </p:nvGrpSpPr>
        <p:grpSpPr>
          <a:xfrm>
            <a:off x="381000" y="3762375"/>
            <a:ext cx="8382000" cy="1000200"/>
            <a:chOff x="0" y="0"/>
            <a:chExt cx="8382000" cy="1000200"/>
          </a:xfrm>
        </p:grpSpPr>
        <p:sp>
          <p:nvSpPr>
            <p:cNvPr id="127" name="Google Shape;127;p16"/>
            <p:cNvSpPr/>
            <p:nvPr/>
          </p:nvSpPr>
          <p:spPr>
            <a:xfrm>
              <a:off x="0" y="0"/>
              <a:ext cx="8382000" cy="1000200"/>
            </a:xfrm>
            <a:prstGeom prst="roundRect">
              <a:avLst>
                <a:gd fmla="val 7619" name="adj"/>
              </a:avLst>
            </a:prstGeom>
            <a:solidFill>
              <a:srgbClr val="F1F5F9"/>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8" name="Google Shape;128;p16"/>
            <p:cNvSpPr/>
            <p:nvPr/>
          </p:nvSpPr>
          <p:spPr>
            <a:xfrm>
              <a:off x="0" y="0"/>
              <a:ext cx="57300" cy="1000200"/>
            </a:xfrm>
            <a:prstGeom prst="roundRect">
              <a:avLst>
                <a:gd fmla="val 50000" name="adj"/>
              </a:avLst>
            </a:pr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solidFill>
                  <a:schemeClr val="dk1"/>
                </a:solidFill>
              </a:endParaRPr>
            </a:p>
          </p:txBody>
        </p:sp>
        <p:sp>
          <p:nvSpPr>
            <p:cNvPr id="129" name="Google Shape;129;p16"/>
            <p:cNvSpPr txBox="1"/>
            <p:nvPr/>
          </p:nvSpPr>
          <p:spPr>
            <a:xfrm>
              <a:off x="228600" y="114300"/>
              <a:ext cx="7924800" cy="7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000">
                  <a:solidFill>
                    <a:schemeClr val="dk1"/>
                  </a:solidFill>
                  <a:latin typeface="Inter"/>
                  <a:ea typeface="Inter"/>
                  <a:cs typeface="Inter"/>
                  <a:sym typeface="Inter"/>
                </a:rPr>
                <a:t>The CI Trade-off &amp; The Conceptual Gap to Bridge</a:t>
              </a:r>
              <a:endParaRPr b="1" sz="1000">
                <a:solidFill>
                  <a:schemeClr val="dk1"/>
                </a:solidFill>
                <a:latin typeface="Inter"/>
                <a:ea typeface="Inter"/>
                <a:cs typeface="Inter"/>
                <a:sym typeface="Inter"/>
              </a:endParaRPr>
            </a:p>
            <a:p>
              <a:pPr indent="0" lvl="0" marL="0" rtl="0" algn="l">
                <a:spcBef>
                  <a:spcPts val="300"/>
                </a:spcBef>
                <a:spcAft>
                  <a:spcPts val="0"/>
                </a:spcAft>
                <a:buNone/>
              </a:pPr>
              <a:r>
                <a:rPr lang="en" sz="1150">
                  <a:solidFill>
                    <a:srgbClr val="1A1A1A"/>
                  </a:solidFill>
                  <a:latin typeface="Inter"/>
                  <a:ea typeface="Inter"/>
                  <a:cs typeface="Inter"/>
                  <a:sym typeface="Inter"/>
                </a:rPr>
                <a:t>We are forced to choose between faster feedback and hardware fidelity. Can we achieve native execution speed, but coordinate it as a deterministic, multi-machine system? We need a solution combining native speed, multi-machine capabilities, and deterministic tests.</a:t>
              </a:r>
              <a:endParaRPr sz="1150">
                <a:solidFill>
                  <a:srgbClr val="1A1A1A"/>
                </a:solidFill>
                <a:latin typeface="Inter"/>
                <a:ea typeface="Inter"/>
                <a:cs typeface="Inter"/>
                <a:sym typeface="Inte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 name="Shape 133"/>
        <p:cNvGrpSpPr/>
        <p:nvPr/>
      </p:nvGrpSpPr>
      <p:grpSpPr>
        <a:xfrm>
          <a:off x="0" y="0"/>
          <a:ext cx="0" cy="0"/>
          <a:chOff x="0" y="0"/>
          <a:chExt cx="0" cy="0"/>
        </a:xfrm>
      </p:grpSpPr>
      <p:sp>
        <p:nvSpPr>
          <p:cNvPr id="134" name="Google Shape;134;p17"/>
          <p:cNvSpPr txBox="1"/>
          <p:nvPr/>
        </p:nvSpPr>
        <p:spPr>
          <a:xfrm>
            <a:off x="1463700" y="1982400"/>
            <a:ext cx="6216600" cy="117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700">
                <a:solidFill>
                  <a:srgbClr val="1A1A1A"/>
                </a:solidFill>
                <a:latin typeface="Inter"/>
                <a:ea typeface="Inter"/>
                <a:cs typeface="Inter"/>
                <a:sym typeface="Inter"/>
              </a:rPr>
              <a:t>The Simulator is Mostly a Scheduler !</a:t>
            </a:r>
            <a:endParaRPr b="0" sz="1900">
              <a:solidFill>
                <a:schemeClr val="dk1"/>
              </a:solidFill>
              <a:latin typeface="Inter Medium"/>
              <a:ea typeface="Inter Medium"/>
              <a:cs typeface="Inter Medium"/>
              <a:sym typeface="Inter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8"/>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40" name="Google Shape;140;p18"/>
          <p:cNvPicPr preferRelativeResize="0"/>
          <p:nvPr/>
        </p:nvPicPr>
        <p:blipFill rotWithShape="1">
          <a:blip r:embed="rId3">
            <a:alphaModFix/>
          </a:blip>
          <a:srcRect b="0" l="0" r="0" t="0"/>
          <a:stretch/>
        </p:blipFill>
        <p:spPr>
          <a:xfrm>
            <a:off x="4763" y="4763"/>
            <a:ext cx="8791500" cy="4981500"/>
          </a:xfrm>
          <a:prstGeom prst="rect">
            <a:avLst/>
          </a:prstGeom>
          <a:noFill/>
          <a:ln>
            <a:noFill/>
          </a:ln>
        </p:spPr>
      </p:pic>
      <p:sp>
        <p:nvSpPr>
          <p:cNvPr id="141" name="Google Shape;141;p18"/>
          <p:cNvSpPr/>
          <p:nvPr/>
        </p:nvSpPr>
        <p:spPr>
          <a:xfrm>
            <a:off x="381000" y="952500"/>
            <a:ext cx="8382000" cy="96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 name="Google Shape;142;p18"/>
          <p:cNvSpPr txBox="1"/>
          <p:nvPr/>
        </p:nvSpPr>
        <p:spPr>
          <a:xfrm>
            <a:off x="381000" y="142875"/>
            <a:ext cx="7810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000">
                <a:solidFill>
                  <a:srgbClr val="1A1A1A"/>
                </a:solidFill>
                <a:latin typeface="Inter"/>
                <a:ea typeface="Inter"/>
                <a:cs typeface="Inter"/>
                <a:sym typeface="Inter"/>
              </a:rPr>
              <a:t>Two Obvious Scheduler Designs: Preemptive vs. Cooperative</a:t>
            </a:r>
            <a:endParaRPr b="1" sz="2000">
              <a:solidFill>
                <a:srgbClr val="1A1A1A"/>
              </a:solidFill>
              <a:latin typeface="Inter"/>
              <a:ea typeface="Inter"/>
              <a:cs typeface="Inter"/>
              <a:sym typeface="Inter"/>
            </a:endParaRPr>
          </a:p>
          <a:p>
            <a:pPr indent="0" lvl="0" marL="0" rtl="0" algn="l">
              <a:spcBef>
                <a:spcPts val="300"/>
              </a:spcBef>
              <a:spcAft>
                <a:spcPts val="0"/>
              </a:spcAft>
              <a:buNone/>
            </a:pPr>
            <a:r>
              <a:rPr b="0" lang="en" sz="1100">
                <a:solidFill>
                  <a:schemeClr val="dk1"/>
                </a:solidFill>
                <a:latin typeface="Inter"/>
                <a:ea typeface="Inter"/>
                <a:cs typeface="Inter"/>
                <a:sym typeface="Inter"/>
              </a:rPr>
              <a:t>When designing a multi-machine orchestrator, you must pick where you want to pay the complexity tax.</a:t>
            </a:r>
            <a:endParaRPr b="0" sz="1100">
              <a:solidFill>
                <a:schemeClr val="dk1"/>
              </a:solidFill>
              <a:latin typeface="Inter"/>
              <a:ea typeface="Inter"/>
              <a:cs typeface="Inter"/>
              <a:sym typeface="Inter"/>
            </a:endParaRPr>
          </a:p>
        </p:txBody>
      </p:sp>
      <p:grpSp>
        <p:nvGrpSpPr>
          <p:cNvPr id="143" name="Google Shape;143;p18"/>
          <p:cNvGrpSpPr/>
          <p:nvPr/>
        </p:nvGrpSpPr>
        <p:grpSpPr>
          <a:xfrm>
            <a:off x="381000" y="1143000"/>
            <a:ext cx="4000500" cy="2476500"/>
            <a:chOff x="0" y="0"/>
            <a:chExt cx="4000500" cy="2476500"/>
          </a:xfrm>
        </p:grpSpPr>
        <p:sp>
          <p:nvSpPr>
            <p:cNvPr id="144" name="Google Shape;144;p18"/>
            <p:cNvSpPr/>
            <p:nvPr/>
          </p:nvSpPr>
          <p:spPr>
            <a:xfrm>
              <a:off x="0" y="0"/>
              <a:ext cx="4000500" cy="2476500"/>
            </a:xfrm>
            <a:prstGeom prst="roundRect">
              <a:avLst>
                <a:gd fmla="val 3076"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18"/>
            <p:cNvSpPr/>
            <p:nvPr/>
          </p:nvSpPr>
          <p:spPr>
            <a:xfrm>
              <a:off x="0" y="0"/>
              <a:ext cx="4000500" cy="114300"/>
            </a:xfrm>
            <a:custGeom>
              <a:rect b="b" l="l" r="r" t="t"/>
              <a:pathLst>
                <a:path extrusionOk="0" h="120000" w="120000">
                  <a:moveTo>
                    <a:pt x="0" y="80000"/>
                  </a:moveTo>
                  <a:quadBezTo>
                    <a:pt x="0" y="0"/>
                    <a:pt x="2286" y="0"/>
                  </a:quadBezTo>
                  <a:lnTo>
                    <a:pt x="117714" y="0"/>
                  </a:lnTo>
                  <a:quadBezTo>
                    <a:pt x="120000" y="0"/>
                    <a:pt x="120000" y="80000"/>
                  </a:quadBezTo>
                  <a:lnTo>
                    <a:pt x="120000" y="120000"/>
                  </a:lnTo>
                  <a:lnTo>
                    <a:pt x="0" y="120000"/>
                  </a:lnTo>
                  <a:close/>
                </a:path>
              </a:pathLst>
            </a:cu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solidFill>
                  <a:schemeClr val="dk1"/>
                </a:solidFill>
              </a:endParaRPr>
            </a:p>
          </p:txBody>
        </p:sp>
        <p:sp>
          <p:nvSpPr>
            <p:cNvPr id="146" name="Google Shape;146;p18"/>
            <p:cNvSpPr txBox="1"/>
            <p:nvPr/>
          </p:nvSpPr>
          <p:spPr>
            <a:xfrm>
              <a:off x="228600" y="266700"/>
              <a:ext cx="3543300" cy="2019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1A1A1A"/>
                  </a:solidFill>
                  <a:latin typeface="Inter"/>
                  <a:ea typeface="Inter"/>
                  <a:cs typeface="Inter"/>
                  <a:sym typeface="Inter"/>
                </a:rPr>
                <a:t>Preemptive / Emulated Scheduling</a:t>
              </a:r>
              <a:endParaRPr b="1" sz="1400">
                <a:solidFill>
                  <a:srgbClr val="1A1A1A"/>
                </a:solidFill>
                <a:latin typeface="Inter"/>
                <a:ea typeface="Inter"/>
                <a:cs typeface="Inter"/>
                <a:sym typeface="Inter"/>
              </a:endParaRPr>
            </a:p>
            <a:p>
              <a:pPr indent="-317500" lvl="0" marL="457200" rtl="0" algn="l">
                <a:spcBef>
                  <a:spcPts val="900"/>
                </a:spcBef>
                <a:spcAft>
                  <a:spcPts val="0"/>
                </a:spcAft>
                <a:buSzPts val="1400"/>
                <a:buChar char="●"/>
              </a:pPr>
              <a:r>
                <a:rPr b="0" lang="en" sz="1100">
                  <a:solidFill>
                    <a:srgbClr val="5F6368"/>
                  </a:solidFill>
                  <a:latin typeface="Inter"/>
                  <a:ea typeface="Inter"/>
                  <a:cs typeface="Inter"/>
                  <a:sym typeface="Inter"/>
                </a:rPr>
                <a:t>Allows for arbitrary interrupts and behaves closer to actual hardware.</a:t>
              </a:r>
              <a:endParaRPr b="0" sz="1100">
                <a:solidFill>
                  <a:srgbClr val="5F6368"/>
                </a:solidFill>
                <a:latin typeface="Inter"/>
                <a:ea typeface="Inter"/>
                <a:cs typeface="Inter"/>
                <a:sym typeface="Inter"/>
              </a:endParaRPr>
            </a:p>
            <a:p>
              <a:pPr indent="-317500" lvl="0" marL="457200" rtl="0" algn="l">
                <a:spcBef>
                  <a:spcPts val="600"/>
                </a:spcBef>
                <a:spcAft>
                  <a:spcPts val="0"/>
                </a:spcAft>
                <a:buSzPts val="1400"/>
                <a:buChar char="●"/>
              </a:pPr>
              <a:r>
                <a:rPr b="0" lang="en" sz="1100">
                  <a:solidFill>
                    <a:srgbClr val="5F6368"/>
                  </a:solidFill>
                  <a:latin typeface="Inter"/>
                  <a:ea typeface="Inter"/>
                  <a:cs typeface="Inter"/>
                  <a:sym typeface="Inter"/>
                </a:rPr>
                <a:t>Requires significantly more machinery per execution step (e.g., OS threads, context switching overhead, synchronization locks).</a:t>
              </a:r>
              <a:endParaRPr b="0" sz="1100">
                <a:solidFill>
                  <a:srgbClr val="5F6368"/>
                </a:solidFill>
                <a:latin typeface="Inter"/>
                <a:ea typeface="Inter"/>
                <a:cs typeface="Inter"/>
                <a:sym typeface="Inter"/>
              </a:endParaRPr>
            </a:p>
            <a:p>
              <a:pPr indent="-317500" lvl="0" marL="457200" rtl="0" algn="l">
                <a:spcBef>
                  <a:spcPts val="600"/>
                </a:spcBef>
                <a:spcAft>
                  <a:spcPts val="600"/>
                </a:spcAft>
                <a:buSzPts val="1400"/>
                <a:buChar char="●"/>
              </a:pPr>
              <a:r>
                <a:rPr b="0" lang="en" sz="1100">
                  <a:solidFill>
                    <a:srgbClr val="5F6368"/>
                  </a:solidFill>
                  <a:latin typeface="Inter"/>
                  <a:ea typeface="Inter"/>
                  <a:cs typeface="Inter"/>
                  <a:sym typeface="Inter"/>
                </a:rPr>
                <a:t>Results in lower throughput, making it less ideal for massive CI-scale testing sweeps.</a:t>
              </a:r>
              <a:endParaRPr b="0" sz="1100">
                <a:solidFill>
                  <a:srgbClr val="5F6368"/>
                </a:solidFill>
                <a:latin typeface="Inter"/>
                <a:ea typeface="Inter"/>
                <a:cs typeface="Inter"/>
                <a:sym typeface="Inter"/>
              </a:endParaRPr>
            </a:p>
          </p:txBody>
        </p:sp>
      </p:grpSp>
      <p:grpSp>
        <p:nvGrpSpPr>
          <p:cNvPr id="147" name="Google Shape;147;p18"/>
          <p:cNvGrpSpPr/>
          <p:nvPr/>
        </p:nvGrpSpPr>
        <p:grpSpPr>
          <a:xfrm>
            <a:off x="4762500" y="1143000"/>
            <a:ext cx="4000500" cy="2476500"/>
            <a:chOff x="0" y="0"/>
            <a:chExt cx="4000500" cy="2476500"/>
          </a:xfrm>
        </p:grpSpPr>
        <p:sp>
          <p:nvSpPr>
            <p:cNvPr id="148" name="Google Shape;148;p18"/>
            <p:cNvSpPr/>
            <p:nvPr/>
          </p:nvSpPr>
          <p:spPr>
            <a:xfrm>
              <a:off x="0" y="0"/>
              <a:ext cx="4000500" cy="2476500"/>
            </a:xfrm>
            <a:prstGeom prst="roundRect">
              <a:avLst>
                <a:gd fmla="val 3076"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 name="Google Shape;149;p18"/>
            <p:cNvSpPr/>
            <p:nvPr/>
          </p:nvSpPr>
          <p:spPr>
            <a:xfrm>
              <a:off x="0" y="0"/>
              <a:ext cx="4000500" cy="114300"/>
            </a:xfrm>
            <a:custGeom>
              <a:rect b="b" l="l" r="r" t="t"/>
              <a:pathLst>
                <a:path extrusionOk="0" h="120000" w="120000">
                  <a:moveTo>
                    <a:pt x="0" y="80000"/>
                  </a:moveTo>
                  <a:quadBezTo>
                    <a:pt x="0" y="0"/>
                    <a:pt x="2286" y="0"/>
                  </a:quadBezTo>
                  <a:lnTo>
                    <a:pt x="117714" y="0"/>
                  </a:lnTo>
                  <a:quadBezTo>
                    <a:pt x="120000" y="0"/>
                    <a:pt x="120000" y="80000"/>
                  </a:quadBezTo>
                  <a:lnTo>
                    <a:pt x="120000" y="120000"/>
                  </a:lnTo>
                  <a:lnTo>
                    <a:pt x="0" y="120000"/>
                  </a:lnTo>
                  <a:close/>
                </a:path>
              </a:pathLst>
            </a:cu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 name="Google Shape;150;p18"/>
            <p:cNvSpPr txBox="1"/>
            <p:nvPr/>
          </p:nvSpPr>
          <p:spPr>
            <a:xfrm>
              <a:off x="228600" y="266700"/>
              <a:ext cx="3543300" cy="2019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400">
                  <a:solidFill>
                    <a:srgbClr val="1A1A1A"/>
                  </a:solidFill>
                  <a:latin typeface="Inter"/>
                  <a:ea typeface="Inter"/>
                  <a:cs typeface="Inter"/>
                  <a:sym typeface="Inter"/>
                </a:rPr>
                <a:t>Cooperative / Native Scheduling</a:t>
              </a:r>
              <a:endParaRPr b="1" sz="1400">
                <a:solidFill>
                  <a:srgbClr val="1A1A1A"/>
                </a:solidFill>
                <a:latin typeface="Inter"/>
                <a:ea typeface="Inter"/>
                <a:cs typeface="Inter"/>
                <a:sym typeface="Inter"/>
              </a:endParaRPr>
            </a:p>
            <a:p>
              <a:pPr indent="-317500" lvl="0" marL="457200" rtl="0" algn="l">
                <a:spcBef>
                  <a:spcPts val="900"/>
                </a:spcBef>
                <a:spcAft>
                  <a:spcPts val="0"/>
                </a:spcAft>
                <a:buSzPts val="1400"/>
                <a:buChar char="●"/>
              </a:pPr>
              <a:r>
                <a:rPr b="0" lang="en" sz="1100">
                  <a:solidFill>
                    <a:srgbClr val="5F6368"/>
                  </a:solidFill>
                  <a:latin typeface="Inter"/>
                  <a:ea typeface="Inter"/>
                  <a:cs typeface="Inter"/>
                  <a:sym typeface="Inter"/>
                </a:rPr>
                <a:t>Utilizes native call stacks and a deterministic single thread.</a:t>
              </a:r>
              <a:endParaRPr b="0" sz="1100">
                <a:solidFill>
                  <a:srgbClr val="5F6368"/>
                </a:solidFill>
                <a:latin typeface="Inter"/>
                <a:ea typeface="Inter"/>
                <a:cs typeface="Inter"/>
                <a:sym typeface="Inter"/>
              </a:endParaRPr>
            </a:p>
            <a:p>
              <a:pPr indent="-317500" lvl="0" marL="457200" rtl="0" algn="l">
                <a:spcBef>
                  <a:spcPts val="600"/>
                </a:spcBef>
                <a:spcAft>
                  <a:spcPts val="0"/>
                </a:spcAft>
                <a:buSzPts val="1400"/>
                <a:buChar char="●"/>
              </a:pPr>
              <a:r>
                <a:rPr b="0" lang="en" sz="1100">
                  <a:solidFill>
                    <a:srgbClr val="5F6368"/>
                  </a:solidFill>
                  <a:latin typeface="Inter"/>
                  <a:ea typeface="Inter"/>
                  <a:cs typeface="Inter"/>
                  <a:sym typeface="Inter"/>
                </a:rPr>
                <a:t>Enables incredibly fast context switches without OS thread overhead.</a:t>
              </a:r>
              <a:endParaRPr b="0" sz="1100">
                <a:solidFill>
                  <a:srgbClr val="5F6368"/>
                </a:solidFill>
                <a:latin typeface="Inter"/>
                <a:ea typeface="Inter"/>
                <a:cs typeface="Inter"/>
                <a:sym typeface="Inter"/>
              </a:endParaRPr>
            </a:p>
            <a:p>
              <a:pPr indent="-317500" lvl="0" marL="457200" rtl="0" algn="l">
                <a:spcBef>
                  <a:spcPts val="600"/>
                </a:spcBef>
                <a:spcAft>
                  <a:spcPts val="600"/>
                </a:spcAft>
                <a:buSzPts val="1400"/>
                <a:buChar char="●"/>
              </a:pPr>
              <a:r>
                <a:rPr b="0" lang="en" sz="1100">
                  <a:solidFill>
                    <a:srgbClr val="5F6368"/>
                  </a:solidFill>
                  <a:latin typeface="Inter"/>
                  <a:ea typeface="Inter"/>
                  <a:cs typeface="Inter"/>
                  <a:sym typeface="Inter"/>
                </a:rPr>
                <a:t>The critical weakness: it must explicitly create yield points to prevent blocking.</a:t>
              </a:r>
              <a:endParaRPr b="0" sz="1100">
                <a:solidFill>
                  <a:srgbClr val="5F6368"/>
                </a:solidFill>
                <a:latin typeface="Inter"/>
                <a:ea typeface="Inter"/>
                <a:cs typeface="Inter"/>
                <a:sym typeface="Inter"/>
              </a:endParaRPr>
            </a:p>
          </p:txBody>
        </p:sp>
      </p:grpSp>
      <p:grpSp>
        <p:nvGrpSpPr>
          <p:cNvPr id="151" name="Google Shape;151;p18"/>
          <p:cNvGrpSpPr/>
          <p:nvPr/>
        </p:nvGrpSpPr>
        <p:grpSpPr>
          <a:xfrm>
            <a:off x="381000" y="3762375"/>
            <a:ext cx="8382000" cy="1047900"/>
            <a:chOff x="0" y="0"/>
            <a:chExt cx="8382000" cy="1047900"/>
          </a:xfrm>
        </p:grpSpPr>
        <p:sp>
          <p:nvSpPr>
            <p:cNvPr id="152" name="Google Shape;152;p18"/>
            <p:cNvSpPr/>
            <p:nvPr/>
          </p:nvSpPr>
          <p:spPr>
            <a:xfrm>
              <a:off x="0" y="0"/>
              <a:ext cx="8382000" cy="1047900"/>
            </a:xfrm>
            <a:prstGeom prst="roundRect">
              <a:avLst>
                <a:gd fmla="val 7272" name="adj"/>
              </a:avLst>
            </a:prstGeom>
            <a:solidFill>
              <a:srgbClr val="F8F9FA"/>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 name="Google Shape;153;p18"/>
            <p:cNvSpPr/>
            <p:nvPr/>
          </p:nvSpPr>
          <p:spPr>
            <a:xfrm>
              <a:off x="76200" y="114300"/>
              <a:ext cx="47700" cy="819300"/>
            </a:xfrm>
            <a:prstGeom prst="roundRect">
              <a:avLst>
                <a:gd fmla="val 50000" name="adj"/>
              </a:avLst>
            </a:pr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54" name="Google Shape;154;p18"/>
            <p:cNvGrpSpPr/>
            <p:nvPr/>
          </p:nvGrpSpPr>
          <p:grpSpPr>
            <a:xfrm>
              <a:off x="266700" y="390525"/>
              <a:ext cx="266700" cy="266700"/>
              <a:chOff x="19050" y="19050"/>
              <a:chExt cx="266700" cy="266700"/>
            </a:xfrm>
          </p:grpSpPr>
          <p:sp>
            <p:nvSpPr>
              <p:cNvPr id="155" name="Google Shape;155;p18"/>
              <p:cNvSpPr/>
              <p:nvPr/>
            </p:nvSpPr>
            <p:spPr>
              <a:xfrm>
                <a:off x="57150" y="57150"/>
                <a:ext cx="190500" cy="190500"/>
              </a:xfrm>
              <a:prstGeom prst="roundRect">
                <a:avLst>
                  <a:gd fmla="val 10000" name="adj"/>
                </a:avLst>
              </a:prstGeom>
              <a:solidFill>
                <a:srgbClr val="000000">
                  <a:alpha val="0"/>
                </a:srgbClr>
              </a:solidFill>
              <a:ln cap="flat" cmpd="sng" w="1905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 name="Google Shape;156;p18"/>
              <p:cNvSpPr/>
              <p:nvPr/>
            </p:nvSpPr>
            <p:spPr>
              <a:xfrm>
                <a:off x="19050" y="19050"/>
                <a:ext cx="266700" cy="266700"/>
              </a:xfrm>
              <a:custGeom>
                <a:rect b="b" l="l" r="r" t="t"/>
                <a:pathLst>
                  <a:path extrusionOk="0" fill="none" h="120000" w="120000">
                    <a:moveTo>
                      <a:pt x="17143" y="34286"/>
                    </a:moveTo>
                    <a:lnTo>
                      <a:pt x="0" y="34286"/>
                    </a:lnTo>
                    <a:moveTo>
                      <a:pt x="17143" y="60000"/>
                    </a:moveTo>
                    <a:lnTo>
                      <a:pt x="0" y="60000"/>
                    </a:lnTo>
                    <a:moveTo>
                      <a:pt x="17143" y="85714"/>
                    </a:moveTo>
                    <a:lnTo>
                      <a:pt x="0" y="85714"/>
                    </a:lnTo>
                    <a:moveTo>
                      <a:pt x="102857" y="34286"/>
                    </a:moveTo>
                    <a:lnTo>
                      <a:pt x="120000" y="34286"/>
                    </a:lnTo>
                    <a:moveTo>
                      <a:pt x="102857" y="60000"/>
                    </a:moveTo>
                    <a:lnTo>
                      <a:pt x="120000" y="60000"/>
                    </a:lnTo>
                    <a:moveTo>
                      <a:pt x="102857" y="85714"/>
                    </a:moveTo>
                    <a:lnTo>
                      <a:pt x="120000" y="85714"/>
                    </a:lnTo>
                    <a:moveTo>
                      <a:pt x="34286" y="17143"/>
                    </a:moveTo>
                    <a:lnTo>
                      <a:pt x="34286" y="0"/>
                    </a:lnTo>
                    <a:moveTo>
                      <a:pt x="60000" y="17143"/>
                    </a:moveTo>
                    <a:lnTo>
                      <a:pt x="60000" y="0"/>
                    </a:lnTo>
                    <a:moveTo>
                      <a:pt x="85714" y="17143"/>
                    </a:moveTo>
                    <a:lnTo>
                      <a:pt x="85714" y="0"/>
                    </a:lnTo>
                    <a:moveTo>
                      <a:pt x="34286" y="102857"/>
                    </a:moveTo>
                    <a:lnTo>
                      <a:pt x="34286" y="120000"/>
                    </a:lnTo>
                    <a:moveTo>
                      <a:pt x="60000" y="102857"/>
                    </a:moveTo>
                    <a:lnTo>
                      <a:pt x="60000" y="120000"/>
                    </a:lnTo>
                    <a:moveTo>
                      <a:pt x="85714" y="102857"/>
                    </a:moveTo>
                    <a:lnTo>
                      <a:pt x="85714" y="120000"/>
                    </a:lnTo>
                  </a:path>
                </a:pathLst>
              </a:custGeom>
              <a:solidFill>
                <a:srgbClr val="FFFFFF"/>
              </a:solidFill>
              <a:ln cap="rnd" cmpd="sng" w="1905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57" name="Google Shape;157;p18"/>
            <p:cNvSpPr txBox="1"/>
            <p:nvPr/>
          </p:nvSpPr>
          <p:spPr>
            <a:xfrm>
              <a:off x="685800" y="114300"/>
              <a:ext cx="7467600" cy="819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chemeClr val="dk1"/>
                  </a:solidFill>
                  <a:latin typeface="Inter"/>
                  <a:ea typeface="Inter"/>
                  <a:cs typeface="Inter"/>
                  <a:sym typeface="Inter"/>
                </a:rPr>
                <a:t>costar explicitly chooses the cooperative path.</a:t>
              </a:r>
              <a:r>
                <a:rPr b="0" lang="en" sz="1100">
                  <a:solidFill>
                    <a:srgbClr val="1A1A1A"/>
                  </a:solidFill>
                  <a:latin typeface="Inter"/>
                  <a:ea typeface="Inter"/>
                  <a:cs typeface="Inter"/>
                  <a:sym typeface="Inter"/>
                </a:rPr>
                <a:t> By utilizing user-space green threads or cooperative fibers, the simulator can precisely control exactly when a simulated MCU yields execution, guaranteeing perfect determinism. The challenge then becomes how to manufacture those necessary yield points.</a:t>
              </a:r>
              <a:endParaRPr b="0" sz="1100">
                <a:solidFill>
                  <a:srgbClr val="1A1A1A"/>
                </a:solidFill>
                <a:latin typeface="Inter"/>
                <a:ea typeface="Inter"/>
                <a:cs typeface="Inter"/>
                <a:sym typeface="Inte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9"/>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 name="Google Shape;163;p19"/>
          <p:cNvSpPr/>
          <p:nvPr/>
        </p:nvSpPr>
        <p:spPr>
          <a:xfrm>
            <a:off x="381000" y="952500"/>
            <a:ext cx="8382000" cy="96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 name="Google Shape;164;p19"/>
          <p:cNvSpPr txBox="1"/>
          <p:nvPr/>
        </p:nvSpPr>
        <p:spPr>
          <a:xfrm>
            <a:off x="381000" y="285750"/>
            <a:ext cx="7825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200">
                <a:solidFill>
                  <a:srgbClr val="1A1A1A"/>
                </a:solidFill>
                <a:latin typeface="Inter"/>
                <a:ea typeface="Inter"/>
                <a:cs typeface="Inter"/>
                <a:sym typeface="Inter"/>
              </a:rPr>
              <a:t>Leveraging Compiler Profilers</a:t>
            </a:r>
            <a:endParaRPr b="1" sz="2200">
              <a:solidFill>
                <a:srgbClr val="1A1A1A"/>
              </a:solidFill>
              <a:latin typeface="Inter"/>
              <a:ea typeface="Inter"/>
              <a:cs typeface="Inter"/>
              <a:sym typeface="Inter"/>
            </a:endParaRPr>
          </a:p>
        </p:txBody>
      </p:sp>
      <p:sp>
        <p:nvSpPr>
          <p:cNvPr id="165" name="Google Shape;165;p19"/>
          <p:cNvSpPr txBox="1"/>
          <p:nvPr/>
        </p:nvSpPr>
        <p:spPr>
          <a:xfrm>
            <a:off x="381000" y="1095375"/>
            <a:ext cx="8382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50">
                <a:solidFill>
                  <a:srgbClr val="5F6368"/>
                </a:solidFill>
                <a:latin typeface="Inter"/>
                <a:ea typeface="Inter"/>
                <a:cs typeface="Inter"/>
                <a:sym typeface="Inter"/>
              </a:rPr>
              <a:t>To maintain performance while ensuring determinism, </a:t>
            </a:r>
            <a:r>
              <a:rPr b="1" i="1" lang="en" sz="1150">
                <a:solidFill>
                  <a:schemeClr val="dk1"/>
                </a:solidFill>
                <a:latin typeface="Inter"/>
                <a:ea typeface="Inter"/>
                <a:cs typeface="Inter"/>
                <a:sym typeface="Inter"/>
              </a:rPr>
              <a:t>costar</a:t>
            </a:r>
            <a:r>
              <a:rPr b="0" lang="en" sz="1150">
                <a:solidFill>
                  <a:srgbClr val="5F6368"/>
                </a:solidFill>
                <a:latin typeface="Inter"/>
                <a:ea typeface="Inter"/>
                <a:cs typeface="Inter"/>
                <a:sym typeface="Inter"/>
              </a:rPr>
              <a:t> uses a tiered approach to instrumentation, applying the cheapest method that successfully catches the workload.</a:t>
            </a:r>
            <a:endParaRPr b="0" sz="1150">
              <a:solidFill>
                <a:srgbClr val="5F6368"/>
              </a:solidFill>
              <a:latin typeface="Inter"/>
              <a:ea typeface="Inter"/>
              <a:cs typeface="Inter"/>
              <a:sym typeface="Inter"/>
            </a:endParaRPr>
          </a:p>
        </p:txBody>
      </p:sp>
      <p:sp>
        <p:nvSpPr>
          <p:cNvPr id="166" name="Google Shape;166;p19"/>
          <p:cNvSpPr/>
          <p:nvPr/>
        </p:nvSpPr>
        <p:spPr>
          <a:xfrm>
            <a:off x="381000" y="1571625"/>
            <a:ext cx="8382000" cy="809700"/>
          </a:xfrm>
          <a:prstGeom prst="roundRect">
            <a:avLst>
              <a:gd fmla="val 7058" name="adj"/>
            </a:avLst>
          </a:prstGeom>
          <a:solidFill>
            <a:srgbClr val="F8F9FA"/>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7" name="Google Shape;167;p19"/>
          <p:cNvSpPr/>
          <p:nvPr/>
        </p:nvSpPr>
        <p:spPr>
          <a:xfrm>
            <a:off x="381000" y="1571625"/>
            <a:ext cx="76200" cy="809700"/>
          </a:xfrm>
          <a:prstGeom prst="roundRect">
            <a:avLst>
              <a:gd fmla="val 50000" name="adj"/>
            </a:avLst>
          </a:pr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8" name="Google Shape;168;p19"/>
          <p:cNvSpPr txBox="1"/>
          <p:nvPr/>
        </p:nvSpPr>
        <p:spPr>
          <a:xfrm>
            <a:off x="609600" y="1571625"/>
            <a:ext cx="7924800" cy="8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50">
                <a:solidFill>
                  <a:schemeClr val="dk1"/>
                </a:solidFill>
                <a:latin typeface="Inter"/>
                <a:ea typeface="Inter"/>
                <a:cs typeface="Inter"/>
                <a:sym typeface="Inter"/>
              </a:rPr>
              <a:t>Tier 1:</a:t>
            </a:r>
            <a:r>
              <a:rPr b="1" lang="en" sz="1250">
                <a:solidFill>
                  <a:srgbClr val="1A1A1A"/>
                </a:solidFill>
                <a:latin typeface="Inter"/>
                <a:ea typeface="Inter"/>
                <a:cs typeface="Inter"/>
                <a:sym typeface="Inter"/>
              </a:rPr>
              <a:t> Function Entry</a:t>
            </a:r>
            <a:endParaRPr b="1" sz="1250">
              <a:solidFill>
                <a:srgbClr val="1A1A1A"/>
              </a:solidFill>
              <a:latin typeface="Inter"/>
              <a:ea typeface="Inter"/>
              <a:cs typeface="Inter"/>
              <a:sym typeface="Inter"/>
            </a:endParaRPr>
          </a:p>
          <a:p>
            <a:pPr indent="0" lvl="0" marL="0" rtl="0" algn="l">
              <a:spcBef>
                <a:spcPts val="300"/>
              </a:spcBef>
              <a:spcAft>
                <a:spcPts val="0"/>
              </a:spcAft>
              <a:buNone/>
            </a:pPr>
            <a:r>
              <a:rPr b="0" lang="en" sz="1050">
                <a:solidFill>
                  <a:srgbClr val="5F6368"/>
                </a:solidFill>
                <a:latin typeface="Inter"/>
                <a:ea typeface="Inter"/>
                <a:cs typeface="Inter"/>
                <a:sym typeface="Inter"/>
              </a:rPr>
              <a:t>Using flags like </a:t>
            </a:r>
            <a:r>
              <a:rPr b="0" lang="en" sz="1000">
                <a:solidFill>
                  <a:srgbClr val="0F172A"/>
                </a:solidFill>
                <a:highlight>
                  <a:srgbClr val="F1F5F9"/>
                </a:highlight>
                <a:latin typeface="JetBrains Mono"/>
                <a:ea typeface="JetBrains Mono"/>
                <a:cs typeface="JetBrains Mono"/>
                <a:sym typeface="JetBrains Mono"/>
              </a:rPr>
              <a:t>GCC -finstrument-functions</a:t>
            </a:r>
            <a:r>
              <a:rPr b="0" lang="en" sz="1050">
                <a:solidFill>
                  <a:srgbClr val="5F6368"/>
                </a:solidFill>
                <a:latin typeface="Inter"/>
                <a:ea typeface="Inter"/>
                <a:cs typeface="Inter"/>
                <a:sym typeface="Inter"/>
              </a:rPr>
              <a:t>, this tier hijacks function entry and exit points. It is cheap and provides broad coverage for code with regular function calls.</a:t>
            </a:r>
            <a:endParaRPr b="0" sz="1050">
              <a:solidFill>
                <a:srgbClr val="5F6368"/>
              </a:solidFill>
              <a:latin typeface="Inter"/>
              <a:ea typeface="Inter"/>
              <a:cs typeface="Inter"/>
              <a:sym typeface="Inter"/>
            </a:endParaRPr>
          </a:p>
        </p:txBody>
      </p:sp>
      <p:sp>
        <p:nvSpPr>
          <p:cNvPr id="169" name="Google Shape;169;p19"/>
          <p:cNvSpPr/>
          <p:nvPr/>
        </p:nvSpPr>
        <p:spPr>
          <a:xfrm>
            <a:off x="381000" y="2495550"/>
            <a:ext cx="8382000" cy="809700"/>
          </a:xfrm>
          <a:prstGeom prst="roundRect">
            <a:avLst>
              <a:gd fmla="val 7058" name="adj"/>
            </a:avLst>
          </a:prstGeom>
          <a:solidFill>
            <a:srgbClr val="F8F9FA"/>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0" name="Google Shape;170;p19"/>
          <p:cNvSpPr/>
          <p:nvPr/>
        </p:nvSpPr>
        <p:spPr>
          <a:xfrm>
            <a:off x="381000" y="2495550"/>
            <a:ext cx="76200" cy="809700"/>
          </a:xfrm>
          <a:prstGeom prst="roundRect">
            <a:avLst>
              <a:gd fmla="val 50000" name="adj"/>
            </a:avLst>
          </a:pr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1" name="Google Shape;171;p19"/>
          <p:cNvSpPr txBox="1"/>
          <p:nvPr/>
        </p:nvSpPr>
        <p:spPr>
          <a:xfrm>
            <a:off x="609600" y="2495550"/>
            <a:ext cx="7924800" cy="8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50">
                <a:solidFill>
                  <a:schemeClr val="dk1"/>
                </a:solidFill>
                <a:latin typeface="Inter"/>
                <a:ea typeface="Inter"/>
                <a:cs typeface="Inter"/>
                <a:sym typeface="Inter"/>
              </a:rPr>
              <a:t>Tier 2:</a:t>
            </a:r>
            <a:r>
              <a:rPr b="1" lang="en" sz="1250">
                <a:solidFill>
                  <a:srgbClr val="1A1A1A"/>
                </a:solidFill>
                <a:latin typeface="Inter"/>
                <a:ea typeface="Inter"/>
                <a:cs typeface="Inter"/>
                <a:sym typeface="Inter"/>
              </a:rPr>
              <a:t> Manual Loop Hook</a:t>
            </a:r>
            <a:endParaRPr b="1" sz="1250">
              <a:solidFill>
                <a:srgbClr val="1A1A1A"/>
              </a:solidFill>
              <a:latin typeface="Inter"/>
              <a:ea typeface="Inter"/>
              <a:cs typeface="Inter"/>
              <a:sym typeface="Inter"/>
            </a:endParaRPr>
          </a:p>
          <a:p>
            <a:pPr indent="0" lvl="0" marL="0" rtl="0" algn="l">
              <a:spcBef>
                <a:spcPts val="300"/>
              </a:spcBef>
              <a:spcAft>
                <a:spcPts val="0"/>
              </a:spcAft>
              <a:buNone/>
            </a:pPr>
            <a:r>
              <a:rPr b="0" lang="en" sz="1050">
                <a:solidFill>
                  <a:srgbClr val="5F6368"/>
                </a:solidFill>
                <a:latin typeface="Inter"/>
                <a:ea typeface="Inter"/>
                <a:cs typeface="Inter"/>
                <a:sym typeface="Inter"/>
              </a:rPr>
              <a:t>For known hot loops, developers can inject explicit </a:t>
            </a:r>
            <a:r>
              <a:rPr b="0" lang="en" sz="1000">
                <a:solidFill>
                  <a:srgbClr val="0F172A"/>
                </a:solidFill>
                <a:highlight>
                  <a:srgbClr val="F1F5F9"/>
                </a:highlight>
                <a:latin typeface="JetBrains Mono"/>
                <a:ea typeface="JetBrains Mono"/>
                <a:cs typeface="JetBrains Mono"/>
                <a:sym typeface="JetBrains Mono"/>
              </a:rPr>
              <a:t>SIM_LOOP_POLL()</a:t>
            </a:r>
            <a:r>
              <a:rPr b="0" lang="en" sz="1050">
                <a:solidFill>
                  <a:srgbClr val="5F6368"/>
                </a:solidFill>
                <a:latin typeface="Inter"/>
                <a:ea typeface="Inter"/>
                <a:cs typeface="Inter"/>
                <a:sym typeface="Inter"/>
              </a:rPr>
              <a:t> checkpoints. This provides targeted yielding inside tight loops without broad instrumentation overhead.</a:t>
            </a:r>
            <a:endParaRPr b="0" sz="1050">
              <a:solidFill>
                <a:srgbClr val="5F6368"/>
              </a:solidFill>
              <a:latin typeface="Inter"/>
              <a:ea typeface="Inter"/>
              <a:cs typeface="Inter"/>
              <a:sym typeface="Inter"/>
            </a:endParaRPr>
          </a:p>
        </p:txBody>
      </p:sp>
      <p:sp>
        <p:nvSpPr>
          <p:cNvPr id="172" name="Google Shape;172;p19"/>
          <p:cNvSpPr/>
          <p:nvPr/>
        </p:nvSpPr>
        <p:spPr>
          <a:xfrm>
            <a:off x="381000" y="3419475"/>
            <a:ext cx="8382000" cy="809700"/>
          </a:xfrm>
          <a:prstGeom prst="roundRect">
            <a:avLst>
              <a:gd fmla="val 7058" name="adj"/>
            </a:avLst>
          </a:prstGeom>
          <a:solidFill>
            <a:srgbClr val="F8F9FA"/>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 name="Google Shape;173;p19"/>
          <p:cNvSpPr/>
          <p:nvPr/>
        </p:nvSpPr>
        <p:spPr>
          <a:xfrm>
            <a:off x="381000" y="3419475"/>
            <a:ext cx="76200" cy="809700"/>
          </a:xfrm>
          <a:prstGeom prst="roundRect">
            <a:avLst>
              <a:gd fmla="val 50000" name="adj"/>
            </a:avLst>
          </a:pr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4" name="Google Shape;174;p19"/>
          <p:cNvSpPr txBox="1"/>
          <p:nvPr/>
        </p:nvSpPr>
        <p:spPr>
          <a:xfrm>
            <a:off x="609600" y="3419475"/>
            <a:ext cx="7924800" cy="80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50">
                <a:solidFill>
                  <a:schemeClr val="dk1"/>
                </a:solidFill>
                <a:latin typeface="Inter"/>
                <a:ea typeface="Inter"/>
                <a:cs typeface="Inter"/>
                <a:sym typeface="Inter"/>
              </a:rPr>
              <a:t>Tier 3:</a:t>
            </a:r>
            <a:r>
              <a:rPr b="1" lang="en" sz="1250">
                <a:solidFill>
                  <a:srgbClr val="1A1A1A"/>
                </a:solidFill>
                <a:latin typeface="Inter"/>
                <a:ea typeface="Inter"/>
                <a:cs typeface="Inter"/>
                <a:sym typeface="Inter"/>
              </a:rPr>
              <a:t> Basic-Block/Edge Coverage</a:t>
            </a:r>
            <a:endParaRPr b="1" sz="1250">
              <a:solidFill>
                <a:srgbClr val="1A1A1A"/>
              </a:solidFill>
              <a:latin typeface="Inter"/>
              <a:ea typeface="Inter"/>
              <a:cs typeface="Inter"/>
              <a:sym typeface="Inter"/>
            </a:endParaRPr>
          </a:p>
          <a:p>
            <a:pPr indent="0" lvl="0" marL="0" rtl="0" algn="l">
              <a:spcBef>
                <a:spcPts val="300"/>
              </a:spcBef>
              <a:spcAft>
                <a:spcPts val="0"/>
              </a:spcAft>
              <a:buNone/>
            </a:pPr>
            <a:r>
              <a:rPr b="0" lang="en" sz="1050">
                <a:solidFill>
                  <a:srgbClr val="5F6368"/>
                </a:solidFill>
                <a:latin typeface="Inter"/>
                <a:ea typeface="Inter"/>
                <a:cs typeface="Inter"/>
                <a:sym typeface="Inter"/>
              </a:rPr>
              <a:t>Using Clang SanitizerCoverage (</a:t>
            </a:r>
            <a:r>
              <a:rPr b="0" lang="en" sz="1000">
                <a:solidFill>
                  <a:srgbClr val="0F172A"/>
                </a:solidFill>
                <a:highlight>
                  <a:srgbClr val="F1F5F9"/>
                </a:highlight>
                <a:latin typeface="JetBrains Mono"/>
                <a:ea typeface="JetBrains Mono"/>
                <a:cs typeface="JetBrains Mono"/>
                <a:sym typeface="JetBrains Mono"/>
              </a:rPr>
              <a:t>-fsanitize-coverage=trace-pc-guard</a:t>
            </a:r>
            <a:r>
              <a:rPr b="0" lang="en" sz="1050">
                <a:solidFill>
                  <a:srgbClr val="5F6368"/>
                </a:solidFill>
                <a:latin typeface="Inter"/>
                <a:ea typeface="Inter"/>
                <a:cs typeface="Inter"/>
                <a:sym typeface="Inter"/>
              </a:rPr>
              <a:t>), this tier instruments edge-level transitions. It acts as a safety net that catches pathological tight </a:t>
            </a:r>
            <a:r>
              <a:rPr b="0" lang="en" sz="1000">
                <a:solidFill>
                  <a:srgbClr val="0F172A"/>
                </a:solidFill>
                <a:highlight>
                  <a:srgbClr val="F1F5F9"/>
                </a:highlight>
                <a:latin typeface="JetBrains Mono"/>
                <a:ea typeface="JetBrains Mono"/>
                <a:cs typeface="JetBrains Mono"/>
                <a:sym typeface="JetBrains Mono"/>
              </a:rPr>
              <a:t>while(1)</a:t>
            </a:r>
            <a:r>
              <a:rPr b="0" lang="en" sz="1050">
                <a:solidFill>
                  <a:srgbClr val="5F6368"/>
                </a:solidFill>
                <a:latin typeface="Inter"/>
                <a:ea typeface="Inter"/>
                <a:cs typeface="Inter"/>
                <a:sym typeface="Inter"/>
              </a:rPr>
              <a:t> loops, offering more control but at the cost of higher execution overhead.</a:t>
            </a:r>
            <a:endParaRPr b="0" sz="1050">
              <a:solidFill>
                <a:srgbClr val="5F6368"/>
              </a:solidFill>
              <a:latin typeface="Inter"/>
              <a:ea typeface="Inter"/>
              <a:cs typeface="Inter"/>
              <a:sym typeface="Inter"/>
            </a:endParaRPr>
          </a:p>
        </p:txBody>
      </p:sp>
      <p:pic>
        <p:nvPicPr>
          <p:cNvPr id="175" name="Google Shape;175;p19"/>
          <p:cNvPicPr preferRelativeResize="0"/>
          <p:nvPr/>
        </p:nvPicPr>
        <p:blipFill rotWithShape="1">
          <a:blip r:embed="rId3">
            <a:alphaModFix/>
          </a:blip>
          <a:srcRect b="0" l="0" r="0" t="0"/>
          <a:stretch/>
        </p:blipFill>
        <p:spPr>
          <a:xfrm>
            <a:off x="376238" y="4338638"/>
            <a:ext cx="8391600" cy="504900"/>
          </a:xfrm>
          <a:prstGeom prst="rect">
            <a:avLst/>
          </a:prstGeom>
          <a:noFill/>
          <a:ln>
            <a:noFill/>
          </a:ln>
        </p:spPr>
      </p:pic>
      <p:sp>
        <p:nvSpPr>
          <p:cNvPr id="176" name="Google Shape;176;p19"/>
          <p:cNvSpPr txBox="1"/>
          <p:nvPr/>
        </p:nvSpPr>
        <p:spPr>
          <a:xfrm>
            <a:off x="571500" y="4343400"/>
            <a:ext cx="8001000" cy="495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50">
                <a:solidFill>
                  <a:schemeClr val="dk1"/>
                </a:solidFill>
                <a:latin typeface="Inter"/>
                <a:ea typeface="Inter"/>
                <a:cs typeface="Inter"/>
                <a:sym typeface="Inter"/>
              </a:rPr>
              <a:t>Key Takeaway:</a:t>
            </a:r>
            <a:r>
              <a:rPr b="0" lang="en" sz="1150">
                <a:solidFill>
                  <a:srgbClr val="1A1A1A"/>
                </a:solidFill>
                <a:latin typeface="Inter"/>
                <a:ea typeface="Inter"/>
                <a:cs typeface="Inter"/>
                <a:sym typeface="Inter"/>
              </a:rPr>
              <a:t> This ladder keeps the default execution path cooperative and fast, while giving CI systems a reliable way to detect CPU-bound stalls before they freeze the entire simulation run.</a:t>
            </a:r>
            <a:endParaRPr b="0" sz="1150">
              <a:solidFill>
                <a:srgbClr val="1A1A1A"/>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grpSp>
        <p:nvGrpSpPr>
          <p:cNvPr id="181" name="Google Shape;181;p20"/>
          <p:cNvGrpSpPr/>
          <p:nvPr/>
        </p:nvGrpSpPr>
        <p:grpSpPr>
          <a:xfrm>
            <a:off x="0" y="0"/>
            <a:ext cx="9144000" cy="5143500"/>
            <a:chOff x="0" y="0"/>
            <a:chExt cx="9144000" cy="5143500"/>
          </a:xfrm>
        </p:grpSpPr>
        <p:sp>
          <p:nvSpPr>
            <p:cNvPr id="182" name="Google Shape;182;p20"/>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3" name="Google Shape;183;p20"/>
            <p:cNvSpPr/>
            <p:nvPr/>
          </p:nvSpPr>
          <p:spPr>
            <a:xfrm>
              <a:off x="6934200" y="381000"/>
              <a:ext cx="91440" cy="91440"/>
            </a:xfrm>
            <a:prstGeom prst="ellipse">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4" name="Google Shape;184;p20"/>
            <p:cNvSpPr/>
            <p:nvPr/>
          </p:nvSpPr>
          <p:spPr>
            <a:xfrm>
              <a:off x="381000" y="952500"/>
              <a:ext cx="8382000" cy="96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85" name="Google Shape;185;p20"/>
          <p:cNvSpPr txBox="1"/>
          <p:nvPr/>
        </p:nvSpPr>
        <p:spPr>
          <a:xfrm>
            <a:off x="381000" y="285675"/>
            <a:ext cx="7239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850">
                <a:solidFill>
                  <a:srgbClr val="1A1A1A"/>
                </a:solidFill>
                <a:latin typeface="Inter"/>
                <a:ea typeface="Inter"/>
                <a:cs typeface="Inter"/>
                <a:sym typeface="Inter"/>
              </a:rPr>
              <a:t>costar Architecture: Native Firmware, Fibers, and Virtual Time</a:t>
            </a:r>
            <a:endParaRPr b="1" sz="1850">
              <a:solidFill>
                <a:srgbClr val="1A1A1A"/>
              </a:solidFill>
              <a:latin typeface="Inter"/>
              <a:ea typeface="Inter"/>
              <a:cs typeface="Inter"/>
              <a:sym typeface="Inter"/>
            </a:endParaRPr>
          </a:p>
          <a:p>
            <a:pPr indent="0" lvl="0" marL="0" rtl="0" algn="l">
              <a:spcBef>
                <a:spcPts val="300"/>
              </a:spcBef>
              <a:spcAft>
                <a:spcPts val="0"/>
              </a:spcAft>
              <a:buNone/>
            </a:pPr>
            <a:r>
              <a:rPr b="0" lang="en" sz="1064">
                <a:solidFill>
                  <a:schemeClr val="dk1"/>
                </a:solidFill>
                <a:latin typeface="Inter"/>
                <a:ea typeface="Inter"/>
                <a:cs typeface="Inter"/>
                <a:sym typeface="Inter"/>
              </a:rPr>
              <a:t>The architecture of costar coordinates host-native execution into a cohesive system.</a:t>
            </a:r>
            <a:endParaRPr b="0" sz="1064">
              <a:solidFill>
                <a:schemeClr val="dk1"/>
              </a:solidFill>
              <a:latin typeface="Inter"/>
              <a:ea typeface="Inter"/>
              <a:cs typeface="Inter"/>
              <a:sym typeface="Inter"/>
            </a:endParaRPr>
          </a:p>
        </p:txBody>
      </p:sp>
      <p:sp>
        <p:nvSpPr>
          <p:cNvPr id="186" name="Google Shape;186;p20"/>
          <p:cNvSpPr/>
          <p:nvPr/>
        </p:nvSpPr>
        <p:spPr>
          <a:xfrm>
            <a:off x="3371850" y="3162300"/>
            <a:ext cx="57300" cy="76200"/>
          </a:xfrm>
          <a:custGeom>
            <a:rect b="b" l="l" r="r" t="t"/>
            <a:pathLst>
              <a:path extrusionOk="0" h="120000" w="120000">
                <a:moveTo>
                  <a:pt x="120000" y="60000"/>
                </a:moveTo>
                <a:lnTo>
                  <a:pt x="0" y="0"/>
                </a:lnTo>
                <a:lnTo>
                  <a:pt x="0" y="120000"/>
                </a:lnTo>
                <a:close/>
              </a:path>
            </a:pathLst>
          </a:custGeom>
          <a:solidFill>
            <a:srgbClr val="4338C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7" name="Google Shape;187;p20"/>
          <p:cNvSpPr/>
          <p:nvPr/>
        </p:nvSpPr>
        <p:spPr>
          <a:xfrm>
            <a:off x="6467475" y="3162300"/>
            <a:ext cx="57300" cy="76200"/>
          </a:xfrm>
          <a:custGeom>
            <a:rect b="b" l="l" r="r" t="t"/>
            <a:pathLst>
              <a:path extrusionOk="0" h="120000" w="120000">
                <a:moveTo>
                  <a:pt x="120000" y="60000"/>
                </a:moveTo>
                <a:lnTo>
                  <a:pt x="0" y="0"/>
                </a:lnTo>
                <a:lnTo>
                  <a:pt x="0" y="120000"/>
                </a:lnTo>
                <a:close/>
              </a:path>
            </a:pathLst>
          </a:cu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88" name="Google Shape;188;p20"/>
          <p:cNvGrpSpPr/>
          <p:nvPr/>
        </p:nvGrpSpPr>
        <p:grpSpPr>
          <a:xfrm>
            <a:off x="381000" y="1095375"/>
            <a:ext cx="2524200" cy="3286200"/>
            <a:chOff x="381000" y="1095375"/>
            <a:chExt cx="2524200" cy="3286200"/>
          </a:xfrm>
        </p:grpSpPr>
        <p:sp>
          <p:nvSpPr>
            <p:cNvPr id="189" name="Google Shape;189;p20"/>
            <p:cNvSpPr/>
            <p:nvPr/>
          </p:nvSpPr>
          <p:spPr>
            <a:xfrm>
              <a:off x="381000" y="1095375"/>
              <a:ext cx="2524200" cy="3286200"/>
            </a:xfrm>
            <a:prstGeom prst="roundRect">
              <a:avLst>
                <a:gd fmla="val 2264"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90" name="Google Shape;190;p20"/>
            <p:cNvCxnSpPr/>
            <p:nvPr/>
          </p:nvCxnSpPr>
          <p:spPr>
            <a:xfrm>
              <a:off x="390525" y="1114425"/>
              <a:ext cx="2505000" cy="0"/>
            </a:xfrm>
            <a:prstGeom prst="straightConnector1">
              <a:avLst/>
            </a:prstGeom>
            <a:solidFill>
              <a:srgbClr val="FFFFFF"/>
            </a:solidFill>
            <a:ln cap="flat" cmpd="sng" w="38100">
              <a:solidFill>
                <a:schemeClr val="dk1"/>
              </a:solidFill>
              <a:prstDash val="solid"/>
              <a:round/>
              <a:headEnd len="sm" w="sm" type="none"/>
              <a:tailEnd len="sm" w="sm" type="none"/>
            </a:ln>
          </p:spPr>
        </p:cxnSp>
        <p:sp>
          <p:nvSpPr>
            <p:cNvPr id="191" name="Google Shape;191;p20"/>
            <p:cNvSpPr txBox="1"/>
            <p:nvPr/>
          </p:nvSpPr>
          <p:spPr>
            <a:xfrm>
              <a:off x="523875" y="1238250"/>
              <a:ext cx="22383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1100">
                  <a:solidFill>
                    <a:schemeClr val="dk1"/>
                  </a:solidFill>
                  <a:latin typeface="Inter SemiBold"/>
                  <a:ea typeface="Inter SemiBold"/>
                  <a:cs typeface="Inter SemiBold"/>
                  <a:sym typeface="Inter SemiBold"/>
                </a:rPr>
                <a:t>1. TARGET FIRMWARE</a:t>
              </a:r>
              <a:endParaRPr>
                <a:solidFill>
                  <a:schemeClr val="dk1"/>
                </a:solidFill>
              </a:endParaRPr>
            </a:p>
          </p:txBody>
        </p:sp>
        <p:sp>
          <p:nvSpPr>
            <p:cNvPr id="192" name="Google Shape;192;p20"/>
            <p:cNvSpPr txBox="1"/>
            <p:nvPr/>
          </p:nvSpPr>
          <p:spPr>
            <a:xfrm>
              <a:off x="523875" y="1524000"/>
              <a:ext cx="22383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50">
                  <a:solidFill>
                    <a:schemeClr val="dk1"/>
                  </a:solidFill>
                  <a:latin typeface="Inter"/>
                  <a:ea typeface="Inter"/>
                  <a:cs typeface="Inter"/>
                  <a:sym typeface="Inter"/>
                </a:rPr>
                <a:t>C firmware</a:t>
              </a:r>
              <a:r>
                <a:rPr b="0" lang="en" sz="950">
                  <a:solidFill>
                    <a:srgbClr val="1A1A1A"/>
                  </a:solidFill>
                  <a:latin typeface="Inter"/>
                  <a:ea typeface="Inter"/>
                  <a:cs typeface="Inter"/>
                  <a:sym typeface="Inter"/>
                </a:rPr>
                <a:t> (FreeRTOS / Zephyr) is compiled natively for the host (x86/ARM) with no_mangle hooks and compiler instrumentation.</a:t>
              </a:r>
              <a:endParaRPr b="0" sz="950">
                <a:solidFill>
                  <a:srgbClr val="1A1A1A"/>
                </a:solidFill>
                <a:latin typeface="Inter"/>
                <a:ea typeface="Inter"/>
                <a:cs typeface="Inter"/>
                <a:sym typeface="Inter"/>
              </a:endParaRPr>
            </a:p>
          </p:txBody>
        </p:sp>
        <p:grpSp>
          <p:nvGrpSpPr>
            <p:cNvPr id="193" name="Google Shape;193;p20"/>
            <p:cNvGrpSpPr/>
            <p:nvPr/>
          </p:nvGrpSpPr>
          <p:grpSpPr>
            <a:xfrm>
              <a:off x="519113" y="2662238"/>
              <a:ext cx="2247900" cy="1090763"/>
              <a:chOff x="519113" y="2662238"/>
              <a:chExt cx="2247900" cy="1090763"/>
            </a:xfrm>
          </p:grpSpPr>
          <p:pic>
            <p:nvPicPr>
              <p:cNvPr id="194" name="Google Shape;194;p20"/>
              <p:cNvPicPr preferRelativeResize="0"/>
              <p:nvPr/>
            </p:nvPicPr>
            <p:blipFill rotWithShape="1">
              <a:blip r:embed="rId3">
                <a:alphaModFix/>
              </a:blip>
              <a:srcRect b="0" l="0" r="0" t="0"/>
              <a:stretch/>
            </p:blipFill>
            <p:spPr>
              <a:xfrm>
                <a:off x="519113" y="2662238"/>
                <a:ext cx="2247900" cy="371400"/>
              </a:xfrm>
              <a:prstGeom prst="rect">
                <a:avLst/>
              </a:prstGeom>
              <a:noFill/>
              <a:ln>
                <a:noFill/>
              </a:ln>
            </p:spPr>
          </p:pic>
          <p:sp>
            <p:nvSpPr>
              <p:cNvPr id="195" name="Google Shape;195;p20"/>
              <p:cNvSpPr txBox="1"/>
              <p:nvPr/>
            </p:nvSpPr>
            <p:spPr>
              <a:xfrm>
                <a:off x="571500" y="2667000"/>
                <a:ext cx="2143200" cy="36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850">
                    <a:solidFill>
                      <a:srgbClr val="5F6368"/>
                    </a:solidFill>
                    <a:latin typeface="Inter SemiBold"/>
                    <a:ea typeface="Inter SemiBold"/>
                    <a:cs typeface="Inter SemiBold"/>
                    <a:sym typeface="Inter SemiBold"/>
                  </a:rPr>
                  <a:t>C Source (FreeRTOS / Zephyr)</a:t>
                </a:r>
                <a:endParaRPr b="0" sz="850">
                  <a:solidFill>
                    <a:srgbClr val="5F6368"/>
                  </a:solidFill>
                  <a:latin typeface="Inter SemiBold"/>
                  <a:ea typeface="Inter SemiBold"/>
                  <a:cs typeface="Inter SemiBold"/>
                  <a:sym typeface="Inter SemiBold"/>
                </a:endParaRPr>
              </a:p>
            </p:txBody>
          </p:sp>
          <p:sp>
            <p:nvSpPr>
              <p:cNvPr id="196" name="Google Shape;196;p20"/>
              <p:cNvSpPr/>
              <p:nvPr/>
            </p:nvSpPr>
            <p:spPr>
              <a:xfrm>
                <a:off x="1119063" y="3062025"/>
                <a:ext cx="1047900" cy="171600"/>
              </a:xfrm>
              <a:prstGeom prst="roundRect">
                <a:avLst>
                  <a:gd fmla="val 50000" name="adj"/>
                </a:avLst>
              </a:prstGeom>
              <a:solidFill>
                <a:schemeClr val="lt1"/>
              </a:solidFill>
              <a:ln cap="flat" cmpd="sng" w="715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7" name="Google Shape;197;p20"/>
              <p:cNvSpPr txBox="1"/>
              <p:nvPr/>
            </p:nvSpPr>
            <p:spPr>
              <a:xfrm>
                <a:off x="1130450" y="3062013"/>
                <a:ext cx="10479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700">
                    <a:solidFill>
                      <a:schemeClr val="dk1"/>
                    </a:solidFill>
                    <a:latin typeface="Inter"/>
                    <a:ea typeface="Inter"/>
                    <a:cs typeface="Inter"/>
                    <a:sym typeface="Inter"/>
                  </a:rPr>
                  <a:t>Instrumentation</a:t>
                </a:r>
                <a:endParaRPr>
                  <a:solidFill>
                    <a:schemeClr val="dk1"/>
                  </a:solidFill>
                </a:endParaRPr>
              </a:p>
            </p:txBody>
          </p:sp>
          <p:sp>
            <p:nvSpPr>
              <p:cNvPr id="198" name="Google Shape;198;p20"/>
              <p:cNvSpPr/>
              <p:nvPr/>
            </p:nvSpPr>
            <p:spPr>
              <a:xfrm>
                <a:off x="523875" y="3352800"/>
                <a:ext cx="2238300" cy="400200"/>
              </a:xfrm>
              <a:prstGeom prst="roundRect">
                <a:avLst>
                  <a:gd fmla="val 9523" name="adj"/>
                </a:avLst>
              </a:prstGeom>
              <a:solidFill>
                <a:srgbClr val="FFFFFF"/>
              </a:solidFill>
              <a:ln cap="flat" cmpd="sng" w="1430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9" name="Google Shape;199;p20"/>
              <p:cNvSpPr txBox="1"/>
              <p:nvPr/>
            </p:nvSpPr>
            <p:spPr>
              <a:xfrm>
                <a:off x="571425" y="3348025"/>
                <a:ext cx="21432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900">
                    <a:solidFill>
                      <a:srgbClr val="1A1A1A"/>
                    </a:solidFill>
                    <a:latin typeface="Inter"/>
                    <a:ea typeface="Inter"/>
                    <a:cs typeface="Inter"/>
                    <a:sym typeface="Inter"/>
                  </a:rPr>
                  <a:t>Host Native Binary</a:t>
                </a:r>
                <a:endParaRPr b="1" sz="900">
                  <a:solidFill>
                    <a:srgbClr val="1A1A1A"/>
                  </a:solidFill>
                  <a:latin typeface="Inter"/>
                  <a:ea typeface="Inter"/>
                  <a:cs typeface="Inter"/>
                  <a:sym typeface="Inter"/>
                </a:endParaRPr>
              </a:p>
              <a:p>
                <a:pPr indent="0" lvl="0" marL="0" rtl="0" algn="ctr">
                  <a:spcBef>
                    <a:spcPts val="75"/>
                  </a:spcBef>
                  <a:spcAft>
                    <a:spcPts val="0"/>
                  </a:spcAft>
                  <a:buNone/>
                </a:pPr>
                <a:r>
                  <a:rPr lang="en" sz="750">
                    <a:solidFill>
                      <a:schemeClr val="dk1"/>
                    </a:solidFill>
                    <a:latin typeface="JetBrains Mono"/>
                    <a:ea typeface="JetBrains Mono"/>
                    <a:cs typeface="JetBrains Mono"/>
                    <a:sym typeface="JetBrains Mono"/>
                  </a:rPr>
                  <a:t>x86_64 / AArch64</a:t>
                </a:r>
                <a:endParaRPr sz="750">
                  <a:solidFill>
                    <a:schemeClr val="dk1"/>
                  </a:solidFill>
                  <a:latin typeface="JetBrains Mono"/>
                  <a:ea typeface="JetBrains Mono"/>
                  <a:cs typeface="JetBrains Mono"/>
                  <a:sym typeface="JetBrains Mono"/>
                </a:endParaRPr>
              </a:p>
            </p:txBody>
          </p:sp>
          <p:grpSp>
            <p:nvGrpSpPr>
              <p:cNvPr id="200" name="Google Shape;200;p20"/>
              <p:cNvGrpSpPr/>
              <p:nvPr/>
            </p:nvGrpSpPr>
            <p:grpSpPr>
              <a:xfrm>
                <a:off x="2346960" y="3423285"/>
                <a:ext cx="186690" cy="186690"/>
                <a:chOff x="19050" y="19050"/>
                <a:chExt cx="266700" cy="266700"/>
              </a:xfrm>
            </p:grpSpPr>
            <p:sp>
              <p:nvSpPr>
                <p:cNvPr id="201" name="Google Shape;201;p20"/>
                <p:cNvSpPr/>
                <p:nvPr/>
              </p:nvSpPr>
              <p:spPr>
                <a:xfrm>
                  <a:off x="57150" y="57150"/>
                  <a:ext cx="190500" cy="190500"/>
                </a:xfrm>
                <a:prstGeom prst="roundRect">
                  <a:avLst>
                    <a:gd fmla="val 10000" name="adj"/>
                  </a:avLst>
                </a:prstGeom>
                <a:solidFill>
                  <a:srgbClr val="000000">
                    <a:alpha val="0"/>
                  </a:srgbClr>
                </a:solidFill>
                <a:ln cap="flat" cmpd="sng" w="1905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2" name="Google Shape;202;p20"/>
                <p:cNvSpPr/>
                <p:nvPr/>
              </p:nvSpPr>
              <p:spPr>
                <a:xfrm>
                  <a:off x="19050" y="19050"/>
                  <a:ext cx="266700" cy="266700"/>
                </a:xfrm>
                <a:custGeom>
                  <a:rect b="b" l="l" r="r" t="t"/>
                  <a:pathLst>
                    <a:path extrusionOk="0" fill="none" h="120000" w="120000">
                      <a:moveTo>
                        <a:pt x="17143" y="34286"/>
                      </a:moveTo>
                      <a:lnTo>
                        <a:pt x="0" y="34286"/>
                      </a:lnTo>
                      <a:moveTo>
                        <a:pt x="17143" y="60000"/>
                      </a:moveTo>
                      <a:lnTo>
                        <a:pt x="0" y="60000"/>
                      </a:lnTo>
                      <a:moveTo>
                        <a:pt x="17143" y="85714"/>
                      </a:moveTo>
                      <a:lnTo>
                        <a:pt x="0" y="85714"/>
                      </a:lnTo>
                      <a:moveTo>
                        <a:pt x="102857" y="34286"/>
                      </a:moveTo>
                      <a:lnTo>
                        <a:pt x="120000" y="34286"/>
                      </a:lnTo>
                      <a:moveTo>
                        <a:pt x="102857" y="60000"/>
                      </a:moveTo>
                      <a:lnTo>
                        <a:pt x="120000" y="60000"/>
                      </a:lnTo>
                      <a:moveTo>
                        <a:pt x="102857" y="85714"/>
                      </a:moveTo>
                      <a:lnTo>
                        <a:pt x="120000" y="85714"/>
                      </a:lnTo>
                      <a:moveTo>
                        <a:pt x="34286" y="17143"/>
                      </a:moveTo>
                      <a:lnTo>
                        <a:pt x="34286" y="0"/>
                      </a:lnTo>
                      <a:moveTo>
                        <a:pt x="60000" y="17143"/>
                      </a:moveTo>
                      <a:lnTo>
                        <a:pt x="60000" y="0"/>
                      </a:lnTo>
                      <a:moveTo>
                        <a:pt x="85714" y="17143"/>
                      </a:moveTo>
                      <a:lnTo>
                        <a:pt x="85714" y="0"/>
                      </a:lnTo>
                      <a:moveTo>
                        <a:pt x="34286" y="102857"/>
                      </a:moveTo>
                      <a:lnTo>
                        <a:pt x="34286" y="120000"/>
                      </a:lnTo>
                      <a:moveTo>
                        <a:pt x="60000" y="102857"/>
                      </a:moveTo>
                      <a:lnTo>
                        <a:pt x="60000" y="120000"/>
                      </a:lnTo>
                      <a:moveTo>
                        <a:pt x="85714" y="102857"/>
                      </a:moveTo>
                      <a:lnTo>
                        <a:pt x="85714" y="120000"/>
                      </a:lnTo>
                    </a:path>
                  </a:pathLst>
                </a:custGeom>
                <a:solidFill>
                  <a:srgbClr val="FFFFFF"/>
                </a:solidFill>
                <a:ln cap="rnd" cmpd="sng" w="1905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grpSp>
      <p:cxnSp>
        <p:nvCxnSpPr>
          <p:cNvPr id="203" name="Google Shape;203;p20"/>
          <p:cNvCxnSpPr>
            <a:stCxn id="197" idx="2"/>
            <a:endCxn id="199" idx="0"/>
          </p:cNvCxnSpPr>
          <p:nvPr/>
        </p:nvCxnSpPr>
        <p:spPr>
          <a:xfrm flipH="1">
            <a:off x="1643000" y="3233613"/>
            <a:ext cx="11400" cy="114300"/>
          </a:xfrm>
          <a:prstGeom prst="straightConnector1">
            <a:avLst/>
          </a:prstGeom>
          <a:noFill/>
          <a:ln cap="flat" cmpd="sng" w="9525">
            <a:solidFill>
              <a:schemeClr val="dk2"/>
            </a:solidFill>
            <a:prstDash val="solid"/>
            <a:round/>
            <a:headEnd len="med" w="med" type="none"/>
            <a:tailEnd len="med" w="med" type="triangle"/>
          </a:ln>
        </p:spPr>
      </p:cxnSp>
      <p:grpSp>
        <p:nvGrpSpPr>
          <p:cNvPr id="204" name="Google Shape;204;p20"/>
          <p:cNvGrpSpPr/>
          <p:nvPr/>
        </p:nvGrpSpPr>
        <p:grpSpPr>
          <a:xfrm>
            <a:off x="3286125" y="1095375"/>
            <a:ext cx="2571900" cy="3286200"/>
            <a:chOff x="3286125" y="1095375"/>
            <a:chExt cx="2571900" cy="3286200"/>
          </a:xfrm>
        </p:grpSpPr>
        <p:sp>
          <p:nvSpPr>
            <p:cNvPr id="205" name="Google Shape;205;p20"/>
            <p:cNvSpPr/>
            <p:nvPr/>
          </p:nvSpPr>
          <p:spPr>
            <a:xfrm>
              <a:off x="3286125" y="1095375"/>
              <a:ext cx="2571900" cy="3286200"/>
            </a:xfrm>
            <a:prstGeom prst="roundRect">
              <a:avLst>
                <a:gd fmla="val 2222"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206" name="Google Shape;206;p20"/>
            <p:cNvCxnSpPr/>
            <p:nvPr/>
          </p:nvCxnSpPr>
          <p:spPr>
            <a:xfrm>
              <a:off x="3295650" y="1114425"/>
              <a:ext cx="2552700" cy="0"/>
            </a:xfrm>
            <a:prstGeom prst="straightConnector1">
              <a:avLst/>
            </a:prstGeom>
            <a:solidFill>
              <a:srgbClr val="FFFFFF"/>
            </a:solidFill>
            <a:ln cap="flat" cmpd="sng" w="38100">
              <a:solidFill>
                <a:schemeClr val="dk1"/>
              </a:solidFill>
              <a:prstDash val="solid"/>
              <a:round/>
              <a:headEnd len="sm" w="sm" type="none"/>
              <a:tailEnd len="sm" w="sm" type="none"/>
            </a:ln>
          </p:spPr>
        </p:cxnSp>
        <p:sp>
          <p:nvSpPr>
            <p:cNvPr id="207" name="Google Shape;207;p20"/>
            <p:cNvSpPr txBox="1"/>
            <p:nvPr/>
          </p:nvSpPr>
          <p:spPr>
            <a:xfrm>
              <a:off x="3429000" y="1238250"/>
              <a:ext cx="22860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1100">
                  <a:solidFill>
                    <a:schemeClr val="dk1"/>
                  </a:solidFill>
                  <a:latin typeface="Inter SemiBold"/>
                  <a:ea typeface="Inter SemiBold"/>
                  <a:cs typeface="Inter SemiBold"/>
                  <a:sym typeface="Inter SemiBold"/>
                </a:rPr>
                <a:t>2. FIBER MANAGER &amp; CLOCK</a:t>
              </a:r>
              <a:endParaRPr>
                <a:solidFill>
                  <a:schemeClr val="dk1"/>
                </a:solidFill>
              </a:endParaRPr>
            </a:p>
          </p:txBody>
        </p:sp>
        <p:sp>
          <p:nvSpPr>
            <p:cNvPr id="208" name="Google Shape;208;p20"/>
            <p:cNvSpPr txBox="1"/>
            <p:nvPr/>
          </p:nvSpPr>
          <p:spPr>
            <a:xfrm>
              <a:off x="3429000" y="1524000"/>
              <a:ext cx="22860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50">
                  <a:solidFill>
                    <a:schemeClr val="dk1"/>
                  </a:solidFill>
                  <a:latin typeface="Inter"/>
                  <a:ea typeface="Inter"/>
                  <a:cs typeface="Inter"/>
                  <a:sym typeface="Inter"/>
                </a:rPr>
                <a:t>Fiber Manager:</a:t>
              </a:r>
              <a:r>
                <a:rPr b="0" lang="en" sz="950">
                  <a:solidFill>
                    <a:srgbClr val="1A1A1A"/>
                  </a:solidFill>
                  <a:latin typeface="Inter"/>
                  <a:ea typeface="Inter"/>
                  <a:cs typeface="Inter"/>
                  <a:sym typeface="Inter"/>
                </a:rPr>
                <a:t> A C ABI bridge connects to Rust fibers (stackful tasks). The RTOS still owns the scheduling policy, but costar acts as the deterministic substrate.</a:t>
              </a:r>
              <a:endParaRPr b="0" sz="950">
                <a:solidFill>
                  <a:srgbClr val="1A1A1A"/>
                </a:solidFill>
                <a:latin typeface="Inter"/>
                <a:ea typeface="Inter"/>
                <a:cs typeface="Inter"/>
                <a:sym typeface="Inter"/>
              </a:endParaRPr>
            </a:p>
            <a:p>
              <a:pPr indent="0" lvl="0" marL="0" rtl="0" algn="l">
                <a:spcBef>
                  <a:spcPts val="600"/>
                </a:spcBef>
                <a:spcAft>
                  <a:spcPts val="0"/>
                </a:spcAft>
                <a:buNone/>
              </a:pPr>
              <a:r>
                <a:rPr b="1" lang="en" sz="950">
                  <a:solidFill>
                    <a:schemeClr val="dk1"/>
                  </a:solidFill>
                  <a:latin typeface="Inter"/>
                  <a:ea typeface="Inter"/>
                  <a:cs typeface="Inter"/>
                  <a:sym typeface="Inter"/>
                </a:rPr>
                <a:t>Virtual Clock (sim-core):</a:t>
              </a:r>
              <a:r>
                <a:rPr b="0" lang="en" sz="950">
                  <a:solidFill>
                    <a:srgbClr val="1A1A1A"/>
                  </a:solidFill>
                  <a:latin typeface="Inter"/>
                  <a:ea typeface="Inter"/>
                  <a:cs typeface="Inter"/>
                  <a:sym typeface="Inter"/>
                </a:rPr>
                <a:t> Maintains strict temporal determinism using u64 virtual ticks.</a:t>
              </a:r>
              <a:endParaRPr b="0" sz="950">
                <a:solidFill>
                  <a:srgbClr val="1A1A1A"/>
                </a:solidFill>
                <a:latin typeface="Inter"/>
                <a:ea typeface="Inter"/>
                <a:cs typeface="Inter"/>
                <a:sym typeface="Inter"/>
              </a:endParaRPr>
            </a:p>
          </p:txBody>
        </p:sp>
        <p:grpSp>
          <p:nvGrpSpPr>
            <p:cNvPr id="209" name="Google Shape;209;p20"/>
            <p:cNvGrpSpPr/>
            <p:nvPr/>
          </p:nvGrpSpPr>
          <p:grpSpPr>
            <a:xfrm>
              <a:off x="3429000" y="2995500"/>
              <a:ext cx="2286075" cy="976575"/>
              <a:chOff x="3429000" y="2995500"/>
              <a:chExt cx="2286075" cy="976575"/>
            </a:xfrm>
          </p:grpSpPr>
          <p:sp>
            <p:nvSpPr>
              <p:cNvPr id="210" name="Google Shape;210;p20"/>
              <p:cNvSpPr/>
              <p:nvPr/>
            </p:nvSpPr>
            <p:spPr>
              <a:xfrm>
                <a:off x="3429000" y="3000375"/>
                <a:ext cx="1000200" cy="400200"/>
              </a:xfrm>
              <a:prstGeom prst="roundRect">
                <a:avLst>
                  <a:gd fmla="val 9523" name="adj"/>
                </a:avLst>
              </a:prstGeom>
              <a:solidFill>
                <a:srgbClr val="F8F9FA"/>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1" name="Google Shape;211;p20"/>
              <p:cNvSpPr txBox="1"/>
              <p:nvPr/>
            </p:nvSpPr>
            <p:spPr>
              <a:xfrm>
                <a:off x="3448050" y="3000375"/>
                <a:ext cx="9621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750">
                    <a:solidFill>
                      <a:srgbClr val="5F6368"/>
                    </a:solidFill>
                    <a:latin typeface="Inter"/>
                    <a:ea typeface="Inter"/>
                    <a:cs typeface="Inter"/>
                    <a:sym typeface="Inter"/>
                  </a:rPr>
                  <a:t>RTOS Scheduler</a:t>
                </a:r>
                <a:endParaRPr b="1" sz="750">
                  <a:solidFill>
                    <a:srgbClr val="5F6368"/>
                  </a:solidFill>
                  <a:latin typeface="Inter"/>
                  <a:ea typeface="Inter"/>
                  <a:cs typeface="Inter"/>
                  <a:sym typeface="Inter"/>
                </a:endParaRPr>
              </a:p>
              <a:p>
                <a:pPr indent="0" lvl="0" marL="0" rtl="0" algn="ctr">
                  <a:spcBef>
                    <a:spcPts val="0"/>
                  </a:spcBef>
                  <a:spcAft>
                    <a:spcPts val="0"/>
                  </a:spcAft>
                  <a:buNone/>
                </a:pPr>
                <a:r>
                  <a:rPr lang="en" sz="700">
                    <a:solidFill>
                      <a:srgbClr val="5F6368"/>
                    </a:solidFill>
                    <a:latin typeface="Inter"/>
                    <a:ea typeface="Inter"/>
                    <a:cs typeface="Inter"/>
                    <a:sym typeface="Inter"/>
                  </a:rPr>
                  <a:t>(FreeRTOS/Zephyr)</a:t>
                </a:r>
                <a:endParaRPr sz="700">
                  <a:solidFill>
                    <a:srgbClr val="5F6368"/>
                  </a:solidFill>
                  <a:latin typeface="Inter"/>
                  <a:ea typeface="Inter"/>
                  <a:cs typeface="Inter"/>
                  <a:sym typeface="Inter"/>
                </a:endParaRPr>
              </a:p>
            </p:txBody>
          </p:sp>
          <p:sp>
            <p:nvSpPr>
              <p:cNvPr id="212" name="Google Shape;212;p20"/>
              <p:cNvSpPr/>
              <p:nvPr/>
            </p:nvSpPr>
            <p:spPr>
              <a:xfrm>
                <a:off x="4714875" y="3000375"/>
                <a:ext cx="1000200" cy="400200"/>
              </a:xfrm>
              <a:prstGeom prst="roundRect">
                <a:avLst>
                  <a:gd fmla="val 9523" name="adj"/>
                </a:avLst>
              </a:prstGeom>
              <a:solidFill>
                <a:srgbClr val="FFFFFF"/>
              </a:solidFill>
              <a:ln cap="flat" cmpd="sng" w="1430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3" name="Google Shape;213;p20"/>
              <p:cNvSpPr txBox="1"/>
              <p:nvPr/>
            </p:nvSpPr>
            <p:spPr>
              <a:xfrm>
                <a:off x="4733950" y="2995500"/>
                <a:ext cx="9621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chemeClr val="dk1"/>
                    </a:solidFill>
                    <a:latin typeface="Inter"/>
                    <a:ea typeface="Inter"/>
                    <a:cs typeface="Inter"/>
                    <a:sym typeface="Inter"/>
                  </a:rPr>
                  <a:t>Rust Fibers</a:t>
                </a:r>
                <a:endParaRPr b="1" sz="850">
                  <a:solidFill>
                    <a:schemeClr val="dk1"/>
                  </a:solidFill>
                  <a:latin typeface="Inter"/>
                  <a:ea typeface="Inter"/>
                  <a:cs typeface="Inter"/>
                  <a:sym typeface="Inter"/>
                </a:endParaRPr>
              </a:p>
              <a:p>
                <a:pPr indent="0" lvl="0" marL="0" rtl="0" algn="ctr">
                  <a:spcBef>
                    <a:spcPts val="0"/>
                  </a:spcBef>
                  <a:spcAft>
                    <a:spcPts val="0"/>
                  </a:spcAft>
                  <a:buNone/>
                </a:pPr>
                <a:r>
                  <a:rPr lang="en" sz="700">
                    <a:solidFill>
                      <a:srgbClr val="5F6368"/>
                    </a:solidFill>
                    <a:latin typeface="Inter"/>
                    <a:ea typeface="Inter"/>
                    <a:cs typeface="Inter"/>
                    <a:sym typeface="Inter"/>
                  </a:rPr>
                  <a:t>(Stackful Tasks)</a:t>
                </a:r>
                <a:endParaRPr sz="700">
                  <a:solidFill>
                    <a:srgbClr val="5F6368"/>
                  </a:solidFill>
                  <a:latin typeface="Inter"/>
                  <a:ea typeface="Inter"/>
                  <a:cs typeface="Inter"/>
                  <a:sym typeface="Inter"/>
                </a:endParaRPr>
              </a:p>
            </p:txBody>
          </p:sp>
          <p:sp>
            <p:nvSpPr>
              <p:cNvPr id="214" name="Google Shape;214;p20"/>
              <p:cNvSpPr/>
              <p:nvPr/>
            </p:nvSpPr>
            <p:spPr>
              <a:xfrm>
                <a:off x="4467225" y="3124200"/>
                <a:ext cx="171600" cy="142800"/>
              </a:xfrm>
              <a:prstGeom prst="roundRect">
                <a:avLst>
                  <a:gd fmla="val 20000" name="adj"/>
                </a:avLst>
              </a:pr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5" name="Google Shape;215;p20"/>
              <p:cNvSpPr txBox="1"/>
              <p:nvPr/>
            </p:nvSpPr>
            <p:spPr>
              <a:xfrm>
                <a:off x="4486050" y="3124200"/>
                <a:ext cx="1365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600">
                    <a:solidFill>
                      <a:srgbClr val="FFFFFF"/>
                    </a:solidFill>
                    <a:latin typeface="Inter"/>
                    <a:ea typeface="Inter"/>
                    <a:cs typeface="Inter"/>
                    <a:sym typeface="Inter"/>
                  </a:rPr>
                  <a:t>ABI</a:t>
                </a:r>
                <a:endParaRPr/>
              </a:p>
            </p:txBody>
          </p:sp>
          <p:sp>
            <p:nvSpPr>
              <p:cNvPr id="216" name="Google Shape;216;p20"/>
              <p:cNvSpPr/>
              <p:nvPr/>
            </p:nvSpPr>
            <p:spPr>
              <a:xfrm>
                <a:off x="3429000" y="3571875"/>
                <a:ext cx="2286000" cy="400200"/>
              </a:xfrm>
              <a:prstGeom prst="roundRect">
                <a:avLst>
                  <a:gd fmla="val 9523" name="adj"/>
                </a:avLst>
              </a:prstGeom>
              <a:noFill/>
              <a:ln cap="flat" cmpd="sng" w="952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7" name="Google Shape;217;p20"/>
              <p:cNvSpPr txBox="1"/>
              <p:nvPr/>
            </p:nvSpPr>
            <p:spPr>
              <a:xfrm>
                <a:off x="3476625" y="3571875"/>
                <a:ext cx="2190900" cy="4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0F172A"/>
                    </a:solidFill>
                    <a:latin typeface="Inter"/>
                    <a:ea typeface="Inter"/>
                    <a:cs typeface="Inter"/>
                    <a:sym typeface="Inter"/>
                  </a:rPr>
                  <a:t>sim-core Virtual Clock</a:t>
                </a:r>
                <a:endParaRPr b="1" sz="850">
                  <a:solidFill>
                    <a:srgbClr val="0F172A"/>
                  </a:solidFill>
                  <a:latin typeface="Inter"/>
                  <a:ea typeface="Inter"/>
                  <a:cs typeface="Inter"/>
                  <a:sym typeface="Inter"/>
                </a:endParaRPr>
              </a:p>
              <a:p>
                <a:pPr indent="0" lvl="0" marL="0" rtl="0" algn="ctr">
                  <a:spcBef>
                    <a:spcPts val="75"/>
                  </a:spcBef>
                  <a:spcAft>
                    <a:spcPts val="0"/>
                  </a:spcAft>
                  <a:buNone/>
                </a:pPr>
                <a:r>
                  <a:rPr lang="en" sz="750">
                    <a:solidFill>
                      <a:schemeClr val="dk1"/>
                    </a:solidFill>
                    <a:latin typeface="JetBrains Mono"/>
                    <a:ea typeface="JetBrains Mono"/>
                    <a:cs typeface="JetBrains Mono"/>
                    <a:sym typeface="JetBrains Mono"/>
                  </a:rPr>
                  <a:t>u64 Ticks (Temporal Determinism)</a:t>
                </a:r>
                <a:endParaRPr sz="750">
                  <a:solidFill>
                    <a:schemeClr val="dk1"/>
                  </a:solidFill>
                  <a:latin typeface="JetBrains Mono"/>
                  <a:ea typeface="JetBrains Mono"/>
                  <a:cs typeface="JetBrains Mono"/>
                  <a:sym typeface="JetBrains Mono"/>
                </a:endParaRPr>
              </a:p>
            </p:txBody>
          </p:sp>
        </p:grpSp>
      </p:grpSp>
      <p:grpSp>
        <p:nvGrpSpPr>
          <p:cNvPr id="218" name="Google Shape;218;p20"/>
          <p:cNvGrpSpPr/>
          <p:nvPr/>
        </p:nvGrpSpPr>
        <p:grpSpPr>
          <a:xfrm>
            <a:off x="6238875" y="1095375"/>
            <a:ext cx="2524200" cy="3286200"/>
            <a:chOff x="6238875" y="1095375"/>
            <a:chExt cx="2524200" cy="3286200"/>
          </a:xfrm>
        </p:grpSpPr>
        <p:sp>
          <p:nvSpPr>
            <p:cNvPr id="219" name="Google Shape;219;p20"/>
            <p:cNvSpPr/>
            <p:nvPr/>
          </p:nvSpPr>
          <p:spPr>
            <a:xfrm>
              <a:off x="6238875" y="1095375"/>
              <a:ext cx="2524200" cy="3286200"/>
            </a:xfrm>
            <a:prstGeom prst="roundRect">
              <a:avLst>
                <a:gd fmla="val 2264"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220" name="Google Shape;220;p20"/>
            <p:cNvCxnSpPr/>
            <p:nvPr/>
          </p:nvCxnSpPr>
          <p:spPr>
            <a:xfrm>
              <a:off x="6248400" y="1114425"/>
              <a:ext cx="2505000" cy="0"/>
            </a:xfrm>
            <a:prstGeom prst="straightConnector1">
              <a:avLst/>
            </a:prstGeom>
            <a:solidFill>
              <a:srgbClr val="FFFFFF"/>
            </a:solidFill>
            <a:ln cap="flat" cmpd="sng" w="38100">
              <a:solidFill>
                <a:schemeClr val="dk1"/>
              </a:solidFill>
              <a:prstDash val="solid"/>
              <a:round/>
              <a:headEnd len="sm" w="sm" type="none"/>
              <a:tailEnd len="sm" w="sm" type="none"/>
            </a:ln>
          </p:spPr>
        </p:cxnSp>
        <p:sp>
          <p:nvSpPr>
            <p:cNvPr id="221" name="Google Shape;221;p20"/>
            <p:cNvSpPr txBox="1"/>
            <p:nvPr/>
          </p:nvSpPr>
          <p:spPr>
            <a:xfrm>
              <a:off x="6381750" y="1238250"/>
              <a:ext cx="22383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1100">
                  <a:solidFill>
                    <a:srgbClr val="1A1A1A"/>
                  </a:solidFill>
                  <a:latin typeface="Inter SemiBold"/>
                  <a:ea typeface="Inter SemiBold"/>
                  <a:cs typeface="Inter SemiBold"/>
                  <a:sym typeface="Inter SemiBold"/>
                </a:rPr>
                <a:t>3. VIRTUAL SYSTEM BUS</a:t>
              </a:r>
              <a:endParaRPr/>
            </a:p>
          </p:txBody>
        </p:sp>
        <p:sp>
          <p:nvSpPr>
            <p:cNvPr id="222" name="Google Shape;222;p20"/>
            <p:cNvSpPr txBox="1"/>
            <p:nvPr/>
          </p:nvSpPr>
          <p:spPr>
            <a:xfrm>
              <a:off x="6381750" y="1524000"/>
              <a:ext cx="22383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950">
                  <a:solidFill>
                    <a:srgbClr val="1A1A1A"/>
                  </a:solidFill>
                  <a:latin typeface="Inter"/>
                  <a:ea typeface="Inter"/>
                  <a:cs typeface="Inter"/>
                  <a:sym typeface="Inter"/>
                </a:rPr>
                <a:t>Virtual Devices &amp; Orchestration:</a:t>
              </a:r>
              <a:r>
                <a:rPr b="0" lang="en" sz="950">
                  <a:solidFill>
                    <a:srgbClr val="1A1A1A"/>
                  </a:solidFill>
                  <a:latin typeface="Inter"/>
                  <a:ea typeface="Inter"/>
                  <a:cs typeface="Inter"/>
                  <a:sym typeface="Inter"/>
                </a:rPr>
                <a:t> A bus routes messages instantly between virtual machines (UART, GPIO, I2C, SPI, CAN, IRQ) within a defined</a:t>
              </a:r>
              <a:r>
                <a:rPr b="0" lang="en" sz="950">
                  <a:solidFill>
                    <a:schemeClr val="dk1"/>
                  </a:solidFill>
                  <a:latin typeface="Inter"/>
                  <a:ea typeface="Inter"/>
                  <a:cs typeface="Inter"/>
                  <a:sym typeface="Inter"/>
                </a:rPr>
                <a:t> </a:t>
              </a:r>
              <a:r>
                <a:rPr b="1" lang="en" sz="950">
                  <a:solidFill>
                    <a:schemeClr val="dk1"/>
                  </a:solidFill>
                  <a:latin typeface="Inter"/>
                  <a:ea typeface="Inter"/>
                  <a:cs typeface="Inter"/>
                  <a:sym typeface="Inter"/>
                </a:rPr>
                <a:t>'World'</a:t>
              </a:r>
              <a:r>
                <a:rPr b="0" lang="en" sz="950">
                  <a:solidFill>
                    <a:srgbClr val="1A1A1A"/>
                  </a:solidFill>
                  <a:latin typeface="Inter"/>
                  <a:ea typeface="Inter"/>
                  <a:cs typeface="Inter"/>
                  <a:sym typeface="Inter"/>
                </a:rPr>
                <a:t> of machines, links, and plants.</a:t>
              </a:r>
              <a:endParaRPr b="0" sz="950">
                <a:solidFill>
                  <a:srgbClr val="1A1A1A"/>
                </a:solidFill>
                <a:latin typeface="Inter"/>
                <a:ea typeface="Inter"/>
                <a:cs typeface="Inter"/>
                <a:sym typeface="Inter"/>
              </a:endParaRPr>
            </a:p>
          </p:txBody>
        </p:sp>
        <p:grpSp>
          <p:nvGrpSpPr>
            <p:cNvPr id="223" name="Google Shape;223;p20"/>
            <p:cNvGrpSpPr/>
            <p:nvPr/>
          </p:nvGrpSpPr>
          <p:grpSpPr>
            <a:xfrm>
              <a:off x="6524625" y="2667000"/>
              <a:ext cx="1952700" cy="1124100"/>
              <a:chOff x="6524625" y="2667000"/>
              <a:chExt cx="1952700" cy="1124100"/>
            </a:xfrm>
          </p:grpSpPr>
          <p:sp>
            <p:nvSpPr>
              <p:cNvPr id="224" name="Google Shape;224;p20"/>
              <p:cNvSpPr/>
              <p:nvPr/>
            </p:nvSpPr>
            <p:spPr>
              <a:xfrm>
                <a:off x="6524625" y="3095625"/>
                <a:ext cx="1952700" cy="285900"/>
              </a:xfrm>
              <a:prstGeom prst="roundRect">
                <a:avLst>
                  <a:gd fmla="val 13333" name="adj"/>
                </a:avLst>
              </a:prstGeom>
              <a:solidFill>
                <a:srgbClr val="1A1A1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5" name="Google Shape;225;p20"/>
              <p:cNvSpPr txBox="1"/>
              <p:nvPr/>
            </p:nvSpPr>
            <p:spPr>
              <a:xfrm>
                <a:off x="6524625" y="3095625"/>
                <a:ext cx="19527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850">
                    <a:solidFill>
                      <a:srgbClr val="FFFFFF"/>
                    </a:solidFill>
                    <a:latin typeface="Inter"/>
                    <a:ea typeface="Inter"/>
                    <a:cs typeface="Inter"/>
                    <a:sym typeface="Inter"/>
                  </a:rPr>
                  <a:t>VIRTUAL MESSAGE BUS</a:t>
                </a:r>
                <a:endParaRPr/>
              </a:p>
            </p:txBody>
          </p:sp>
          <p:sp>
            <p:nvSpPr>
              <p:cNvPr id="226" name="Google Shape;226;p20"/>
              <p:cNvSpPr/>
              <p:nvPr/>
            </p:nvSpPr>
            <p:spPr>
              <a:xfrm>
                <a:off x="6524625" y="2667000"/>
                <a:ext cx="904800" cy="247800"/>
              </a:xfrm>
              <a:prstGeom prst="roundRect">
                <a:avLst>
                  <a:gd fmla="val 11538" name="adj"/>
                </a:avLst>
              </a:prstGeom>
              <a:solidFill>
                <a:srgbClr val="F8F9FA"/>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7" name="Google Shape;227;p20"/>
              <p:cNvSpPr txBox="1"/>
              <p:nvPr/>
            </p:nvSpPr>
            <p:spPr>
              <a:xfrm>
                <a:off x="6524625" y="2667000"/>
                <a:ext cx="9048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750">
                    <a:solidFill>
                      <a:srgbClr val="5F6368"/>
                    </a:solidFill>
                    <a:latin typeface="JetBrains Mono SemiBold"/>
                    <a:ea typeface="JetBrains Mono SemiBold"/>
                    <a:cs typeface="JetBrains Mono SemiBold"/>
                    <a:sym typeface="JetBrains Mono SemiBold"/>
                  </a:rPr>
                  <a:t>UART / GPIO</a:t>
                </a:r>
                <a:endParaRPr/>
              </a:p>
            </p:txBody>
          </p:sp>
          <p:sp>
            <p:nvSpPr>
              <p:cNvPr id="228" name="Google Shape;228;p20"/>
              <p:cNvSpPr/>
              <p:nvPr/>
            </p:nvSpPr>
            <p:spPr>
              <a:xfrm>
                <a:off x="7572375" y="2667000"/>
                <a:ext cx="904800" cy="247800"/>
              </a:xfrm>
              <a:prstGeom prst="roundRect">
                <a:avLst>
                  <a:gd fmla="val 11538" name="adj"/>
                </a:avLst>
              </a:prstGeom>
              <a:solidFill>
                <a:srgbClr val="F8F9FA"/>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9" name="Google Shape;229;p20"/>
              <p:cNvSpPr txBox="1"/>
              <p:nvPr/>
            </p:nvSpPr>
            <p:spPr>
              <a:xfrm>
                <a:off x="7572375" y="2667000"/>
                <a:ext cx="9048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750">
                    <a:solidFill>
                      <a:srgbClr val="5F6368"/>
                    </a:solidFill>
                    <a:latin typeface="JetBrains Mono SemiBold"/>
                    <a:ea typeface="JetBrains Mono SemiBold"/>
                    <a:cs typeface="JetBrains Mono SemiBold"/>
                    <a:sym typeface="JetBrains Mono SemiBold"/>
                  </a:rPr>
                  <a:t>I2C / SPI</a:t>
                </a:r>
                <a:endParaRPr/>
              </a:p>
            </p:txBody>
          </p:sp>
          <p:sp>
            <p:nvSpPr>
              <p:cNvPr id="230" name="Google Shape;230;p20"/>
              <p:cNvSpPr/>
              <p:nvPr/>
            </p:nvSpPr>
            <p:spPr>
              <a:xfrm>
                <a:off x="6524625" y="3543300"/>
                <a:ext cx="904800" cy="247800"/>
              </a:xfrm>
              <a:prstGeom prst="roundRect">
                <a:avLst>
                  <a:gd fmla="val 11538" name="adj"/>
                </a:avLst>
              </a:prstGeom>
              <a:solidFill>
                <a:srgbClr val="F8F9FA"/>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1" name="Google Shape;231;p20"/>
              <p:cNvSpPr txBox="1"/>
              <p:nvPr/>
            </p:nvSpPr>
            <p:spPr>
              <a:xfrm>
                <a:off x="6524625" y="3543300"/>
                <a:ext cx="9048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750">
                    <a:solidFill>
                      <a:srgbClr val="5F6368"/>
                    </a:solidFill>
                    <a:latin typeface="JetBrains Mono SemiBold"/>
                    <a:ea typeface="JetBrains Mono SemiBold"/>
                    <a:cs typeface="JetBrains Mono SemiBold"/>
                    <a:sym typeface="JetBrains Mono SemiBold"/>
                  </a:rPr>
                  <a:t>CAN / IRQ</a:t>
                </a:r>
                <a:endParaRPr/>
              </a:p>
            </p:txBody>
          </p:sp>
          <p:cxnSp>
            <p:nvCxnSpPr>
              <p:cNvPr id="232" name="Google Shape;232;p20"/>
              <p:cNvCxnSpPr/>
              <p:nvPr/>
            </p:nvCxnSpPr>
            <p:spPr>
              <a:xfrm>
                <a:off x="6977063" y="2914650"/>
                <a:ext cx="0" cy="180900"/>
              </a:xfrm>
              <a:prstGeom prst="straightConnector1">
                <a:avLst/>
              </a:prstGeom>
              <a:solidFill>
                <a:srgbClr val="FFFFFF"/>
              </a:solidFill>
              <a:ln cap="flat" cmpd="sng" w="14300">
                <a:solidFill>
                  <a:srgbClr val="CBD5E1"/>
                </a:solidFill>
                <a:prstDash val="solid"/>
                <a:round/>
                <a:headEnd len="sm" w="sm" type="none"/>
                <a:tailEnd len="sm" w="sm" type="none"/>
              </a:ln>
            </p:spPr>
          </p:cxnSp>
          <p:cxnSp>
            <p:nvCxnSpPr>
              <p:cNvPr id="233" name="Google Shape;233;p20"/>
              <p:cNvCxnSpPr/>
              <p:nvPr/>
            </p:nvCxnSpPr>
            <p:spPr>
              <a:xfrm>
                <a:off x="8024813" y="2914650"/>
                <a:ext cx="0" cy="180900"/>
              </a:xfrm>
              <a:prstGeom prst="straightConnector1">
                <a:avLst/>
              </a:prstGeom>
              <a:solidFill>
                <a:srgbClr val="FFFFFF"/>
              </a:solidFill>
              <a:ln cap="flat" cmpd="sng" w="14300">
                <a:solidFill>
                  <a:srgbClr val="CBD5E1"/>
                </a:solidFill>
                <a:prstDash val="solid"/>
                <a:round/>
                <a:headEnd len="sm" w="sm" type="none"/>
                <a:tailEnd len="sm" w="sm" type="none"/>
              </a:ln>
            </p:spPr>
          </p:cxnSp>
          <p:cxnSp>
            <p:nvCxnSpPr>
              <p:cNvPr id="234" name="Google Shape;234;p20"/>
              <p:cNvCxnSpPr/>
              <p:nvPr/>
            </p:nvCxnSpPr>
            <p:spPr>
              <a:xfrm>
                <a:off x="6977063" y="3381375"/>
                <a:ext cx="0" cy="162000"/>
              </a:xfrm>
              <a:prstGeom prst="straightConnector1">
                <a:avLst/>
              </a:prstGeom>
              <a:solidFill>
                <a:srgbClr val="FFFFFF"/>
              </a:solidFill>
              <a:ln cap="flat" cmpd="sng" w="14300">
                <a:solidFill>
                  <a:srgbClr val="CBD5E1"/>
                </a:solidFill>
                <a:prstDash val="solid"/>
                <a:round/>
                <a:headEnd len="sm" w="sm" type="none"/>
                <a:tailEnd len="sm" w="sm" type="none"/>
              </a:ln>
            </p:spPr>
          </p:cxnSp>
          <p:cxnSp>
            <p:nvCxnSpPr>
              <p:cNvPr id="235" name="Google Shape;235;p20"/>
              <p:cNvCxnSpPr/>
              <p:nvPr/>
            </p:nvCxnSpPr>
            <p:spPr>
              <a:xfrm>
                <a:off x="8024813" y="3381375"/>
                <a:ext cx="0" cy="162000"/>
              </a:xfrm>
              <a:prstGeom prst="straightConnector1">
                <a:avLst/>
              </a:prstGeom>
              <a:solidFill>
                <a:srgbClr val="FFFFFF"/>
              </a:solidFill>
              <a:ln cap="flat" cmpd="sng" w="14300">
                <a:solidFill>
                  <a:schemeClr val="dk1"/>
                </a:solidFill>
                <a:prstDash val="solid"/>
                <a:round/>
                <a:headEnd len="sm" w="sm" type="none"/>
                <a:tailEnd len="sm" w="sm" type="none"/>
              </a:ln>
            </p:spPr>
          </p:cxnSp>
        </p:grpSp>
      </p:grpSp>
      <p:grpSp>
        <p:nvGrpSpPr>
          <p:cNvPr id="236" name="Google Shape;236;p20"/>
          <p:cNvGrpSpPr/>
          <p:nvPr/>
        </p:nvGrpSpPr>
        <p:grpSpPr>
          <a:xfrm>
            <a:off x="381075" y="4524375"/>
            <a:ext cx="8382000" cy="381000"/>
            <a:chOff x="381000" y="4524375"/>
            <a:chExt cx="8382000" cy="381000"/>
          </a:xfrm>
        </p:grpSpPr>
        <p:sp>
          <p:nvSpPr>
            <p:cNvPr id="237" name="Google Shape;237;p20"/>
            <p:cNvSpPr/>
            <p:nvPr/>
          </p:nvSpPr>
          <p:spPr>
            <a:xfrm>
              <a:off x="381000" y="4524375"/>
              <a:ext cx="8382000" cy="381000"/>
            </a:xfrm>
            <a:prstGeom prst="roundRect">
              <a:avLst>
                <a:gd fmla="val 10000" name="adj"/>
              </a:avLst>
            </a:prstGeom>
            <a:solidFill>
              <a:srgbClr val="F8F9FA"/>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8" name="Google Shape;238;p20"/>
            <p:cNvSpPr/>
            <p:nvPr/>
          </p:nvSpPr>
          <p:spPr>
            <a:xfrm>
              <a:off x="381000" y="4524375"/>
              <a:ext cx="38100" cy="381000"/>
            </a:xfrm>
            <a:prstGeom prst="roundRect">
              <a:avLst>
                <a:gd fmla="val 50000" name="adj"/>
              </a:avLst>
            </a:pr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9" name="Google Shape;239;p20"/>
            <p:cNvSpPr txBox="1"/>
            <p:nvPr/>
          </p:nvSpPr>
          <p:spPr>
            <a:xfrm>
              <a:off x="523875" y="4524375"/>
              <a:ext cx="8096400" cy="381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800">
                  <a:solidFill>
                    <a:schemeClr val="dk1"/>
                  </a:solidFill>
                  <a:latin typeface="Inter"/>
                  <a:ea typeface="Inter"/>
                  <a:cs typeface="Inter"/>
                  <a:sym typeface="Inter"/>
                </a:rPr>
                <a:t>Important Boundary:</a:t>
              </a:r>
              <a:r>
                <a:rPr lang="en" sz="850">
                  <a:solidFill>
                    <a:schemeClr val="dk1"/>
                  </a:solidFill>
                  <a:latin typeface="Inter"/>
                  <a:ea typeface="Inter"/>
                  <a:cs typeface="Inter"/>
                  <a:sym typeface="Inter"/>
                </a:rPr>
                <a:t> </a:t>
              </a:r>
              <a:r>
                <a:rPr lang="en" sz="850">
                  <a:solidFill>
                    <a:srgbClr val="5F6368"/>
                  </a:solidFill>
                  <a:latin typeface="Inter"/>
                  <a:ea typeface="Inter"/>
                  <a:cs typeface="Inter"/>
                  <a:sym typeface="Inter"/>
                </a:rPr>
                <a:t>costar is not a Renode-compatible instruction emulator. It compiles firmware for the host and relies on virtual devices and shared virtual time to orchestrate the simulation.</a:t>
              </a:r>
              <a:endParaRPr sz="850">
                <a:solidFill>
                  <a:srgbClr val="5F6368"/>
                </a:solidFill>
                <a:latin typeface="Inter"/>
                <a:ea typeface="Inter"/>
                <a:cs typeface="Inter"/>
                <a:sym typeface="Inter"/>
              </a:endParaRPr>
            </a:p>
          </p:txBody>
        </p:sp>
      </p:grpSp>
      <p:sp>
        <p:nvSpPr>
          <p:cNvPr id="240" name="Google Shape;240;p20"/>
          <p:cNvSpPr/>
          <p:nvPr/>
        </p:nvSpPr>
        <p:spPr>
          <a:xfrm>
            <a:off x="7591125" y="3528175"/>
            <a:ext cx="904800" cy="247800"/>
          </a:xfrm>
          <a:prstGeom prst="roundRect">
            <a:avLst>
              <a:gd fmla="val 11538" name="adj"/>
            </a:avLst>
          </a:prstGeom>
          <a:solidFill>
            <a:srgbClr val="F8F9FA"/>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1" name="Google Shape;241;p20"/>
          <p:cNvSpPr txBox="1"/>
          <p:nvPr/>
        </p:nvSpPr>
        <p:spPr>
          <a:xfrm>
            <a:off x="7591125" y="3528175"/>
            <a:ext cx="904800" cy="24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750">
                <a:solidFill>
                  <a:srgbClr val="5F6368"/>
                </a:solidFill>
                <a:latin typeface="JetBrains Mono SemiBold"/>
                <a:ea typeface="JetBrains Mono SemiBold"/>
                <a:cs typeface="JetBrains Mono SemiBold"/>
                <a:sym typeface="JetBrains Mono SemiBold"/>
              </a:rPr>
              <a:t>‘World’ Model</a:t>
            </a:r>
            <a:endParaRPr/>
          </a:p>
        </p:txBody>
      </p:sp>
      <p:cxnSp>
        <p:nvCxnSpPr>
          <p:cNvPr id="242" name="Google Shape;242;p20"/>
          <p:cNvCxnSpPr>
            <a:stCxn id="199" idx="3"/>
            <a:endCxn id="211" idx="1"/>
          </p:cNvCxnSpPr>
          <p:nvPr/>
        </p:nvCxnSpPr>
        <p:spPr>
          <a:xfrm flipH="1" rot="10800000">
            <a:off x="2714625" y="3200425"/>
            <a:ext cx="733500" cy="347700"/>
          </a:xfrm>
          <a:prstGeom prst="bentConnector3">
            <a:avLst>
              <a:gd fmla="val 49995" name="adj1"/>
            </a:avLst>
          </a:prstGeom>
          <a:noFill/>
          <a:ln cap="flat" cmpd="sng" w="19050">
            <a:solidFill>
              <a:schemeClr val="dk1"/>
            </a:solidFill>
            <a:prstDash val="dash"/>
            <a:round/>
            <a:headEnd len="med" w="med" type="none"/>
            <a:tailEnd len="med" w="med" type="none"/>
          </a:ln>
        </p:spPr>
      </p:cxnSp>
      <p:cxnSp>
        <p:nvCxnSpPr>
          <p:cNvPr id="243" name="Google Shape;243;p20"/>
          <p:cNvCxnSpPr>
            <a:stCxn id="213" idx="3"/>
            <a:endCxn id="225" idx="1"/>
          </p:cNvCxnSpPr>
          <p:nvPr/>
        </p:nvCxnSpPr>
        <p:spPr>
          <a:xfrm>
            <a:off x="5696050" y="3195600"/>
            <a:ext cx="828600" cy="42900"/>
          </a:xfrm>
          <a:prstGeom prst="straightConnector1">
            <a:avLst/>
          </a:prstGeom>
          <a:noFill/>
          <a:ln cap="flat" cmpd="sng" w="19050">
            <a:solidFill>
              <a:schemeClr val="dk1"/>
            </a:solidFill>
            <a:prstDash val="dash"/>
            <a:round/>
            <a:headEnd len="med" w="med" type="none"/>
            <a:tailEnd len="med" w="med" type="none"/>
          </a:ln>
        </p:spPr>
      </p:cxnSp>
      <p:cxnSp>
        <p:nvCxnSpPr>
          <p:cNvPr id="244" name="Google Shape;244;p20"/>
          <p:cNvCxnSpPr>
            <a:stCxn id="215" idx="2"/>
            <a:endCxn id="217" idx="0"/>
          </p:cNvCxnSpPr>
          <p:nvPr/>
        </p:nvCxnSpPr>
        <p:spPr>
          <a:xfrm>
            <a:off x="4554300" y="3267000"/>
            <a:ext cx="17700" cy="304800"/>
          </a:xfrm>
          <a:prstGeom prst="straightConnector1">
            <a:avLst/>
          </a:prstGeom>
          <a:noFill/>
          <a:ln cap="flat" cmpd="sng" w="19050">
            <a:solidFill>
              <a:schemeClr val="dk2"/>
            </a:solidFill>
            <a:prstDash val="dash"/>
            <a:round/>
            <a:headEnd len="med" w="med" type="none"/>
            <a:tailEnd len="med" w="med" type="none"/>
          </a:ln>
        </p:spPr>
      </p:cxnSp>
      <p:cxnSp>
        <p:nvCxnSpPr>
          <p:cNvPr id="245" name="Google Shape;245;p20"/>
          <p:cNvCxnSpPr>
            <a:stCxn id="211" idx="3"/>
            <a:endCxn id="215" idx="1"/>
          </p:cNvCxnSpPr>
          <p:nvPr/>
        </p:nvCxnSpPr>
        <p:spPr>
          <a:xfrm flipH="1" rot="10800000">
            <a:off x="4410150" y="3195675"/>
            <a:ext cx="75900" cy="4800"/>
          </a:xfrm>
          <a:prstGeom prst="straightConnector1">
            <a:avLst/>
          </a:prstGeom>
          <a:noFill/>
          <a:ln cap="flat" cmpd="sng" w="19050">
            <a:solidFill>
              <a:schemeClr val="dk2"/>
            </a:solidFill>
            <a:prstDash val="solid"/>
            <a:round/>
            <a:headEnd len="med" w="med" type="none"/>
            <a:tailEnd len="med" w="med" type="none"/>
          </a:ln>
        </p:spPr>
      </p:cxnSp>
      <p:cxnSp>
        <p:nvCxnSpPr>
          <p:cNvPr id="246" name="Google Shape;246;p20"/>
          <p:cNvCxnSpPr>
            <a:stCxn id="213" idx="1"/>
            <a:endCxn id="215" idx="3"/>
          </p:cNvCxnSpPr>
          <p:nvPr/>
        </p:nvCxnSpPr>
        <p:spPr>
          <a:xfrm rot="10800000">
            <a:off x="4622650" y="3195600"/>
            <a:ext cx="111300" cy="0"/>
          </a:xfrm>
          <a:prstGeom prst="straightConnector1">
            <a:avLst/>
          </a:prstGeom>
          <a:noFill/>
          <a:ln cap="flat" cmpd="sng" w="19050">
            <a:solidFill>
              <a:schemeClr val="dk2"/>
            </a:solidFill>
            <a:prstDash val="solid"/>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1"/>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52" name="Google Shape;252;p21"/>
          <p:cNvPicPr preferRelativeResize="0"/>
          <p:nvPr/>
        </p:nvPicPr>
        <p:blipFill rotWithShape="1">
          <a:blip r:embed="rId3">
            <a:alphaModFix/>
          </a:blip>
          <a:srcRect b="0" l="0" r="0" t="0"/>
          <a:stretch/>
        </p:blipFill>
        <p:spPr>
          <a:xfrm>
            <a:off x="4763" y="4763"/>
            <a:ext cx="8791500" cy="4981500"/>
          </a:xfrm>
          <a:prstGeom prst="rect">
            <a:avLst/>
          </a:prstGeom>
          <a:noFill/>
          <a:ln>
            <a:noFill/>
          </a:ln>
        </p:spPr>
      </p:pic>
      <p:sp>
        <p:nvSpPr>
          <p:cNvPr id="253" name="Google Shape;253;p21"/>
          <p:cNvSpPr/>
          <p:nvPr/>
        </p:nvSpPr>
        <p:spPr>
          <a:xfrm>
            <a:off x="381000" y="952500"/>
            <a:ext cx="8382000" cy="96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4" name="Google Shape;254;p21"/>
          <p:cNvSpPr txBox="1"/>
          <p:nvPr/>
        </p:nvSpPr>
        <p:spPr>
          <a:xfrm>
            <a:off x="381000" y="285750"/>
            <a:ext cx="6286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2000">
                <a:solidFill>
                  <a:srgbClr val="1A1A1A"/>
                </a:solidFill>
                <a:latin typeface="Inter"/>
                <a:ea typeface="Inter"/>
                <a:cs typeface="Inter"/>
                <a:sym typeface="Inter"/>
              </a:rPr>
              <a:t>Faster CI as a Systems Test Bench</a:t>
            </a:r>
            <a:endParaRPr b="1" sz="2000">
              <a:solidFill>
                <a:srgbClr val="1A1A1A"/>
              </a:solidFill>
              <a:latin typeface="Inter"/>
              <a:ea typeface="Inter"/>
              <a:cs typeface="Inter"/>
              <a:sym typeface="Inter"/>
            </a:endParaRPr>
          </a:p>
          <a:p>
            <a:pPr indent="0" lvl="0" marL="0" rtl="0" algn="l">
              <a:spcBef>
                <a:spcPts val="300"/>
              </a:spcBef>
              <a:spcAft>
                <a:spcPts val="0"/>
              </a:spcAft>
              <a:buNone/>
            </a:pPr>
            <a:r>
              <a:rPr b="0" lang="en" sz="1200">
                <a:solidFill>
                  <a:schemeClr val="dk1"/>
                </a:solidFill>
                <a:latin typeface="Inter Medium"/>
                <a:ea typeface="Inter Medium"/>
                <a:cs typeface="Inter Medium"/>
                <a:sym typeface="Inter Medium"/>
              </a:rPr>
              <a:t>What does native execution speed buy us?</a:t>
            </a:r>
            <a:endParaRPr b="0" sz="1200">
              <a:solidFill>
                <a:schemeClr val="dk1"/>
              </a:solidFill>
              <a:latin typeface="Inter Medium"/>
              <a:ea typeface="Inter Medium"/>
              <a:cs typeface="Inter Medium"/>
              <a:sym typeface="Inter Medium"/>
            </a:endParaRPr>
          </a:p>
        </p:txBody>
      </p:sp>
      <p:grpSp>
        <p:nvGrpSpPr>
          <p:cNvPr id="255" name="Google Shape;255;p21"/>
          <p:cNvGrpSpPr/>
          <p:nvPr/>
        </p:nvGrpSpPr>
        <p:grpSpPr>
          <a:xfrm>
            <a:off x="381000" y="1238250"/>
            <a:ext cx="3810000" cy="3429000"/>
            <a:chOff x="0" y="0"/>
            <a:chExt cx="3810000" cy="3429000"/>
          </a:xfrm>
        </p:grpSpPr>
        <p:sp>
          <p:nvSpPr>
            <p:cNvPr id="256" name="Google Shape;256;p21"/>
            <p:cNvSpPr/>
            <p:nvPr/>
          </p:nvSpPr>
          <p:spPr>
            <a:xfrm>
              <a:off x="0" y="0"/>
              <a:ext cx="3810000" cy="3429000"/>
            </a:xfrm>
            <a:prstGeom prst="roundRect">
              <a:avLst>
                <a:gd fmla="val 2222" name="adj"/>
              </a:avLst>
            </a:prstGeom>
            <a:solidFill>
              <a:srgbClr val="F1F5F9"/>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7" name="Google Shape;257;p21"/>
            <p:cNvSpPr/>
            <p:nvPr/>
          </p:nvSpPr>
          <p:spPr>
            <a:xfrm>
              <a:off x="0" y="0"/>
              <a:ext cx="76200" cy="3429000"/>
            </a:xfrm>
            <a:prstGeom prst="roundRect">
              <a:avLst>
                <a:gd fmla="val 50000" name="adj"/>
              </a:avLst>
            </a:pr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solidFill>
                  <a:schemeClr val="dk1"/>
                </a:solidFill>
              </a:endParaRPr>
            </a:p>
          </p:txBody>
        </p:sp>
        <p:sp>
          <p:nvSpPr>
            <p:cNvPr id="258" name="Google Shape;258;p21"/>
            <p:cNvSpPr txBox="1"/>
            <p:nvPr/>
          </p:nvSpPr>
          <p:spPr>
            <a:xfrm>
              <a:off x="304800" y="285750"/>
              <a:ext cx="3238500" cy="2857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100">
                  <a:solidFill>
                    <a:schemeClr val="dk1"/>
                  </a:solidFill>
                  <a:latin typeface="Inter"/>
                  <a:ea typeface="Inter"/>
                  <a:cs typeface="Inter"/>
                  <a:sym typeface="Inter"/>
                </a:rPr>
                <a:t>Key Implication</a:t>
              </a:r>
              <a:endParaRPr b="1" sz="1100">
                <a:solidFill>
                  <a:schemeClr val="dk1"/>
                </a:solidFill>
                <a:latin typeface="Inter"/>
                <a:ea typeface="Inter"/>
                <a:cs typeface="Inter"/>
                <a:sym typeface="Inter"/>
              </a:endParaRPr>
            </a:p>
            <a:p>
              <a:pPr indent="0" lvl="0" marL="0" rtl="0" algn="l">
                <a:spcBef>
                  <a:spcPts val="900"/>
                </a:spcBef>
                <a:spcAft>
                  <a:spcPts val="0"/>
                </a:spcAft>
                <a:buNone/>
              </a:pPr>
              <a:r>
                <a:rPr b="1" lang="en" sz="2400">
                  <a:solidFill>
                    <a:srgbClr val="1A1A1A"/>
                  </a:solidFill>
                  <a:latin typeface="Inter"/>
                  <a:ea typeface="Inter"/>
                  <a:cs typeface="Inter"/>
                  <a:sym typeface="Inter"/>
                </a:rPr>
                <a:t>Continuous Integration as a Systems Test Bench</a:t>
              </a:r>
              <a:endParaRPr b="1" sz="2400">
                <a:solidFill>
                  <a:srgbClr val="1A1A1A"/>
                </a:solidFill>
                <a:latin typeface="Inter"/>
                <a:ea typeface="Inter"/>
                <a:cs typeface="Inter"/>
                <a:sym typeface="Inter"/>
              </a:endParaRPr>
            </a:p>
            <a:p>
              <a:pPr indent="0" lvl="0" marL="0" rtl="0" algn="l">
                <a:spcBef>
                  <a:spcPts val="1200"/>
                </a:spcBef>
                <a:spcAft>
                  <a:spcPts val="0"/>
                </a:spcAft>
                <a:buNone/>
              </a:pPr>
              <a:r>
                <a:rPr b="0" lang="en" sz="1150">
                  <a:solidFill>
                    <a:srgbClr val="5F6368"/>
                  </a:solidFill>
                  <a:latin typeface="Inter"/>
                  <a:ea typeface="Inter"/>
                  <a:cs typeface="Inter"/>
                  <a:sym typeface="Inter"/>
                </a:rPr>
                <a:t>Native execution speed enables CI to finally function as a true validation environment, allowing comprehensive firmware testing far ahead of hardware availability.</a:t>
              </a:r>
              <a:endParaRPr b="0" sz="1150">
                <a:solidFill>
                  <a:srgbClr val="5F6368"/>
                </a:solidFill>
                <a:latin typeface="Inter"/>
                <a:ea typeface="Inter"/>
                <a:cs typeface="Inter"/>
                <a:sym typeface="Inter"/>
              </a:endParaRPr>
            </a:p>
          </p:txBody>
        </p:sp>
      </p:grpSp>
      <p:sp>
        <p:nvSpPr>
          <p:cNvPr id="259" name="Google Shape;259;p21"/>
          <p:cNvSpPr txBox="1"/>
          <p:nvPr/>
        </p:nvSpPr>
        <p:spPr>
          <a:xfrm>
            <a:off x="4572000" y="1238250"/>
            <a:ext cx="4191000" cy="3429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a:solidFill>
                  <a:srgbClr val="1A1A1A"/>
                </a:solidFill>
                <a:latin typeface="Inter SemiBold"/>
                <a:ea typeface="Inter SemiBold"/>
                <a:cs typeface="Inter SemiBold"/>
                <a:sym typeface="Inter SemiBold"/>
              </a:rPr>
              <a:t>Shifting the Testing Paradigm</a:t>
            </a:r>
            <a:endParaRPr b="0" sz="1400">
              <a:solidFill>
                <a:srgbClr val="1A1A1A"/>
              </a:solidFill>
              <a:latin typeface="Inter SemiBold"/>
              <a:ea typeface="Inter SemiBold"/>
              <a:cs typeface="Inter SemiBold"/>
              <a:sym typeface="Inter SemiBold"/>
            </a:endParaRPr>
          </a:p>
          <a:p>
            <a:pPr indent="0" lvl="0" marL="0" rtl="0" algn="l">
              <a:spcBef>
                <a:spcPts val="600"/>
              </a:spcBef>
              <a:spcAft>
                <a:spcPts val="0"/>
              </a:spcAft>
              <a:buNone/>
            </a:pPr>
            <a:r>
              <a:rPr b="0" lang="en" sz="1150">
                <a:solidFill>
                  <a:srgbClr val="5F6368"/>
                </a:solidFill>
                <a:latin typeface="Inter"/>
                <a:ea typeface="Inter"/>
                <a:cs typeface="Inter"/>
                <a:sym typeface="Inter"/>
              </a:rPr>
              <a:t>The traditional pipeline of </a:t>
            </a:r>
            <a:r>
              <a:rPr b="0" lang="en" sz="1150">
                <a:solidFill>
                  <a:schemeClr val="dk1"/>
                </a:solidFill>
                <a:latin typeface="Inter SemiBold"/>
                <a:ea typeface="Inter SemiBold"/>
                <a:cs typeface="Inter SemiBold"/>
                <a:sym typeface="Inter SemiBold"/>
              </a:rPr>
              <a:t>commit → build → simulate</a:t>
            </a:r>
            <a:r>
              <a:rPr b="0" lang="en" sz="1150">
                <a:solidFill>
                  <a:srgbClr val="5F6368"/>
                </a:solidFill>
                <a:latin typeface="Inter"/>
                <a:ea typeface="Inter"/>
                <a:cs typeface="Inter"/>
                <a:sym typeface="Inter"/>
              </a:rPr>
              <a:t> can now execute complex multi-MCU scenarios at speeds far exceeding realtime. Because simulation is cheap and fast, test design fundamentally changes. Teams can run weird race conditions, reboot storms, packet loss scenarios, and simulated plant faults before physical hardware exists.</a:t>
            </a:r>
            <a:endParaRPr b="0" sz="1150">
              <a:solidFill>
                <a:srgbClr val="5F6368"/>
              </a:solidFill>
              <a:latin typeface="Inter"/>
              <a:ea typeface="Inter"/>
              <a:cs typeface="Inter"/>
              <a:sym typeface="Inter"/>
            </a:endParaRPr>
          </a:p>
          <a:p>
            <a:pPr indent="0" lvl="0" marL="0" rtl="0" algn="l">
              <a:spcBef>
                <a:spcPts val="1200"/>
              </a:spcBef>
              <a:spcAft>
                <a:spcPts val="0"/>
              </a:spcAft>
              <a:buNone/>
            </a:pPr>
            <a:r>
              <a:rPr b="0" lang="en" sz="1400">
                <a:solidFill>
                  <a:srgbClr val="1A1A1A"/>
                </a:solidFill>
                <a:latin typeface="Inter SemiBold"/>
                <a:ea typeface="Inter SemiBold"/>
                <a:cs typeface="Inter SemiBold"/>
                <a:sym typeface="Inter SemiBold"/>
              </a:rPr>
              <a:t>Automated Strict Merge Gates</a:t>
            </a:r>
            <a:endParaRPr b="0" sz="1400">
              <a:solidFill>
                <a:srgbClr val="1A1A1A"/>
              </a:solidFill>
              <a:latin typeface="Inter SemiBold"/>
              <a:ea typeface="Inter SemiBold"/>
              <a:cs typeface="Inter SemiBold"/>
              <a:sym typeface="Inter SemiBold"/>
            </a:endParaRPr>
          </a:p>
          <a:p>
            <a:pPr indent="0" lvl="0" marL="0" rtl="0" algn="l">
              <a:spcBef>
                <a:spcPts val="600"/>
              </a:spcBef>
              <a:spcAft>
                <a:spcPts val="0"/>
              </a:spcAft>
              <a:buNone/>
            </a:pPr>
            <a:r>
              <a:rPr b="0" lang="en" sz="1150">
                <a:solidFill>
                  <a:srgbClr val="5F6368"/>
                </a:solidFill>
                <a:latin typeface="Inter"/>
                <a:ea typeface="Inter"/>
                <a:cs typeface="Inter"/>
                <a:sym typeface="Inter"/>
              </a:rPr>
              <a:t>Every GitHub Pull Request can generate a machine-readable golden trace. This trace is diffed against expected outcomes to serve as a strict merge gate.</a:t>
            </a:r>
            <a:endParaRPr b="0" sz="1150">
              <a:solidFill>
                <a:srgbClr val="5F6368"/>
              </a:solidFill>
              <a:latin typeface="Inter"/>
              <a:ea typeface="Inter"/>
              <a:cs typeface="Inter"/>
              <a:sym typeface="Inter"/>
            </a:endParaRPr>
          </a:p>
          <a:p>
            <a:pPr indent="0" lvl="0" marL="0" rtl="0" algn="l">
              <a:spcBef>
                <a:spcPts val="1200"/>
              </a:spcBef>
              <a:spcAft>
                <a:spcPts val="0"/>
              </a:spcAft>
              <a:buNone/>
            </a:pPr>
            <a:r>
              <a:rPr b="0" i="1" lang="en" sz="1100">
                <a:solidFill>
                  <a:srgbClr val="1A1A1A"/>
                </a:solidFill>
                <a:highlight>
                  <a:srgbClr val="F8F9FA"/>
                </a:highlight>
                <a:latin typeface="Inter"/>
                <a:ea typeface="Inter"/>
                <a:cs typeface="Inter"/>
                <a:sym typeface="Inter"/>
              </a:rPr>
              <a:t>The resulting artifact is not a fragile screenshot or a manual log—it is a fully replayable trace that automatically fails a pull request if system behavior regressions are detected.</a:t>
            </a:r>
            <a:endParaRPr b="0" i="1" sz="1100">
              <a:solidFill>
                <a:srgbClr val="1A1A1A"/>
              </a:solidFill>
              <a:highlight>
                <a:srgbClr val="F8F9FA"/>
              </a:highlight>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2"/>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65" name="Google Shape;265;p22"/>
          <p:cNvPicPr preferRelativeResize="0"/>
          <p:nvPr/>
        </p:nvPicPr>
        <p:blipFill rotWithShape="1">
          <a:blip r:embed="rId3">
            <a:alphaModFix/>
          </a:blip>
          <a:srcRect b="0" l="0" r="0" t="0"/>
          <a:stretch/>
        </p:blipFill>
        <p:spPr>
          <a:xfrm>
            <a:off x="9525" y="9525"/>
            <a:ext cx="8782200" cy="4972200"/>
          </a:xfrm>
          <a:prstGeom prst="rect">
            <a:avLst/>
          </a:prstGeom>
          <a:noFill/>
          <a:ln>
            <a:noFill/>
          </a:ln>
        </p:spPr>
      </p:pic>
      <p:sp>
        <p:nvSpPr>
          <p:cNvPr id="266" name="Google Shape;266;p22"/>
          <p:cNvSpPr/>
          <p:nvPr/>
        </p:nvSpPr>
        <p:spPr>
          <a:xfrm>
            <a:off x="381000" y="952500"/>
            <a:ext cx="8382000" cy="96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7" name="Google Shape;267;p22"/>
          <p:cNvSpPr txBox="1"/>
          <p:nvPr/>
        </p:nvSpPr>
        <p:spPr>
          <a:xfrm>
            <a:off x="381000" y="304800"/>
            <a:ext cx="6858000" cy="571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 sz="1860">
                <a:solidFill>
                  <a:srgbClr val="1A1A1A"/>
                </a:solidFill>
                <a:latin typeface="Inter"/>
                <a:ea typeface="Inter"/>
                <a:cs typeface="Inter"/>
                <a:sym typeface="Inter"/>
              </a:rPr>
              <a:t>Implication 2: Realtime Digital-Twin &amp; Run-Ahead Testing</a:t>
            </a:r>
            <a:endParaRPr b="1" sz="1860">
              <a:solidFill>
                <a:srgbClr val="1A1A1A"/>
              </a:solidFill>
              <a:latin typeface="Inter"/>
              <a:ea typeface="Inter"/>
              <a:cs typeface="Inter"/>
              <a:sym typeface="Inter"/>
            </a:endParaRPr>
          </a:p>
        </p:txBody>
      </p:sp>
      <p:sp>
        <p:nvSpPr>
          <p:cNvPr id="268" name="Google Shape;268;p22"/>
          <p:cNvSpPr txBox="1"/>
          <p:nvPr/>
        </p:nvSpPr>
        <p:spPr>
          <a:xfrm>
            <a:off x="381000" y="1066800"/>
            <a:ext cx="83820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063">
                <a:solidFill>
                  <a:srgbClr val="1A1A1A"/>
                </a:solidFill>
                <a:latin typeface="Inter Medium"/>
                <a:ea typeface="Inter Medium"/>
                <a:cs typeface="Inter Medium"/>
                <a:sym typeface="Inter Medium"/>
              </a:rPr>
              <a:t>The second implication of host-native execution is the capability to build highly responsive digital twins of embedded hardware fleets.</a:t>
            </a:r>
            <a:endParaRPr b="0" sz="1063">
              <a:solidFill>
                <a:srgbClr val="1A1A1A"/>
              </a:solidFill>
              <a:latin typeface="Inter Medium"/>
              <a:ea typeface="Inter Medium"/>
              <a:cs typeface="Inter Medium"/>
              <a:sym typeface="Inter Medium"/>
            </a:endParaRPr>
          </a:p>
          <a:p>
            <a:pPr indent="0" lvl="0" marL="0" rtl="0" algn="l">
              <a:spcBef>
                <a:spcPts val="300"/>
              </a:spcBef>
              <a:spcAft>
                <a:spcPts val="0"/>
              </a:spcAft>
              <a:buNone/>
            </a:pPr>
            <a:r>
              <a:rPr b="0" lang="en" sz="935">
                <a:solidFill>
                  <a:srgbClr val="5F6368"/>
                </a:solidFill>
                <a:latin typeface="Inter"/>
                <a:ea typeface="Inter"/>
                <a:cs typeface="Inter"/>
                <a:sym typeface="Inter"/>
              </a:rPr>
              <a:t>If the simulation is significantly faster than realtime, you gain the strategic choice of how to spend that computational surplus:</a:t>
            </a:r>
            <a:endParaRPr b="0" sz="935">
              <a:solidFill>
                <a:srgbClr val="5F6368"/>
              </a:solidFill>
              <a:latin typeface="Inter"/>
              <a:ea typeface="Inter"/>
              <a:cs typeface="Inter"/>
              <a:sym typeface="Inter"/>
            </a:endParaRPr>
          </a:p>
        </p:txBody>
      </p:sp>
      <p:grpSp>
        <p:nvGrpSpPr>
          <p:cNvPr id="269" name="Google Shape;269;p22"/>
          <p:cNvGrpSpPr/>
          <p:nvPr/>
        </p:nvGrpSpPr>
        <p:grpSpPr>
          <a:xfrm>
            <a:off x="381000" y="1666875"/>
            <a:ext cx="4000500" cy="2381400"/>
            <a:chOff x="381000" y="1666875"/>
            <a:chExt cx="4000500" cy="2381400"/>
          </a:xfrm>
        </p:grpSpPr>
        <p:sp>
          <p:nvSpPr>
            <p:cNvPr id="270" name="Google Shape;270;p22"/>
            <p:cNvSpPr/>
            <p:nvPr/>
          </p:nvSpPr>
          <p:spPr>
            <a:xfrm>
              <a:off x="381000" y="1666875"/>
              <a:ext cx="4000500" cy="2381400"/>
            </a:xfrm>
            <a:prstGeom prst="roundRect">
              <a:avLst>
                <a:gd fmla="val 3200" name="adj"/>
              </a:avLst>
            </a:prstGeom>
            <a:solidFill>
              <a:srgbClr val="F8F9FA"/>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1" name="Google Shape;271;p22"/>
            <p:cNvSpPr/>
            <p:nvPr/>
          </p:nvSpPr>
          <p:spPr>
            <a:xfrm>
              <a:off x="381000" y="1666875"/>
              <a:ext cx="4000500" cy="57300"/>
            </a:xfrm>
            <a:prstGeom prst="roundRect">
              <a:avLst>
                <a:gd fmla="val 50000" name="adj"/>
              </a:avLst>
            </a:pr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72" name="Google Shape;272;p22"/>
            <p:cNvGrpSpPr/>
            <p:nvPr/>
          </p:nvGrpSpPr>
          <p:grpSpPr>
            <a:xfrm>
              <a:off x="3924300" y="1847850"/>
              <a:ext cx="266700" cy="266700"/>
              <a:chOff x="19050" y="19050"/>
              <a:chExt cx="266700" cy="266700"/>
            </a:xfrm>
          </p:grpSpPr>
          <p:sp>
            <p:nvSpPr>
              <p:cNvPr id="273" name="Google Shape;273;p22"/>
              <p:cNvSpPr/>
              <p:nvPr/>
            </p:nvSpPr>
            <p:spPr>
              <a:xfrm>
                <a:off x="57150" y="57150"/>
                <a:ext cx="190500" cy="190500"/>
              </a:xfrm>
              <a:prstGeom prst="roundRect">
                <a:avLst>
                  <a:gd fmla="val 10000" name="adj"/>
                </a:avLst>
              </a:prstGeom>
              <a:solidFill>
                <a:srgbClr val="000000">
                  <a:alpha val="0"/>
                </a:srgbClr>
              </a:solidFill>
              <a:ln cap="flat" cmpd="sng" w="1905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4" name="Google Shape;274;p22"/>
              <p:cNvSpPr/>
              <p:nvPr/>
            </p:nvSpPr>
            <p:spPr>
              <a:xfrm>
                <a:off x="19050" y="19050"/>
                <a:ext cx="266700" cy="266700"/>
              </a:xfrm>
              <a:custGeom>
                <a:rect b="b" l="l" r="r" t="t"/>
                <a:pathLst>
                  <a:path extrusionOk="0" fill="none" h="120000" w="120000">
                    <a:moveTo>
                      <a:pt x="17143" y="34286"/>
                    </a:moveTo>
                    <a:lnTo>
                      <a:pt x="0" y="34286"/>
                    </a:lnTo>
                    <a:moveTo>
                      <a:pt x="17143" y="60000"/>
                    </a:moveTo>
                    <a:lnTo>
                      <a:pt x="0" y="60000"/>
                    </a:lnTo>
                    <a:moveTo>
                      <a:pt x="17143" y="85714"/>
                    </a:moveTo>
                    <a:lnTo>
                      <a:pt x="0" y="85714"/>
                    </a:lnTo>
                    <a:moveTo>
                      <a:pt x="102857" y="34286"/>
                    </a:moveTo>
                    <a:lnTo>
                      <a:pt x="120000" y="34286"/>
                    </a:lnTo>
                    <a:moveTo>
                      <a:pt x="102857" y="60000"/>
                    </a:moveTo>
                    <a:lnTo>
                      <a:pt x="120000" y="60000"/>
                    </a:lnTo>
                    <a:moveTo>
                      <a:pt x="102857" y="85714"/>
                    </a:moveTo>
                    <a:lnTo>
                      <a:pt x="120000" y="85714"/>
                    </a:lnTo>
                    <a:moveTo>
                      <a:pt x="34286" y="17143"/>
                    </a:moveTo>
                    <a:lnTo>
                      <a:pt x="34286" y="0"/>
                    </a:lnTo>
                    <a:moveTo>
                      <a:pt x="60000" y="17143"/>
                    </a:moveTo>
                    <a:lnTo>
                      <a:pt x="60000" y="0"/>
                    </a:lnTo>
                    <a:moveTo>
                      <a:pt x="85714" y="17143"/>
                    </a:moveTo>
                    <a:lnTo>
                      <a:pt x="85714" y="0"/>
                    </a:lnTo>
                    <a:moveTo>
                      <a:pt x="34286" y="102857"/>
                    </a:moveTo>
                    <a:lnTo>
                      <a:pt x="34286" y="120000"/>
                    </a:lnTo>
                    <a:moveTo>
                      <a:pt x="60000" y="102857"/>
                    </a:moveTo>
                    <a:lnTo>
                      <a:pt x="60000" y="120000"/>
                    </a:lnTo>
                    <a:moveTo>
                      <a:pt x="85714" y="102857"/>
                    </a:moveTo>
                    <a:lnTo>
                      <a:pt x="85714" y="120000"/>
                    </a:lnTo>
                  </a:path>
                </a:pathLst>
              </a:custGeom>
              <a:solidFill>
                <a:srgbClr val="FFFFFF"/>
              </a:solidFill>
              <a:ln cap="rnd" cmpd="sng" w="1905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75" name="Google Shape;275;p22"/>
            <p:cNvSpPr txBox="1"/>
            <p:nvPr/>
          </p:nvSpPr>
          <p:spPr>
            <a:xfrm>
              <a:off x="571500" y="1857375"/>
              <a:ext cx="3238500" cy="2047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500">
                  <a:solidFill>
                    <a:schemeClr val="dk1"/>
                  </a:solidFill>
                  <a:latin typeface="Inter"/>
                  <a:ea typeface="Inter"/>
                  <a:cs typeface="Inter"/>
                  <a:sym typeface="Inter"/>
                </a:rPr>
                <a:t>Run-Ahead Strategy</a:t>
              </a:r>
              <a:endParaRPr b="1" sz="1500">
                <a:solidFill>
                  <a:schemeClr val="dk1"/>
                </a:solidFill>
                <a:latin typeface="Inter"/>
                <a:ea typeface="Inter"/>
                <a:cs typeface="Inter"/>
                <a:sym typeface="Inter"/>
              </a:endParaRPr>
            </a:p>
            <a:p>
              <a:pPr indent="0" lvl="0" marL="0" rtl="0" algn="l">
                <a:spcBef>
                  <a:spcPts val="900"/>
                </a:spcBef>
                <a:spcAft>
                  <a:spcPts val="0"/>
                </a:spcAft>
                <a:buNone/>
              </a:pPr>
              <a:r>
                <a:rPr b="1" lang="en" sz="1150">
                  <a:solidFill>
                    <a:schemeClr val="dk1"/>
                  </a:solidFill>
                  <a:latin typeface="Inter"/>
                  <a:ea typeface="Inter"/>
                  <a:cs typeface="Inter"/>
                  <a:sym typeface="Inter"/>
                </a:rPr>
                <a:t>Run Ahead:</a:t>
              </a:r>
              <a:r>
                <a:rPr b="0" lang="en" sz="1150">
                  <a:solidFill>
                    <a:srgbClr val="1A1A1A"/>
                  </a:solidFill>
                  <a:latin typeface="Inter"/>
                  <a:ea typeface="Inter"/>
                  <a:cs typeface="Inter"/>
                  <a:sym typeface="Inter"/>
                </a:rPr>
                <a:t> Simulate hours of system execution in seconds to find potential failures, race conditions, or battery drainage curves before they happen in physical deployments.</a:t>
              </a:r>
              <a:endParaRPr b="0" sz="1150">
                <a:solidFill>
                  <a:srgbClr val="1A1A1A"/>
                </a:solidFill>
                <a:latin typeface="Inter"/>
                <a:ea typeface="Inter"/>
                <a:cs typeface="Inter"/>
                <a:sym typeface="Inter"/>
              </a:endParaRPr>
            </a:p>
          </p:txBody>
        </p:sp>
      </p:grpSp>
      <p:grpSp>
        <p:nvGrpSpPr>
          <p:cNvPr id="276" name="Google Shape;276;p22"/>
          <p:cNvGrpSpPr/>
          <p:nvPr/>
        </p:nvGrpSpPr>
        <p:grpSpPr>
          <a:xfrm>
            <a:off x="4762500" y="1666875"/>
            <a:ext cx="4000500" cy="2381400"/>
            <a:chOff x="4762500" y="1666875"/>
            <a:chExt cx="4000500" cy="2381400"/>
          </a:xfrm>
        </p:grpSpPr>
        <p:sp>
          <p:nvSpPr>
            <p:cNvPr id="277" name="Google Shape;277;p22"/>
            <p:cNvSpPr/>
            <p:nvPr/>
          </p:nvSpPr>
          <p:spPr>
            <a:xfrm>
              <a:off x="4762500" y="1666875"/>
              <a:ext cx="4000500" cy="2381400"/>
            </a:xfrm>
            <a:prstGeom prst="roundRect">
              <a:avLst>
                <a:gd fmla="val 3200" name="adj"/>
              </a:avLst>
            </a:prstGeom>
            <a:solidFill>
              <a:srgbClr val="F8F9FA"/>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8" name="Google Shape;278;p22"/>
            <p:cNvSpPr/>
            <p:nvPr/>
          </p:nvSpPr>
          <p:spPr>
            <a:xfrm>
              <a:off x="4762500" y="1666875"/>
              <a:ext cx="4000500" cy="57300"/>
            </a:xfrm>
            <a:prstGeom prst="roundRect">
              <a:avLst>
                <a:gd fmla="val 50000" name="adj"/>
              </a:avLst>
            </a:pr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solidFill>
                  <a:schemeClr val="dk1"/>
                </a:solidFill>
              </a:endParaRPr>
            </a:p>
          </p:txBody>
        </p:sp>
        <p:grpSp>
          <p:nvGrpSpPr>
            <p:cNvPr id="279" name="Google Shape;279;p22"/>
            <p:cNvGrpSpPr/>
            <p:nvPr/>
          </p:nvGrpSpPr>
          <p:grpSpPr>
            <a:xfrm>
              <a:off x="8305800" y="1847850"/>
              <a:ext cx="266700" cy="247650"/>
              <a:chOff x="19050" y="19050"/>
              <a:chExt cx="266700" cy="247650"/>
            </a:xfrm>
          </p:grpSpPr>
          <p:sp>
            <p:nvSpPr>
              <p:cNvPr id="280" name="Google Shape;280;p22"/>
              <p:cNvSpPr/>
              <p:nvPr/>
            </p:nvSpPr>
            <p:spPr>
              <a:xfrm>
                <a:off x="114300" y="19050"/>
                <a:ext cx="76200" cy="76200"/>
              </a:xfrm>
              <a:prstGeom prst="ellipse">
                <a:avLst/>
              </a:prstGeom>
              <a:solidFill>
                <a:srgbClr val="000000">
                  <a:alpha val="0"/>
                </a:srgbClr>
              </a:solidFill>
              <a:ln cap="flat" cmpd="sng" w="1905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1" name="Google Shape;281;p22"/>
              <p:cNvSpPr/>
              <p:nvPr/>
            </p:nvSpPr>
            <p:spPr>
              <a:xfrm>
                <a:off x="19050" y="190500"/>
                <a:ext cx="76200" cy="76200"/>
              </a:xfrm>
              <a:prstGeom prst="ellipse">
                <a:avLst/>
              </a:prstGeom>
              <a:solidFill>
                <a:srgbClr val="000000">
                  <a:alpha val="0"/>
                </a:srgbClr>
              </a:solidFill>
              <a:ln cap="flat" cmpd="sng" w="1905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2" name="Google Shape;282;p22"/>
              <p:cNvSpPr/>
              <p:nvPr/>
            </p:nvSpPr>
            <p:spPr>
              <a:xfrm>
                <a:off x="209550" y="190500"/>
                <a:ext cx="76200" cy="76200"/>
              </a:xfrm>
              <a:prstGeom prst="ellipse">
                <a:avLst/>
              </a:prstGeom>
              <a:solidFill>
                <a:srgbClr val="000000">
                  <a:alpha val="0"/>
                </a:srgbClr>
              </a:solidFill>
              <a:ln cap="flat" cmpd="sng" w="1905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3" name="Google Shape;283;p22"/>
              <p:cNvSpPr/>
              <p:nvPr/>
            </p:nvSpPr>
            <p:spPr>
              <a:xfrm>
                <a:off x="76200" y="85725"/>
                <a:ext cx="152400" cy="142800"/>
              </a:xfrm>
              <a:custGeom>
                <a:rect b="b" l="l" r="r" t="t"/>
                <a:pathLst>
                  <a:path extrusionOk="0" fill="none" h="120000" w="120000">
                    <a:moveTo>
                      <a:pt x="45000" y="0"/>
                    </a:moveTo>
                    <a:lnTo>
                      <a:pt x="0" y="96000"/>
                    </a:lnTo>
                    <a:moveTo>
                      <a:pt x="75000" y="0"/>
                    </a:moveTo>
                    <a:lnTo>
                      <a:pt x="120000" y="96000"/>
                    </a:lnTo>
                    <a:moveTo>
                      <a:pt x="15000" y="120000"/>
                    </a:moveTo>
                    <a:lnTo>
                      <a:pt x="105000" y="120000"/>
                    </a:lnTo>
                  </a:path>
                </a:pathLst>
              </a:custGeom>
              <a:solidFill>
                <a:srgbClr val="FFFFFF"/>
              </a:solidFill>
              <a:ln cap="rnd" cmpd="sng" w="1905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84" name="Google Shape;284;p22"/>
            <p:cNvSpPr txBox="1"/>
            <p:nvPr/>
          </p:nvSpPr>
          <p:spPr>
            <a:xfrm>
              <a:off x="4953000" y="1857375"/>
              <a:ext cx="3238500" cy="2047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500">
                  <a:solidFill>
                    <a:schemeClr val="dk1"/>
                  </a:solidFill>
                  <a:latin typeface="Inter"/>
                  <a:ea typeface="Inter"/>
                  <a:cs typeface="Inter"/>
                  <a:sym typeface="Inter"/>
                </a:rPr>
                <a:t>Realtime &amp; Replay</a:t>
              </a:r>
              <a:endParaRPr b="1" sz="1500">
                <a:solidFill>
                  <a:schemeClr val="dk1"/>
                </a:solidFill>
                <a:latin typeface="Inter"/>
                <a:ea typeface="Inter"/>
                <a:cs typeface="Inter"/>
                <a:sym typeface="Inter"/>
              </a:endParaRPr>
            </a:p>
            <a:p>
              <a:pPr indent="0" lvl="0" marL="0" rtl="0" algn="l">
                <a:spcBef>
                  <a:spcPts val="900"/>
                </a:spcBef>
                <a:spcAft>
                  <a:spcPts val="0"/>
                </a:spcAft>
                <a:buNone/>
              </a:pPr>
              <a:r>
                <a:rPr b="1" lang="en" sz="1050">
                  <a:solidFill>
                    <a:schemeClr val="dk1"/>
                  </a:solidFill>
                  <a:latin typeface="Inter"/>
                  <a:ea typeface="Inter"/>
                  <a:cs typeface="Inter"/>
                  <a:sym typeface="Inter"/>
                </a:rPr>
                <a:t>Lock to Realtime:</a:t>
              </a:r>
              <a:r>
                <a:rPr b="0" lang="en" sz="1050">
                  <a:solidFill>
                    <a:srgbClr val="1A1A1A"/>
                  </a:solidFill>
                  <a:latin typeface="Inter"/>
                  <a:ea typeface="Inter"/>
                  <a:cs typeface="Inter"/>
                  <a:sym typeface="Inter"/>
                </a:rPr>
                <a:t> Utilize the simulation for live stakeholder demos or Hardware-in-the-Loop (HIL) bridges.</a:t>
              </a:r>
              <a:endParaRPr b="0" sz="1050">
                <a:solidFill>
                  <a:srgbClr val="1A1A1A"/>
                </a:solidFill>
                <a:latin typeface="Inter"/>
                <a:ea typeface="Inter"/>
                <a:cs typeface="Inter"/>
                <a:sym typeface="Inter"/>
              </a:endParaRPr>
            </a:p>
            <a:p>
              <a:pPr indent="0" lvl="0" marL="0" rtl="0" algn="l">
                <a:spcBef>
                  <a:spcPts val="900"/>
                </a:spcBef>
                <a:spcAft>
                  <a:spcPts val="0"/>
                </a:spcAft>
                <a:buNone/>
              </a:pPr>
              <a:r>
                <a:rPr b="1" lang="en" sz="1050">
                  <a:solidFill>
                    <a:schemeClr val="dk1"/>
                  </a:solidFill>
                  <a:latin typeface="Inter"/>
                  <a:ea typeface="Inter"/>
                  <a:cs typeface="Inter"/>
                  <a:sym typeface="Inter"/>
                </a:rPr>
                <a:t>Replay Deterministically:</a:t>
              </a:r>
              <a:r>
                <a:rPr b="0" lang="en" sz="1050">
                  <a:solidFill>
                    <a:srgbClr val="1A1A1A"/>
                  </a:solidFill>
                  <a:latin typeface="Inter"/>
                  <a:ea typeface="Inter"/>
                  <a:cs typeface="Inter"/>
                  <a:sym typeface="Inter"/>
                </a:rPr>
                <a:t> Conduct exhaustive root-cause analysis immediately after a failure occurs.</a:t>
              </a:r>
              <a:endParaRPr b="0" sz="1050">
                <a:solidFill>
                  <a:srgbClr val="1A1A1A"/>
                </a:solidFill>
                <a:latin typeface="Inter"/>
                <a:ea typeface="Inter"/>
                <a:cs typeface="Inter"/>
                <a:sym typeface="Inter"/>
              </a:endParaRPr>
            </a:p>
          </p:txBody>
        </p:sp>
      </p:grpSp>
      <p:grpSp>
        <p:nvGrpSpPr>
          <p:cNvPr id="285" name="Google Shape;285;p22"/>
          <p:cNvGrpSpPr/>
          <p:nvPr/>
        </p:nvGrpSpPr>
        <p:grpSpPr>
          <a:xfrm>
            <a:off x="381000" y="4191000"/>
            <a:ext cx="8382000" cy="714300"/>
            <a:chOff x="381000" y="4191000"/>
            <a:chExt cx="8382000" cy="714300"/>
          </a:xfrm>
        </p:grpSpPr>
        <p:sp>
          <p:nvSpPr>
            <p:cNvPr id="286" name="Google Shape;286;p22"/>
            <p:cNvSpPr/>
            <p:nvPr/>
          </p:nvSpPr>
          <p:spPr>
            <a:xfrm>
              <a:off x="381000" y="4191000"/>
              <a:ext cx="8382000" cy="714300"/>
            </a:xfrm>
            <a:prstGeom prst="roundRect">
              <a:avLst>
                <a:gd fmla="val 8000" name="adj"/>
              </a:avLst>
            </a:prstGeom>
            <a:solidFill>
              <a:srgbClr val="F1F5F9"/>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7" name="Google Shape;287;p22"/>
            <p:cNvSpPr/>
            <p:nvPr/>
          </p:nvSpPr>
          <p:spPr>
            <a:xfrm>
              <a:off x="381000" y="4191000"/>
              <a:ext cx="57300" cy="714300"/>
            </a:xfrm>
            <a:prstGeom prst="roundRect">
              <a:avLst>
                <a:gd fmla="val 50000" name="adj"/>
              </a:avLst>
            </a:pr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8" name="Google Shape;288;p22"/>
            <p:cNvSpPr txBox="1"/>
            <p:nvPr/>
          </p:nvSpPr>
          <p:spPr>
            <a:xfrm>
              <a:off x="619125" y="4238625"/>
              <a:ext cx="8001000" cy="619200"/>
            </a:xfrm>
            <a:prstGeom prst="rect">
              <a:avLst/>
            </a:prstGeom>
            <a:noFill/>
            <a:ln cap="flat" cmpd="sng" w="952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b="1" lang="en" sz="1000">
                  <a:solidFill>
                    <a:schemeClr val="dk1"/>
                  </a:solidFill>
                  <a:latin typeface="Inter"/>
                  <a:ea typeface="Inter"/>
                  <a:cs typeface="Inter"/>
                  <a:sym typeface="Inter"/>
                </a:rPr>
                <a:t>The Critical Fleet Question:</a:t>
              </a:r>
              <a:r>
                <a:rPr b="0" lang="en" sz="1000">
                  <a:solidFill>
                    <a:srgbClr val="1A1A1A"/>
                  </a:solidFill>
                  <a:latin typeface="Inter"/>
                  <a:ea typeface="Inter"/>
                  <a:cs typeface="Inter"/>
                  <a:sym typeface="Inter"/>
                </a:rPr>
                <a:t> For robotics, vehicles, IoT fleets, and complex RISC‑V deployments, the critical question is no longer just 'does the task run?' The value lies in proving </a:t>
              </a:r>
              <a:r>
                <a:rPr b="1" lang="en" sz="1000">
                  <a:solidFill>
                    <a:srgbClr val="1A1A1A"/>
                  </a:solidFill>
                  <a:latin typeface="Inter"/>
                  <a:ea typeface="Inter"/>
                  <a:cs typeface="Inter"/>
                  <a:sym typeface="Inter"/>
                </a:rPr>
                <a:t>"does the system behave correctly under time constraints, injected faults, and multi-device interaction?"</a:t>
              </a:r>
              <a:endParaRPr b="0" sz="1000">
                <a:solidFill>
                  <a:srgbClr val="1A1A1A"/>
                </a:solidFill>
                <a:latin typeface="Inter"/>
                <a:ea typeface="Inter"/>
                <a:cs typeface="Inter"/>
                <a:sym typeface="Inte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grpSp>
        <p:nvGrpSpPr>
          <p:cNvPr id="293" name="Google Shape;293;p23"/>
          <p:cNvGrpSpPr/>
          <p:nvPr/>
        </p:nvGrpSpPr>
        <p:grpSpPr>
          <a:xfrm>
            <a:off x="0" y="0"/>
            <a:ext cx="9144000" cy="5143500"/>
            <a:chOff x="0" y="0"/>
            <a:chExt cx="9144000" cy="5143500"/>
          </a:xfrm>
        </p:grpSpPr>
        <p:sp>
          <p:nvSpPr>
            <p:cNvPr id="294" name="Google Shape;294;p23"/>
            <p:cNvSpPr/>
            <p:nvPr/>
          </p:nvSpPr>
          <p:spPr>
            <a:xfrm>
              <a:off x="0" y="0"/>
              <a:ext cx="9144000" cy="51435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5" name="Google Shape;295;p23"/>
            <p:cNvSpPr/>
            <p:nvPr/>
          </p:nvSpPr>
          <p:spPr>
            <a:xfrm>
              <a:off x="381000" y="952500"/>
              <a:ext cx="8382000" cy="9600"/>
            </a:xfrm>
            <a:prstGeom prst="rect">
              <a:avLst/>
            </a:prstGeom>
            <a:solidFill>
              <a:srgbClr val="CBD5E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96" name="Google Shape;296;p23"/>
          <p:cNvSpPr txBox="1"/>
          <p:nvPr/>
        </p:nvSpPr>
        <p:spPr>
          <a:xfrm>
            <a:off x="381000" y="333375"/>
            <a:ext cx="62274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800">
                <a:solidFill>
                  <a:srgbClr val="1A1A1A"/>
                </a:solidFill>
                <a:latin typeface="Inter"/>
                <a:ea typeface="Inter"/>
                <a:cs typeface="Inter"/>
                <a:sym typeface="Inter"/>
              </a:rPr>
              <a:t>Sources &amp; References</a:t>
            </a:r>
            <a:endParaRPr b="1" sz="2800">
              <a:solidFill>
                <a:srgbClr val="1A1A1A"/>
              </a:solidFill>
              <a:latin typeface="Inter"/>
              <a:ea typeface="Inter"/>
              <a:cs typeface="Inter"/>
              <a:sym typeface="Inter"/>
            </a:endParaRPr>
          </a:p>
        </p:txBody>
      </p:sp>
      <p:sp>
        <p:nvSpPr>
          <p:cNvPr id="297" name="Google Shape;297;p23"/>
          <p:cNvSpPr txBox="1"/>
          <p:nvPr/>
        </p:nvSpPr>
        <p:spPr>
          <a:xfrm>
            <a:off x="381000" y="1238250"/>
            <a:ext cx="3905400" cy="333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500">
                <a:solidFill>
                  <a:schemeClr val="dk1"/>
                </a:solidFill>
                <a:latin typeface="Inter"/>
                <a:ea typeface="Inter"/>
                <a:cs typeface="Inter"/>
                <a:sym typeface="Inter"/>
              </a:rPr>
              <a:t>Project Sources</a:t>
            </a:r>
            <a:endParaRPr b="1" sz="1500">
              <a:solidFill>
                <a:schemeClr val="dk1"/>
              </a:solidFill>
              <a:latin typeface="Inter"/>
              <a:ea typeface="Inter"/>
              <a:cs typeface="Inter"/>
              <a:sym typeface="Inter"/>
            </a:endParaRPr>
          </a:p>
        </p:txBody>
      </p:sp>
      <p:grpSp>
        <p:nvGrpSpPr>
          <p:cNvPr id="298" name="Google Shape;298;p23"/>
          <p:cNvGrpSpPr/>
          <p:nvPr/>
        </p:nvGrpSpPr>
        <p:grpSpPr>
          <a:xfrm>
            <a:off x="381000" y="1762125"/>
            <a:ext cx="3905400" cy="666900"/>
            <a:chOff x="0" y="0"/>
            <a:chExt cx="3905400" cy="666900"/>
          </a:xfrm>
        </p:grpSpPr>
        <p:sp>
          <p:nvSpPr>
            <p:cNvPr id="299" name="Google Shape;299;p23"/>
            <p:cNvSpPr/>
            <p:nvPr/>
          </p:nvSpPr>
          <p:spPr>
            <a:xfrm>
              <a:off x="0" y="57150"/>
              <a:ext cx="57300" cy="57300"/>
            </a:xfrm>
            <a:prstGeom prst="roundRect">
              <a:avLst>
                <a:gd fmla="val 25000" name="adj"/>
              </a:avLst>
            </a:pr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0" name="Google Shape;300;p23"/>
            <p:cNvSpPr txBox="1"/>
            <p:nvPr/>
          </p:nvSpPr>
          <p:spPr>
            <a:xfrm>
              <a:off x="190500" y="0"/>
              <a:ext cx="37149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0F172A"/>
                  </a:solidFill>
                  <a:highlight>
                    <a:srgbClr val="F1F5F9"/>
                  </a:highlight>
                  <a:latin typeface="JetBrains Mono SemiBold"/>
                  <a:ea typeface="JetBrains Mono SemiBold"/>
                  <a:cs typeface="JetBrains Mono SemiBold"/>
                  <a:sym typeface="JetBrains Mono SemiBold"/>
                </a:rPr>
                <a:t>zacharyvmm/costar</a:t>
              </a:r>
              <a:r>
                <a:rPr b="0" lang="en" sz="1300">
                  <a:solidFill>
                    <a:srgbClr val="1A1A1A"/>
                  </a:solidFill>
                  <a:latin typeface="Inter SemiBold"/>
                  <a:ea typeface="Inter SemiBold"/>
                  <a:cs typeface="Inter SemiBold"/>
                  <a:sym typeface="Inter SemiBold"/>
                </a:rPr>
                <a:t> README</a:t>
              </a:r>
              <a:endParaRPr b="0" sz="1300">
                <a:solidFill>
                  <a:srgbClr val="1A1A1A"/>
                </a:solidFill>
                <a:latin typeface="Inter SemiBold"/>
                <a:ea typeface="Inter SemiBold"/>
                <a:cs typeface="Inter SemiBold"/>
                <a:sym typeface="Inter SemiBold"/>
              </a:endParaRPr>
            </a:p>
            <a:p>
              <a:pPr indent="0" lvl="0" marL="0" rtl="0" algn="l">
                <a:spcBef>
                  <a:spcPts val="300"/>
                </a:spcBef>
                <a:spcAft>
                  <a:spcPts val="0"/>
                </a:spcAft>
                <a:buNone/>
              </a:pPr>
              <a:r>
                <a:rPr b="0" lang="en" sz="1100">
                  <a:solidFill>
                    <a:srgbClr val="5F6368"/>
                  </a:solidFill>
                  <a:latin typeface="Inter"/>
                  <a:ea typeface="Inter"/>
                  <a:cs typeface="Inter"/>
                  <a:sym typeface="Inter"/>
                </a:rPr>
                <a:t>details on current architecture, status, limitations, and instrumentation tiers.</a:t>
              </a:r>
              <a:endParaRPr b="0" sz="1100">
                <a:solidFill>
                  <a:srgbClr val="5F6368"/>
                </a:solidFill>
                <a:latin typeface="Inter"/>
                <a:ea typeface="Inter"/>
                <a:cs typeface="Inter"/>
                <a:sym typeface="Inter"/>
              </a:endParaRPr>
            </a:p>
          </p:txBody>
        </p:sp>
      </p:grpSp>
      <p:grpSp>
        <p:nvGrpSpPr>
          <p:cNvPr id="301" name="Google Shape;301;p23"/>
          <p:cNvGrpSpPr/>
          <p:nvPr/>
        </p:nvGrpSpPr>
        <p:grpSpPr>
          <a:xfrm>
            <a:off x="381000" y="2619375"/>
            <a:ext cx="3905400" cy="666900"/>
            <a:chOff x="0" y="0"/>
            <a:chExt cx="3905400" cy="666900"/>
          </a:xfrm>
        </p:grpSpPr>
        <p:sp>
          <p:nvSpPr>
            <p:cNvPr id="302" name="Google Shape;302;p23"/>
            <p:cNvSpPr/>
            <p:nvPr/>
          </p:nvSpPr>
          <p:spPr>
            <a:xfrm>
              <a:off x="0" y="57150"/>
              <a:ext cx="57300" cy="57300"/>
            </a:xfrm>
            <a:prstGeom prst="roundRect">
              <a:avLst>
                <a:gd fmla="val 25000" name="adj"/>
              </a:avLst>
            </a:pr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3" name="Google Shape;303;p23"/>
            <p:cNvSpPr txBox="1"/>
            <p:nvPr/>
          </p:nvSpPr>
          <p:spPr>
            <a:xfrm>
              <a:off x="190500" y="0"/>
              <a:ext cx="37149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00">
                  <a:solidFill>
                    <a:srgbClr val="0F172A"/>
                  </a:solidFill>
                  <a:highlight>
                    <a:srgbClr val="F1F5F9"/>
                  </a:highlight>
                  <a:latin typeface="JetBrains Mono SemiBold"/>
                  <a:ea typeface="JetBrains Mono SemiBold"/>
                  <a:cs typeface="JetBrains Mono SemiBold"/>
                  <a:sym typeface="JetBrains Mono SemiBold"/>
                </a:rPr>
                <a:t>costar</a:t>
              </a:r>
              <a:r>
                <a:rPr b="0" lang="en" sz="1300">
                  <a:solidFill>
                    <a:srgbClr val="1A1A1A"/>
                  </a:solidFill>
                  <a:latin typeface="Inter SemiBold"/>
                  <a:ea typeface="Inter SemiBold"/>
                  <a:cs typeface="Inter SemiBold"/>
                  <a:sym typeface="Inter SemiBold"/>
                </a:rPr>
                <a:t> docs referenced by README</a:t>
              </a:r>
              <a:endParaRPr b="0" sz="1300">
                <a:solidFill>
                  <a:srgbClr val="1A1A1A"/>
                </a:solidFill>
                <a:latin typeface="Inter SemiBold"/>
                <a:ea typeface="Inter SemiBold"/>
                <a:cs typeface="Inter SemiBold"/>
                <a:sym typeface="Inter SemiBold"/>
              </a:endParaRPr>
            </a:p>
            <a:p>
              <a:pPr indent="0" lvl="0" marL="0" rtl="0" algn="l">
                <a:spcBef>
                  <a:spcPts val="300"/>
                </a:spcBef>
                <a:spcAft>
                  <a:spcPts val="0"/>
                </a:spcAft>
                <a:buNone/>
              </a:pPr>
              <a:r>
                <a:rPr b="0" lang="en" sz="1100">
                  <a:solidFill>
                    <a:srgbClr val="0F172A"/>
                  </a:solidFill>
                  <a:highlight>
                    <a:srgbClr val="F1F5F9"/>
                  </a:highlight>
                  <a:latin typeface="JetBrains Mono"/>
                  <a:ea typeface="JetBrains Mono"/>
                  <a:cs typeface="JetBrains Mono"/>
                  <a:sym typeface="JetBrains Mono"/>
                </a:rPr>
                <a:t>scheduling.md</a:t>
              </a:r>
              <a:r>
                <a:rPr b="0" lang="en" sz="1100">
                  <a:solidFill>
                    <a:srgbClr val="5F6368"/>
                  </a:solidFill>
                  <a:latin typeface="Inter"/>
                  <a:ea typeface="Inter"/>
                  <a:cs typeface="Inter"/>
                  <a:sym typeface="Inter"/>
                </a:rPr>
                <a:t>, </a:t>
              </a:r>
              <a:r>
                <a:rPr b="0" lang="en" sz="1100">
                  <a:solidFill>
                    <a:srgbClr val="0F172A"/>
                  </a:solidFill>
                  <a:highlight>
                    <a:srgbClr val="F1F5F9"/>
                  </a:highlight>
                  <a:latin typeface="JetBrains Mono"/>
                  <a:ea typeface="JetBrains Mono"/>
                  <a:cs typeface="JetBrains Mono"/>
                  <a:sym typeface="JetBrains Mono"/>
                </a:rPr>
                <a:t>debugging.md</a:t>
              </a:r>
              <a:r>
                <a:rPr b="0" lang="en" sz="1100">
                  <a:solidFill>
                    <a:srgbClr val="5F6368"/>
                  </a:solidFill>
                  <a:latin typeface="Inter"/>
                  <a:ea typeface="Inter"/>
                  <a:cs typeface="Inter"/>
                  <a:sym typeface="Inter"/>
                </a:rPr>
                <a:t>, and </a:t>
              </a:r>
              <a:r>
                <a:rPr b="0" lang="en" sz="1100">
                  <a:solidFill>
                    <a:srgbClr val="0F172A"/>
                  </a:solidFill>
                  <a:highlight>
                    <a:srgbClr val="F1F5F9"/>
                  </a:highlight>
                  <a:latin typeface="JetBrains Mono"/>
                  <a:ea typeface="JetBrains Mono"/>
                  <a:cs typeface="JetBrains Mono"/>
                  <a:sym typeface="JetBrains Mono"/>
                </a:rPr>
                <a:t>HANDOFF.md</a:t>
              </a:r>
              <a:r>
                <a:rPr b="0" lang="en" sz="1100">
                  <a:solidFill>
                    <a:srgbClr val="5F6368"/>
                  </a:solidFill>
                  <a:latin typeface="Inter"/>
                  <a:ea typeface="Inter"/>
                  <a:cs typeface="Inter"/>
                  <a:sym typeface="Inter"/>
                </a:rPr>
                <a:t>.</a:t>
              </a:r>
              <a:endParaRPr b="0" sz="1100">
                <a:solidFill>
                  <a:srgbClr val="5F6368"/>
                </a:solidFill>
                <a:latin typeface="Inter"/>
                <a:ea typeface="Inter"/>
                <a:cs typeface="Inter"/>
                <a:sym typeface="Inter"/>
              </a:endParaRPr>
            </a:p>
          </p:txBody>
        </p:sp>
      </p:grpSp>
      <p:sp>
        <p:nvSpPr>
          <p:cNvPr id="304" name="Google Shape;304;p23"/>
          <p:cNvSpPr txBox="1"/>
          <p:nvPr/>
        </p:nvSpPr>
        <p:spPr>
          <a:xfrm>
            <a:off x="4762500" y="1238250"/>
            <a:ext cx="4000500" cy="333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500">
                <a:solidFill>
                  <a:schemeClr val="dk1"/>
                </a:solidFill>
                <a:latin typeface="Inter"/>
                <a:ea typeface="Inter"/>
                <a:cs typeface="Inter"/>
                <a:sym typeface="Inter"/>
              </a:rPr>
              <a:t>External Sources &amp; Tools</a:t>
            </a:r>
            <a:endParaRPr b="1" sz="1500">
              <a:solidFill>
                <a:schemeClr val="dk1"/>
              </a:solidFill>
              <a:latin typeface="Inter"/>
              <a:ea typeface="Inter"/>
              <a:cs typeface="Inter"/>
              <a:sym typeface="Inter"/>
            </a:endParaRPr>
          </a:p>
        </p:txBody>
      </p:sp>
      <p:grpSp>
        <p:nvGrpSpPr>
          <p:cNvPr id="305" name="Google Shape;305;p23"/>
          <p:cNvGrpSpPr/>
          <p:nvPr/>
        </p:nvGrpSpPr>
        <p:grpSpPr>
          <a:xfrm>
            <a:off x="4762500" y="1762125"/>
            <a:ext cx="4000500" cy="523800"/>
            <a:chOff x="0" y="0"/>
            <a:chExt cx="4000500" cy="523800"/>
          </a:xfrm>
        </p:grpSpPr>
        <p:sp>
          <p:nvSpPr>
            <p:cNvPr id="306" name="Google Shape;306;p23"/>
            <p:cNvSpPr/>
            <p:nvPr/>
          </p:nvSpPr>
          <p:spPr>
            <a:xfrm>
              <a:off x="0" y="57150"/>
              <a:ext cx="57300" cy="57300"/>
            </a:xfrm>
            <a:prstGeom prst="roundRect">
              <a:avLst>
                <a:gd fmla="val 25000" name="adj"/>
              </a:avLst>
            </a:pr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7" name="Google Shape;307;p23"/>
            <p:cNvSpPr txBox="1"/>
            <p:nvPr/>
          </p:nvSpPr>
          <p:spPr>
            <a:xfrm>
              <a:off x="190500" y="0"/>
              <a:ext cx="38100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5">
                  <a:solidFill>
                    <a:srgbClr val="1A1A1A"/>
                  </a:solidFill>
                  <a:latin typeface="Inter"/>
                  <a:ea typeface="Inter"/>
                  <a:cs typeface="Inter"/>
                  <a:sym typeface="Inter"/>
                </a:rPr>
                <a:t>Renode</a:t>
              </a:r>
              <a:r>
                <a:rPr b="0" lang="en" sz="1105">
                  <a:solidFill>
                    <a:srgbClr val="1A1A1A"/>
                  </a:solidFill>
                  <a:latin typeface="Inter SemiBold"/>
                  <a:ea typeface="Inter SemiBold"/>
                  <a:cs typeface="Inter SemiBold"/>
                  <a:sym typeface="Inter SemiBold"/>
                </a:rPr>
                <a:t> official site and documentation</a:t>
              </a:r>
              <a:endParaRPr b="0" sz="1105">
                <a:solidFill>
                  <a:srgbClr val="1A1A1A"/>
                </a:solidFill>
                <a:latin typeface="Inter SemiBold"/>
                <a:ea typeface="Inter SemiBold"/>
                <a:cs typeface="Inter SemiBold"/>
                <a:sym typeface="Inter SemiBold"/>
              </a:endParaRPr>
            </a:p>
            <a:p>
              <a:pPr indent="0" lvl="0" marL="0" rtl="0" algn="l">
                <a:spcBef>
                  <a:spcPts val="300"/>
                </a:spcBef>
                <a:spcAft>
                  <a:spcPts val="0"/>
                </a:spcAft>
                <a:buNone/>
              </a:pPr>
              <a:r>
                <a:rPr b="0" lang="en" sz="935">
                  <a:solidFill>
                    <a:srgbClr val="5F6368"/>
                  </a:solidFill>
                  <a:latin typeface="Inter"/>
                  <a:ea typeface="Inter"/>
                  <a:cs typeface="Inter"/>
                  <a:sym typeface="Inter"/>
                </a:rPr>
                <a:t>multi-node simulation, deterministic virtual time, CI positioning.</a:t>
              </a:r>
              <a:endParaRPr b="0" sz="935">
                <a:solidFill>
                  <a:srgbClr val="5F6368"/>
                </a:solidFill>
                <a:latin typeface="Inter"/>
                <a:ea typeface="Inter"/>
                <a:cs typeface="Inter"/>
                <a:sym typeface="Inter"/>
              </a:endParaRPr>
            </a:p>
          </p:txBody>
        </p:sp>
      </p:grpSp>
      <p:grpSp>
        <p:nvGrpSpPr>
          <p:cNvPr id="308" name="Google Shape;308;p23"/>
          <p:cNvGrpSpPr/>
          <p:nvPr/>
        </p:nvGrpSpPr>
        <p:grpSpPr>
          <a:xfrm>
            <a:off x="4762500" y="2381250"/>
            <a:ext cx="4000500" cy="523800"/>
            <a:chOff x="0" y="0"/>
            <a:chExt cx="4000500" cy="523800"/>
          </a:xfrm>
        </p:grpSpPr>
        <p:sp>
          <p:nvSpPr>
            <p:cNvPr id="309" name="Google Shape;309;p23"/>
            <p:cNvSpPr/>
            <p:nvPr/>
          </p:nvSpPr>
          <p:spPr>
            <a:xfrm>
              <a:off x="0" y="57150"/>
              <a:ext cx="57300" cy="57300"/>
            </a:xfrm>
            <a:prstGeom prst="roundRect">
              <a:avLst>
                <a:gd fmla="val 25000" name="adj"/>
              </a:avLst>
            </a:pr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0" name="Google Shape;310;p23"/>
            <p:cNvSpPr txBox="1"/>
            <p:nvPr/>
          </p:nvSpPr>
          <p:spPr>
            <a:xfrm>
              <a:off x="190500" y="0"/>
              <a:ext cx="38100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1A1A1A"/>
                  </a:solidFill>
                  <a:latin typeface="Inter"/>
                  <a:ea typeface="Inter"/>
                  <a:cs typeface="Inter"/>
                  <a:sym typeface="Inter"/>
                </a:rPr>
                <a:t>Zephyr</a:t>
              </a:r>
              <a:r>
                <a:rPr b="0" lang="en" sz="1300">
                  <a:solidFill>
                    <a:srgbClr val="1A1A1A"/>
                  </a:solidFill>
                  <a:latin typeface="Inter SemiBold"/>
                  <a:ea typeface="Inter SemiBold"/>
                  <a:cs typeface="Inter SemiBold"/>
                  <a:sym typeface="Inter SemiBold"/>
                </a:rPr>
                <a:t> </a:t>
              </a:r>
              <a:r>
                <a:rPr b="0" lang="en" sz="1100">
                  <a:solidFill>
                    <a:srgbClr val="0F172A"/>
                  </a:solidFill>
                  <a:highlight>
                    <a:srgbClr val="F1F5F9"/>
                  </a:highlight>
                  <a:latin typeface="JetBrains Mono SemiBold"/>
                  <a:ea typeface="JetBrains Mono SemiBold"/>
                  <a:cs typeface="JetBrains Mono SemiBold"/>
                  <a:sym typeface="JetBrains Mono SemiBold"/>
                </a:rPr>
                <a:t>native_sim</a:t>
              </a:r>
              <a:r>
                <a:rPr b="0" lang="en" sz="1300">
                  <a:solidFill>
                    <a:srgbClr val="1A1A1A"/>
                  </a:solidFill>
                  <a:latin typeface="Inter SemiBold"/>
                  <a:ea typeface="Inter SemiBold"/>
                  <a:cs typeface="Inter SemiBold"/>
                  <a:sym typeface="Inter SemiBold"/>
                </a:rPr>
                <a:t> documentation</a:t>
              </a:r>
              <a:endParaRPr b="0" sz="1300">
                <a:solidFill>
                  <a:srgbClr val="1A1A1A"/>
                </a:solidFill>
                <a:latin typeface="Inter SemiBold"/>
                <a:ea typeface="Inter SemiBold"/>
                <a:cs typeface="Inter SemiBold"/>
                <a:sym typeface="Inter SemiBold"/>
              </a:endParaRPr>
            </a:p>
            <a:p>
              <a:pPr indent="0" lvl="0" marL="0" rtl="0" algn="l">
                <a:spcBef>
                  <a:spcPts val="300"/>
                </a:spcBef>
                <a:spcAft>
                  <a:spcPts val="0"/>
                </a:spcAft>
                <a:buNone/>
              </a:pPr>
              <a:r>
                <a:rPr b="0" lang="en" sz="1100">
                  <a:solidFill>
                    <a:srgbClr val="5F6368"/>
                  </a:solidFill>
                  <a:latin typeface="Inter"/>
                  <a:ea typeface="Inter"/>
                  <a:cs typeface="Inter"/>
                  <a:sym typeface="Inter"/>
                </a:rPr>
                <a:t>host-native target, timing model, busy-wait caveats.</a:t>
              </a:r>
              <a:endParaRPr b="0" sz="1100">
                <a:solidFill>
                  <a:srgbClr val="5F6368"/>
                </a:solidFill>
                <a:latin typeface="Inter"/>
                <a:ea typeface="Inter"/>
                <a:cs typeface="Inter"/>
                <a:sym typeface="Inter"/>
              </a:endParaRPr>
            </a:p>
          </p:txBody>
        </p:sp>
      </p:grpSp>
      <p:grpSp>
        <p:nvGrpSpPr>
          <p:cNvPr id="311" name="Google Shape;311;p23"/>
          <p:cNvGrpSpPr/>
          <p:nvPr/>
        </p:nvGrpSpPr>
        <p:grpSpPr>
          <a:xfrm>
            <a:off x="4762500" y="3000375"/>
            <a:ext cx="4000500" cy="523800"/>
            <a:chOff x="0" y="0"/>
            <a:chExt cx="4000500" cy="523800"/>
          </a:xfrm>
        </p:grpSpPr>
        <p:sp>
          <p:nvSpPr>
            <p:cNvPr id="312" name="Google Shape;312;p23"/>
            <p:cNvSpPr/>
            <p:nvPr/>
          </p:nvSpPr>
          <p:spPr>
            <a:xfrm>
              <a:off x="0" y="57150"/>
              <a:ext cx="57300" cy="57300"/>
            </a:xfrm>
            <a:prstGeom prst="roundRect">
              <a:avLst>
                <a:gd fmla="val 25000" name="adj"/>
              </a:avLst>
            </a:pr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3" name="Google Shape;313;p23"/>
            <p:cNvSpPr txBox="1"/>
            <p:nvPr/>
          </p:nvSpPr>
          <p:spPr>
            <a:xfrm>
              <a:off x="190500" y="0"/>
              <a:ext cx="38100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5">
                  <a:solidFill>
                    <a:srgbClr val="1A1A1A"/>
                  </a:solidFill>
                  <a:latin typeface="Inter"/>
                  <a:ea typeface="Inter"/>
                  <a:cs typeface="Inter"/>
                  <a:sym typeface="Inter"/>
                </a:rPr>
                <a:t>The Native Simulator</a:t>
              </a:r>
              <a:r>
                <a:rPr b="0" lang="en" sz="1105">
                  <a:solidFill>
                    <a:srgbClr val="1A1A1A"/>
                  </a:solidFill>
                  <a:latin typeface="Inter SemiBold"/>
                  <a:ea typeface="Inter SemiBold"/>
                  <a:cs typeface="Inter SemiBold"/>
                  <a:sym typeface="Inter SemiBold"/>
                </a:rPr>
                <a:t> and </a:t>
              </a:r>
              <a:r>
                <a:rPr b="1" lang="en" sz="1105">
                  <a:solidFill>
                    <a:srgbClr val="1A1A1A"/>
                  </a:solidFill>
                  <a:latin typeface="Inter"/>
                  <a:ea typeface="Inter"/>
                  <a:cs typeface="Inter"/>
                  <a:sym typeface="Inter"/>
                </a:rPr>
                <a:t>Zephyr OSSEU 2025</a:t>
              </a:r>
              <a:r>
                <a:rPr b="0" lang="en" sz="1105">
                  <a:solidFill>
                    <a:srgbClr val="1A1A1A"/>
                  </a:solidFill>
                  <a:latin typeface="Inter SemiBold"/>
                  <a:ea typeface="Inter SemiBold"/>
                  <a:cs typeface="Inter SemiBold"/>
                  <a:sym typeface="Inter SemiBold"/>
                </a:rPr>
                <a:t> notes</a:t>
              </a:r>
              <a:endParaRPr b="0" sz="1105">
                <a:solidFill>
                  <a:srgbClr val="1A1A1A"/>
                </a:solidFill>
                <a:latin typeface="Inter SemiBold"/>
                <a:ea typeface="Inter SemiBold"/>
                <a:cs typeface="Inter SemiBold"/>
                <a:sym typeface="Inter SemiBold"/>
              </a:endParaRPr>
            </a:p>
            <a:p>
              <a:pPr indent="0" lvl="0" marL="0" rtl="0" algn="l">
                <a:spcBef>
                  <a:spcPts val="300"/>
                </a:spcBef>
                <a:spcAft>
                  <a:spcPts val="0"/>
                </a:spcAft>
                <a:buNone/>
              </a:pPr>
              <a:r>
                <a:rPr b="0" lang="en" sz="935">
                  <a:solidFill>
                    <a:srgbClr val="5F6368"/>
                  </a:solidFill>
                  <a:latin typeface="Inter"/>
                  <a:ea typeface="Inter"/>
                  <a:cs typeface="Inter"/>
                  <a:sym typeface="Inter"/>
                </a:rPr>
                <a:t>one simulated MCU / HW model runs at a time.</a:t>
              </a:r>
              <a:endParaRPr b="0" sz="935">
                <a:solidFill>
                  <a:srgbClr val="5F6368"/>
                </a:solidFill>
                <a:latin typeface="Inter"/>
                <a:ea typeface="Inter"/>
                <a:cs typeface="Inter"/>
                <a:sym typeface="Inter"/>
              </a:endParaRPr>
            </a:p>
          </p:txBody>
        </p:sp>
      </p:grpSp>
      <p:grpSp>
        <p:nvGrpSpPr>
          <p:cNvPr id="314" name="Google Shape;314;p23"/>
          <p:cNvGrpSpPr/>
          <p:nvPr/>
        </p:nvGrpSpPr>
        <p:grpSpPr>
          <a:xfrm>
            <a:off x="4762500" y="3619500"/>
            <a:ext cx="4000500" cy="523800"/>
            <a:chOff x="0" y="0"/>
            <a:chExt cx="4000500" cy="523800"/>
          </a:xfrm>
        </p:grpSpPr>
        <p:sp>
          <p:nvSpPr>
            <p:cNvPr id="315" name="Google Shape;315;p23"/>
            <p:cNvSpPr/>
            <p:nvPr/>
          </p:nvSpPr>
          <p:spPr>
            <a:xfrm>
              <a:off x="0" y="57150"/>
              <a:ext cx="57300" cy="57300"/>
            </a:xfrm>
            <a:prstGeom prst="roundRect">
              <a:avLst>
                <a:gd fmla="val 25000" name="adj"/>
              </a:avLst>
            </a:pr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6" name="Google Shape;316;p23"/>
            <p:cNvSpPr txBox="1"/>
            <p:nvPr/>
          </p:nvSpPr>
          <p:spPr>
            <a:xfrm>
              <a:off x="190500" y="0"/>
              <a:ext cx="38100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5">
                  <a:solidFill>
                    <a:srgbClr val="1A1A1A"/>
                  </a:solidFill>
                  <a:latin typeface="Inter"/>
                  <a:ea typeface="Inter"/>
                  <a:cs typeface="Inter"/>
                  <a:sym typeface="Inter"/>
                </a:rPr>
                <a:t>GCC</a:t>
              </a:r>
              <a:r>
                <a:rPr b="0" lang="en" sz="1105">
                  <a:solidFill>
                    <a:srgbClr val="1A1A1A"/>
                  </a:solidFill>
                  <a:latin typeface="Inter SemiBold"/>
                  <a:ea typeface="Inter SemiBold"/>
                  <a:cs typeface="Inter SemiBold"/>
                  <a:sym typeface="Inter SemiBold"/>
                </a:rPr>
                <a:t> instrumentation options</a:t>
              </a:r>
              <a:endParaRPr b="0" sz="1105">
                <a:solidFill>
                  <a:srgbClr val="1A1A1A"/>
                </a:solidFill>
                <a:latin typeface="Inter SemiBold"/>
                <a:ea typeface="Inter SemiBold"/>
                <a:cs typeface="Inter SemiBold"/>
                <a:sym typeface="Inter SemiBold"/>
              </a:endParaRPr>
            </a:p>
            <a:p>
              <a:pPr indent="0" lvl="0" marL="0" rtl="0" algn="l">
                <a:spcBef>
                  <a:spcPts val="300"/>
                </a:spcBef>
                <a:spcAft>
                  <a:spcPts val="0"/>
                </a:spcAft>
                <a:buNone/>
              </a:pPr>
              <a:r>
                <a:rPr b="0" lang="en" sz="935">
                  <a:solidFill>
                    <a:srgbClr val="0F172A"/>
                  </a:solidFill>
                  <a:highlight>
                    <a:srgbClr val="F1F5F9"/>
                  </a:highlight>
                  <a:latin typeface="JetBrains Mono"/>
                  <a:ea typeface="JetBrains Mono"/>
                  <a:cs typeface="JetBrains Mono"/>
                  <a:sym typeface="JetBrains Mono"/>
                </a:rPr>
                <a:t>-finstrument-functions</a:t>
              </a:r>
              <a:r>
                <a:rPr b="0" lang="en" sz="935">
                  <a:solidFill>
                    <a:srgbClr val="5F6368"/>
                  </a:solidFill>
                  <a:latin typeface="Inter"/>
                  <a:ea typeface="Inter"/>
                  <a:cs typeface="Inter"/>
                  <a:sym typeface="Inter"/>
                </a:rPr>
                <a:t> and </a:t>
              </a:r>
              <a:r>
                <a:rPr b="0" lang="en" sz="935">
                  <a:solidFill>
                    <a:srgbClr val="0F172A"/>
                  </a:solidFill>
                  <a:highlight>
                    <a:srgbClr val="F1F5F9"/>
                  </a:highlight>
                  <a:latin typeface="JetBrains Mono"/>
                  <a:ea typeface="JetBrains Mono"/>
                  <a:cs typeface="JetBrains Mono"/>
                  <a:sym typeface="JetBrains Mono"/>
                </a:rPr>
                <a:t>__cyg_profile_func_enter/exit</a:t>
              </a:r>
              <a:r>
                <a:rPr b="0" lang="en" sz="935">
                  <a:solidFill>
                    <a:srgbClr val="5F6368"/>
                  </a:solidFill>
                  <a:latin typeface="Inter"/>
                  <a:ea typeface="Inter"/>
                  <a:cs typeface="Inter"/>
                  <a:sym typeface="Inter"/>
                </a:rPr>
                <a:t>.</a:t>
              </a:r>
              <a:endParaRPr b="0" sz="935">
                <a:solidFill>
                  <a:srgbClr val="5F6368"/>
                </a:solidFill>
                <a:latin typeface="Inter"/>
                <a:ea typeface="Inter"/>
                <a:cs typeface="Inter"/>
                <a:sym typeface="Inter"/>
              </a:endParaRPr>
            </a:p>
          </p:txBody>
        </p:sp>
      </p:grpSp>
      <p:grpSp>
        <p:nvGrpSpPr>
          <p:cNvPr id="317" name="Google Shape;317;p23"/>
          <p:cNvGrpSpPr/>
          <p:nvPr/>
        </p:nvGrpSpPr>
        <p:grpSpPr>
          <a:xfrm>
            <a:off x="4762500" y="4238625"/>
            <a:ext cx="4000500" cy="523800"/>
            <a:chOff x="0" y="0"/>
            <a:chExt cx="4000500" cy="523800"/>
          </a:xfrm>
        </p:grpSpPr>
        <p:sp>
          <p:nvSpPr>
            <p:cNvPr id="318" name="Google Shape;318;p23"/>
            <p:cNvSpPr/>
            <p:nvPr/>
          </p:nvSpPr>
          <p:spPr>
            <a:xfrm>
              <a:off x="0" y="57150"/>
              <a:ext cx="57300" cy="57300"/>
            </a:xfrm>
            <a:prstGeom prst="roundRect">
              <a:avLst>
                <a:gd fmla="val 25000" name="adj"/>
              </a:avLst>
            </a:prstGeom>
            <a:solidFill>
              <a:schemeClr val="dk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9" name="Google Shape;319;p23"/>
            <p:cNvSpPr txBox="1"/>
            <p:nvPr/>
          </p:nvSpPr>
          <p:spPr>
            <a:xfrm>
              <a:off x="190500" y="0"/>
              <a:ext cx="3810000" cy="523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105">
                  <a:solidFill>
                    <a:srgbClr val="1A1A1A"/>
                  </a:solidFill>
                  <a:latin typeface="Inter"/>
                  <a:ea typeface="Inter"/>
                  <a:cs typeface="Inter"/>
                  <a:sym typeface="Inter"/>
                </a:rPr>
                <a:t>Clang</a:t>
              </a:r>
              <a:r>
                <a:rPr b="0" lang="en" sz="1105">
                  <a:solidFill>
                    <a:srgbClr val="1A1A1A"/>
                  </a:solidFill>
                  <a:latin typeface="Inter SemiBold"/>
                  <a:ea typeface="Inter SemiBold"/>
                  <a:cs typeface="Inter SemiBold"/>
                  <a:sym typeface="Inter SemiBold"/>
                </a:rPr>
                <a:t> SanitizerCoverage docs</a:t>
              </a:r>
              <a:endParaRPr b="0" sz="1105">
                <a:solidFill>
                  <a:srgbClr val="1A1A1A"/>
                </a:solidFill>
                <a:latin typeface="Inter SemiBold"/>
                <a:ea typeface="Inter SemiBold"/>
                <a:cs typeface="Inter SemiBold"/>
                <a:sym typeface="Inter SemiBold"/>
              </a:endParaRPr>
            </a:p>
            <a:p>
              <a:pPr indent="0" lvl="0" marL="0" rtl="0" algn="l">
                <a:spcBef>
                  <a:spcPts val="300"/>
                </a:spcBef>
                <a:spcAft>
                  <a:spcPts val="0"/>
                </a:spcAft>
                <a:buNone/>
              </a:pPr>
              <a:r>
                <a:rPr b="0" lang="en" sz="935">
                  <a:solidFill>
                    <a:srgbClr val="0F172A"/>
                  </a:solidFill>
                  <a:highlight>
                    <a:srgbClr val="F1F5F9"/>
                  </a:highlight>
                  <a:latin typeface="JetBrains Mono"/>
                  <a:ea typeface="JetBrains Mono"/>
                  <a:cs typeface="JetBrains Mono"/>
                  <a:sym typeface="JetBrains Mono"/>
                </a:rPr>
                <a:t>-fsanitize-coverage=trace-pc-guard</a:t>
              </a:r>
              <a:r>
                <a:rPr b="0" lang="en" sz="935">
                  <a:solidFill>
                    <a:srgbClr val="5F6368"/>
                  </a:solidFill>
                  <a:latin typeface="Inter"/>
                  <a:ea typeface="Inter"/>
                  <a:cs typeface="Inter"/>
                  <a:sym typeface="Inter"/>
                </a:rPr>
                <a:t> and edge instrumentation.</a:t>
              </a:r>
              <a:endParaRPr b="0" sz="935">
                <a:solidFill>
                  <a:srgbClr val="5F6368"/>
                </a:solidFill>
                <a:latin typeface="Inter"/>
                <a:ea typeface="Inter"/>
                <a:cs typeface="Inter"/>
                <a:sym typeface="Inte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