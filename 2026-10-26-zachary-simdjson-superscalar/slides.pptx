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b1dda2c-e0d4-9383-19a2-ab2fa926457f}">
          <p14:sldIdLst>
            <p14:sldId id="256"/>
          </p14:sldIdLst>
        </p14:section>
        <p14:section name="Superscalar" id="{f3a00870-b37d-b6d4-213c-7961070e9ed9}">
          <p14:sldIdLst>
            <p14:sldId id="257"/>
            <p14:sldId id="258"/>
            <p14:sldId id="259"/>
            <p14:sldId id="260"/>
            <p14:sldId id="261"/>
            <p14:sldId id="262"/>
            <p14:sldId id="263"/>
          </p14:sldIdLst>
        </p14:section>
        <p14:section name="simdjson" id="{0fa4ce5f-c43e-d19d-4533-8dd1873f6167}">
          <p14:sldIdLst>
            <p14:sldId id="264"/>
          </p14:sldIdLst>
        </p14:section>
        <p14:section name="Reordering" id="{fc8bdd1c-a9aa-9948-1dc1-67050914472d}">
          <p14:sldIdLst>
            <p14:sldId id="265"/>
            <p14:sldId id="266"/>
            <p14:sldId id="267"/>
          </p14:sldIdLst>
        </p14:section>
        <p14:section name="From parser to index" id="{0d15f3e3-fd72-08d9-2fd8-4b1b9e40d7fc}">
          <p14:sldIdLst>
            <p14:sldId id="268"/>
            <p14:sldId id="269"/>
            <p14:sldId id="270"/>
            <p14:sldId id="271"/>
            <p14:sldId id="272"/>
          </p14:sldIdLst>
        </p14:section>
        <p14:section name="Bonus: SIMD" id="{4c5c949f-d88d-b86a-79e7-d07275790daa}">
          <p14:sldIdLst>
            <p14:sldId id="273"/>
            <p14:sldId id="274"/>
          </p14:sldIdLst>
        </p14:section>
        <p14:section name="Wrap-up" id="{662dddc9-8c20-4242-d9bb-6ebf7f75686d}">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5A5A"/>
                </a:solidFill>
                <a:latin typeface="+mn-lt"/>
              </a:defRPr>
            </a:pPr>
            <a:r>
              <a:rPr sz="1400" b="0" i="0" u="none" strike="noStrike">
                <a:solidFill>
                  <a:srgbClr val="5A5A5A"/>
                </a:solidFill>
                <a:latin typeface="+mn-lt"/>
              </a:rPr>
              <a:t>Relative parsing speed</a:t>
            </a:r>
          </a:p>
        </c:rich>
      </c:tx>
      <c:layout/>
      <c:overlay val="0"/>
    </c:title>
    <c:autoTitleDeleted val="0"/>
    <c:plotArea>
      <c:layout/>
      <c:barChart>
        <c:barDir val="bar"/>
        <c:grouping val="clustered"/>
        <c:varyColors val="0"/>
        <c:ser>
          <c:idx val="0"/>
          <c:order val="0"/>
          <c:tx>
            <c:strRef>
              <c:f>Sheet1!$B$1</c:f>
              <c:strCache>
                <c:ptCount val="1"/>
                <c:pt idx="0">
                  <c:v>Relative parse speed</c:v>
                </c:pt>
              </c:strCache>
            </c:strRef>
          </c:tx>
          <c:spPr>
            <a:solidFill>
              <a:srgbClr val="D0D0D0"/>
            </a:solidFill>
            <a:effectLst/>
          </c:spPr>
          <c:invertIfNegative val="0"/>
          <c:dLbls>
            <c:numFmt formatCode="0&quot;×&quot;" sourceLinked="0"/>
            <c:txPr>
              <a:bodyPr/>
              <a:lstStyle/>
              <a:p>
                <a:pPr>
                  <a:defRPr b="1" i="0" strike="noStrike" sz="16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D0D0D0"/>
              </a:solidFill>
              <a:effectLst/>
            </c:spPr>
          </c:dPt>
          <c:dPt>
            <c:idx val="1"/>
            <c:invertIfNegative val="0"/>
            <c:bubble3D val="0"/>
            <c:spPr>
              <a:solidFill>
                <a:srgbClr val="D0D0D0"/>
              </a:solidFill>
              <a:effectLst/>
            </c:spPr>
          </c:dPt>
          <c:dPt>
            <c:idx val="2"/>
            <c:invertIfNegative val="0"/>
            <c:bubble3D val="0"/>
            <c:spPr>
              <a:solidFill>
                <a:srgbClr val="000000"/>
              </a:solidFill>
              <a:effectLst/>
            </c:spPr>
          </c:dPt>
          <c:cat>
            <c:multiLvlStrRef>
              <c:f>Sheet1!$A$2:$A$4</c:f>
              <c:multiLvlStrCache>
                <c:ptCount val="3"/>
                <c:lvl>
                  <c:pt idx="0">
                    <c:v>JSON for Modern C++</c:v>
                  </c:pt>
                  <c:pt idx="1">
                    <c:v>RapidJSON</c:v>
                  </c:pt>
                  <c:pt idx="2">
                    <c:v>simdjson</c:v>
                  </c:pt>
                </c:lvl>
              </c:multiLvlStrCache>
            </c:multiLvlStrRef>
          </c:cat>
          <c:val>
            <c:numRef>
              <c:f>Sheet1!$B$2:$B$4</c:f>
              <c:numCache>
                <c:formatCode>General</c:formatCode>
                <c:ptCount val="3"/>
                <c:pt idx="0">
                  <c:v>1</c:v>
                </c:pt>
                <c:pt idx="1">
                  <c:v>6.25</c:v>
                </c:pt>
                <c:pt idx="2">
                  <c:v>25</c:v>
                </c:pt>
              </c:numCache>
            </c:numRef>
          </c:val>
        </c:ser>
        <c:dLbls>
          <c:numFmt formatCode="0&quot;×&quot;" sourceLinked="0"/>
          <c:txPr>
            <a:bodyPr/>
            <a:lstStyle/>
            <a:p>
              <a:pPr>
                <a:defRPr b="1" i="0" strike="noStrike" sz="16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5A5A5A"/>
                </a:solidFill>
                <a:latin typeface="+mn-lt"/>
              </a:defRPr>
            </a:pPr>
            <a:endParaRPr lang="en-US"/>
          </a:p>
        </c:txPr>
        <c:crossAx val="2094734552"/>
        <c:crosses val="autoZero"/>
        <c:auto val="1"/>
        <c:lblAlgn val="ctr"/>
        <c:noMultiLvlLbl val="1"/>
      </c:catAx>
      <c:valAx>
        <c:axId val="2094734552"/>
        <c:scaling>
          <c:orientation val="minMax"/>
          <c:max val="2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Hi! Today: how a data structure can make a program fit the hardware. The example is simdjson, a JSON parser that runs at gigabytes per second. Notice the black characters in this JSON string: keep an eye on them; they're the whole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Superscalar means the core can start more than one instruction per clock cycle. Here's a tiny RISC-V loop that counts commas without branching on the data: load a byte, bump the pointer, decrement the counter, compare against 44 (a comma), turn that into 0 or 1, and add it to the total. On the right is a toy core: two ALUs, one load port, one branch unit. A simple scalar core does one instruction per cycle, so 7 cycles per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Cycle 1: the load and the two addi instructions are independent, so they all go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Cycle 2: here's the important part. The branch at the bottom hasn't even resolved yet, but the predictor guesses 'taken', so the core is already fetching and running iteration 2 (the dashed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Cycle 3: instructions run as soon as their inputs are ready, out of program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Cycle 4: iteration 1 is done, and iteration 2 is mostly done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14 instructions in 6 cycles. Real cores are 4 to 8+ wide. But all of this relies on the branch predictor being right. If it guessed wrong, everything from iteration 2 gets thrown away. Keep that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So why is this good for processing data? A superscalar core is a guessing machine: it runs ahead on predictions. If the work is uniform (the same small check on every element), the predictor is basically always right and the core stays busy. If your code branches on the data itself (is this a quote? am I inside a string? is this a key or a value?), it guesses wrong regularly, and every wrong guess throws away 10 to 20 cycles of in-flight work. It's the same reason GPUs are great at batch work: identical operations over lots of data. So the lesson: turn your problem into a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simdjson is a C++ JSON parser by Geoff Langdale and Daniel Lemire. Their headline claim: about 4x faster than RapidJSON and 25x faster than nlohmann's JSON for Modern C++, using about three quarters fewer instructions than the state of the art. It's not a toy: Node.js uses it internally to read package.json files and for node --run, and it's inside ClickHouse, Velox, Doris, and many others. And for this room: since January 2026 it has a RISC-V Vector backend. So how does it do it? Let's take a detour through high-school math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Here's an expression from high-school algebra: 2a + 3b + 2c + 3d + 2e. Computed left to right, that's five multiplications, and we keep switching between 'times 2' and 'times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Step one, commutativity: addition doesn't care about order, so group the like terms. Nothing got cheaper yet, but the work now has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Step two, distributivity: factor out the common work. Now it's two multiplications and a uniform run of additions. You've all done this. simdjson does exactly this to a parser: reorder the work so the cheap, uniform part happens in one batch, and the expensive part happens rarely.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Here's the parser you'd write first. One pass, character by character, and for each one we decide what it means right away: open an object, start a string, feed a value into a key/value state machine. The problem: a lot of interpreting happens per character, and every 'what state am I in' check is a branch that depends on the data. That's exactly what the branch predictor is bad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First transformation: separate finding from interpreting. The loop now just records the index of each interesting character; build() turns those positions into objects afterwards. But look at which branch is taken most of the time: the default case. Ordinary characters inside strings and numbers. We still go one character at a time through a 7-way match for every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Next: check for the boring case first and skip it. You might notice this does the same thing as before, plus an extra membership test, so it's a little slower. But it's the reorder step from the algebra: the common, cheap test is now separated from the rare, expensive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And here's the factoring step. Split the loop in two. Pass 1 does nothing but the tiny test and writes down positions: that's the structural index. Pass 2 walks only those positions, so all the ordinary characters are skipped entirely. Pass 1 has the shape the hardware likes: same small operation, every byte, in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This is what pass 1 produces. Every byte gets a yes or no, and the yes positions go into a flat array of integers. That array is the data structure the talk title is about: no tree, no state machine. Building it is a pure batch job, and pass 2 never looks at the bytes in between. Real simdjson also ignores structural characters inside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optional] Here's what the 'SIMD' in simdjson means for pass 1. Instead of one byte at a time, take 64 bytes and build a 64-bit mask: bit i is 1 if byte i is structural. In Python that's a loop, but in hardware it's a handful of SIMD compares with no branches, and each byte is independent. Then turn the bits into positions: count trailing zeros gives the next structural byte, and mask AND mask-minus-one clears that bit. On RISC-V, ctz is in Zbb. The remaining while loop runs once per structural character, and its exit is hard to predict, so simdjson writes 8 positions unconditionally and just advances the output by the popcount.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optional and maybe out of scope] How do you test 'is this one of seven characters' for 64 bytes without seven compares? Split each byte into its high and low nibble and look each up in a 16-entry table. Each table entry is a small bit set, and the byte is structural if the two lookups share a bit. Brackets and braces are group 1, the quote and comma are group 2, and the colon gets its own group, 4. The grid shows why groups are needed: plus is 0x2B, so its high nibble matches comma and its low nibble matches brace, but they don't share a bit, so it's rejected. In SIMD that's two table lookups and an AND for all 64 bytes: vrgather on RVV, pshufb on x86, tbl on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main takeaway: in a JSON document, the non-structural tokens (the strings, numbers and keys) are the majority, and they're what makes a parser slow, because a parser that walks byte by byte pushes every one of them through its state machine. Once the structural characters are indexed, the second pass can skip from structure to structure with a lightweight state machine and never touch the bytes in between. And building that index is fast because it fits the superscalar core: every byte is independent, so many instructions run per cycle; it uses bit masks instead of branches, so speculation doesn't get thrown away; and it's the same work on lots of data, so SIMD does 64 bytes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11064240" cy="146304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2788920"/>
            <a:ext cx="11064240" cy="640080"/>
          </a:xfrm>
          <a:prstGeom prst="rect">
            <a:avLst/>
          </a:prstGeom>
          <a:noFill/>
          <a:ln/>
        </p:spPr>
        <p:txBody>
          <a:bodyPr wrap="square" rtlCol="0"/>
          <a:lstStyle>
            <a:lvl1pPr algn="l" indent="0" marL="0">
              <a:buNone/>
              <a:defRPr lang="en-US" sz="2400" dirty="0">
                <a:solidFill>
                  <a:schemeClr val="tx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RISC-V Ottawa  ·  simdjson &amp; superscalar execution</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11064240" cy="1463040"/>
          </a:xfrm>
          <a:prstGeom prst="rect">
            <a:avLst/>
          </a:prstGeom>
          <a:noFill/>
          <a:ln/>
        </p:spPr>
        <p:txBody>
          <a:bodyPr wrap="square" lIns="0" tIns="0" rIns="0" bIns="0" rtlCol="0" anchor="b"/>
          <a:lstStyle/>
          <a:p>
            <a:pPr algn="l" indent="0" marL="0">
              <a:buNone/>
            </a:pPr>
            <a:r>
              <a:rPr lang="en-US" sz="4800" b="1" dirty="0">
                <a:solidFill>
                  <a:schemeClr val="tx1"/>
                </a:solidFill>
              </a:rPr>
              <a:t>Data Structures for Superscalar Execution</a:t>
            </a:r>
            <a:endParaRPr lang="en-US" sz="4800" dirty="0"/>
          </a:p>
        </p:txBody>
      </p:sp>
      <p:sp>
        <p:nvSpPr>
          <p:cNvPr id="3" name="Text 0"/>
          <p:cNvSpPr/>
          <p:nvPr>
            <p:ph idx="101" type="body" hasCustomPrompt="1"/>
          </p:nvPr>
        </p:nvSpPr>
        <p:spPr>
          <a:xfrm>
            <a:off x="548640" y="2788920"/>
            <a:ext cx="11064240" cy="640080"/>
          </a:xfrm>
          <a:prstGeom prst="rect">
            <a:avLst/>
          </a:prstGeom>
          <a:noFill/>
          <a:ln/>
        </p:spPr>
        <p:txBody>
          <a:bodyPr wrap="square" lIns="0" tIns="0" rIns="0" bIns="0" rtlCol="0" anchor="t"/>
          <a:lstStyle/>
          <a:p>
            <a:pPr algn="l" indent="0" marL="0">
              <a:buNone/>
            </a:pPr>
            <a:r>
              <a:rPr lang="en-US" sz="2400" dirty="0">
                <a:solidFill>
                  <a:schemeClr val="tx2"/>
                </a:solidFill>
              </a:rPr>
              <a:t>How simdjson turns a JSON parser into a batch job</a:t>
            </a:r>
            <a:endParaRPr lang="en-US" sz="2400" dirty="0"/>
          </a:p>
        </p:txBody>
      </p:sp>
      <p:sp>
        <p:nvSpPr>
          <p:cNvPr id="4" name="tile0"/>
          <p:cNvSpPr txBox="1"/>
          <p:nvPr/>
        </p:nvSpPr>
        <p:spPr>
          <a:xfrm>
            <a:off x="54864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ile1"/>
          <p:cNvSpPr txBox="1"/>
          <p:nvPr/>
        </p:nvSpPr>
        <p:spPr>
          <a:xfrm>
            <a:off x="839419"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 name="tile2"/>
          <p:cNvSpPr txBox="1"/>
          <p:nvPr/>
        </p:nvSpPr>
        <p:spPr>
          <a:xfrm>
            <a:off x="113019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7" name="tile3"/>
          <p:cNvSpPr txBox="1"/>
          <p:nvPr/>
        </p:nvSpPr>
        <p:spPr>
          <a:xfrm>
            <a:off x="142097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p</a:t>
            </a:r>
            <a:endParaRPr lang="en-US" sz="1400" dirty="0"/>
          </a:p>
        </p:txBody>
      </p:sp>
      <p:sp>
        <p:nvSpPr>
          <p:cNvPr id="8" name="tile4"/>
          <p:cNvSpPr txBox="1"/>
          <p:nvPr/>
        </p:nvSpPr>
        <p:spPr>
          <a:xfrm>
            <a:off x="1711757"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u</a:t>
            </a:r>
            <a:endParaRPr lang="en-US" sz="1400" dirty="0"/>
          </a:p>
        </p:txBody>
      </p:sp>
      <p:sp>
        <p:nvSpPr>
          <p:cNvPr id="9" name="tile5"/>
          <p:cNvSpPr txBox="1"/>
          <p:nvPr/>
        </p:nvSpPr>
        <p:spPr>
          <a:xfrm>
            <a:off x="2002536"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0" name="tile6"/>
          <p:cNvSpPr txBox="1"/>
          <p:nvPr/>
        </p:nvSpPr>
        <p:spPr>
          <a:xfrm>
            <a:off x="2293315"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1" name="tile7"/>
          <p:cNvSpPr txBox="1"/>
          <p:nvPr/>
        </p:nvSpPr>
        <p:spPr>
          <a:xfrm>
            <a:off x="2584094"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2" name="tile8"/>
          <p:cNvSpPr txBox="1"/>
          <p:nvPr/>
        </p:nvSpPr>
        <p:spPr>
          <a:xfrm>
            <a:off x="287487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r</a:t>
            </a:r>
            <a:endParaRPr lang="en-US" sz="1400" dirty="0"/>
          </a:p>
        </p:txBody>
      </p:sp>
      <p:sp>
        <p:nvSpPr>
          <p:cNvPr id="13" name="tile9"/>
          <p:cNvSpPr txBox="1"/>
          <p:nvPr/>
        </p:nvSpPr>
        <p:spPr>
          <a:xfrm>
            <a:off x="3165653"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14" name="tile10"/>
          <p:cNvSpPr txBox="1"/>
          <p:nvPr/>
        </p:nvSpPr>
        <p:spPr>
          <a:xfrm>
            <a:off x="3456432"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15" name="tile11"/>
          <p:cNvSpPr txBox="1"/>
          <p:nvPr/>
        </p:nvSpPr>
        <p:spPr>
          <a:xfrm>
            <a:off x="3747211"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16" name="tile12"/>
          <p:cNvSpPr txBox="1"/>
          <p:nvPr/>
        </p:nvSpPr>
        <p:spPr>
          <a:xfrm>
            <a:off x="4037990"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v</a:t>
            </a:r>
            <a:endParaRPr lang="en-US" sz="1400" dirty="0"/>
          </a:p>
        </p:txBody>
      </p:sp>
      <p:sp>
        <p:nvSpPr>
          <p:cNvPr id="17" name="tile13"/>
          <p:cNvSpPr txBox="1"/>
          <p:nvPr/>
        </p:nvSpPr>
        <p:spPr>
          <a:xfrm>
            <a:off x="432877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8" name="tile14"/>
          <p:cNvSpPr txBox="1"/>
          <p:nvPr/>
        </p:nvSpPr>
        <p:spPr>
          <a:xfrm>
            <a:off x="4619549"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9" name="tile15"/>
          <p:cNvSpPr txBox="1"/>
          <p:nvPr/>
        </p:nvSpPr>
        <p:spPr>
          <a:xfrm>
            <a:off x="4910328"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0" name="tile16"/>
          <p:cNvSpPr txBox="1"/>
          <p:nvPr/>
        </p:nvSpPr>
        <p:spPr>
          <a:xfrm>
            <a:off x="5201107"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21" name="tile17"/>
          <p:cNvSpPr txBox="1"/>
          <p:nvPr/>
        </p:nvSpPr>
        <p:spPr>
          <a:xfrm>
            <a:off x="5491886"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22" name="tile18"/>
          <p:cNvSpPr txBox="1"/>
          <p:nvPr/>
        </p:nvSpPr>
        <p:spPr>
          <a:xfrm>
            <a:off x="5782666"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g</a:t>
            </a:r>
            <a:endParaRPr lang="en-US" sz="1400" dirty="0"/>
          </a:p>
        </p:txBody>
      </p:sp>
      <p:sp>
        <p:nvSpPr>
          <p:cNvPr id="23" name="tile19"/>
          <p:cNvSpPr txBox="1"/>
          <p:nvPr/>
        </p:nvSpPr>
        <p:spPr>
          <a:xfrm>
            <a:off x="6073445"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24" name="tile20"/>
          <p:cNvSpPr txBox="1"/>
          <p:nvPr/>
        </p:nvSpPr>
        <p:spPr>
          <a:xfrm>
            <a:off x="6364224"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5" name="tile21"/>
          <p:cNvSpPr txBox="1"/>
          <p:nvPr/>
        </p:nvSpPr>
        <p:spPr>
          <a:xfrm>
            <a:off x="6655003"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6" name="tile22"/>
          <p:cNvSpPr txBox="1"/>
          <p:nvPr/>
        </p:nvSpPr>
        <p:spPr>
          <a:xfrm>
            <a:off x="694578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7" name="tile23"/>
          <p:cNvSpPr txBox="1"/>
          <p:nvPr/>
        </p:nvSpPr>
        <p:spPr>
          <a:xfrm>
            <a:off x="723656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8" name="tile24"/>
          <p:cNvSpPr txBox="1"/>
          <p:nvPr/>
        </p:nvSpPr>
        <p:spPr>
          <a:xfrm>
            <a:off x="7527341"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f</a:t>
            </a:r>
            <a:endParaRPr lang="en-US" sz="1400" dirty="0"/>
          </a:p>
        </p:txBody>
      </p:sp>
      <p:sp>
        <p:nvSpPr>
          <p:cNvPr id="29" name="tile25"/>
          <p:cNvSpPr txBox="1"/>
          <p:nvPr/>
        </p:nvSpPr>
        <p:spPr>
          <a:xfrm>
            <a:off x="7818120"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30" name="tile26"/>
          <p:cNvSpPr txBox="1"/>
          <p:nvPr/>
        </p:nvSpPr>
        <p:spPr>
          <a:xfrm>
            <a:off x="8108899"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31" name="tile27"/>
          <p:cNvSpPr txBox="1"/>
          <p:nvPr/>
        </p:nvSpPr>
        <p:spPr>
          <a:xfrm>
            <a:off x="839967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32" name="tile28"/>
          <p:cNvSpPr txBox="1"/>
          <p:nvPr/>
        </p:nvSpPr>
        <p:spPr>
          <a:xfrm>
            <a:off x="8690458"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3" name="tile29"/>
          <p:cNvSpPr txBox="1"/>
          <p:nvPr/>
        </p:nvSpPr>
        <p:spPr>
          <a:xfrm>
            <a:off x="8981237"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4" name="tile30"/>
          <p:cNvSpPr txBox="1"/>
          <p:nvPr/>
        </p:nvSpPr>
        <p:spPr>
          <a:xfrm>
            <a:off x="9272016"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5" name="tile31"/>
          <p:cNvSpPr txBox="1"/>
          <p:nvPr/>
        </p:nvSpPr>
        <p:spPr>
          <a:xfrm>
            <a:off x="9562795"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36" name="tile32"/>
          <p:cNvSpPr txBox="1"/>
          <p:nvPr/>
        </p:nvSpPr>
        <p:spPr>
          <a:xfrm>
            <a:off x="985357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37" name="tile33"/>
          <p:cNvSpPr txBox="1"/>
          <p:nvPr/>
        </p:nvSpPr>
        <p:spPr>
          <a:xfrm>
            <a:off x="1014435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m</a:t>
            </a:r>
            <a:endParaRPr lang="en-US" sz="1400" dirty="0"/>
          </a:p>
        </p:txBody>
      </p:sp>
      <p:sp>
        <p:nvSpPr>
          <p:cNvPr id="38" name="tile34"/>
          <p:cNvSpPr txBox="1"/>
          <p:nvPr/>
        </p:nvSpPr>
        <p:spPr>
          <a:xfrm>
            <a:off x="10435133"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d</a:t>
            </a:r>
            <a:endParaRPr lang="en-US" sz="1400" dirty="0"/>
          </a:p>
        </p:txBody>
      </p:sp>
      <p:sp>
        <p:nvSpPr>
          <p:cNvPr id="39" name="tile35"/>
          <p:cNvSpPr txBox="1"/>
          <p:nvPr/>
        </p:nvSpPr>
        <p:spPr>
          <a:xfrm>
            <a:off x="1072591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0" name="tile36"/>
          <p:cNvSpPr txBox="1"/>
          <p:nvPr/>
        </p:nvSpPr>
        <p:spPr>
          <a:xfrm>
            <a:off x="11016691"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1" name="tile37"/>
          <p:cNvSpPr txBox="1"/>
          <p:nvPr/>
        </p:nvSpPr>
        <p:spPr>
          <a:xfrm>
            <a:off x="1130747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2" name="Text 40"/>
          <p:cNvSpPr txBox="1"/>
          <p:nvPr/>
        </p:nvSpPr>
        <p:spPr>
          <a:xfrm>
            <a:off x="548640" y="5989320"/>
            <a:ext cx="7315200" cy="365760"/>
          </a:xfrm>
          <a:prstGeom prst="rect">
            <a:avLst/>
          </a:prstGeom>
          <a:noFill/>
          <a:ln/>
        </p:spPr>
        <p:txBody>
          <a:bodyPr wrap="square" lIns="0" tIns="0" rIns="0" bIns="0" rtlCol="0" anchor="ctr"/>
          <a:lstStyle/>
          <a:p>
            <a:pPr indent="0" marL="0">
              <a:buNone/>
            </a:pPr>
            <a:r>
              <a:rPr lang="en-US" sz="1600" dirty="0">
                <a:solidFill>
                  <a:schemeClr val="tx2"/>
                </a:solidFill>
              </a:rPr>
              <a:t>RISC-V Ottawa Meetup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A1"/>
          <p:cNvSpPr txBox="1"/>
          <p:nvPr/>
        </p:nvSpPr>
        <p:spPr>
          <a:xfrm>
            <a:off x="548640" y="178308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lbu  t0,0(a0)</a:t>
            </a:r>
            <a:endParaRPr lang="en-US" sz="1000" dirty="0"/>
          </a:p>
        </p:txBody>
      </p:sp>
      <p:sp>
        <p:nvSpPr>
          <p:cNvPr id="40" name="!!B1"/>
          <p:cNvSpPr txBox="1"/>
          <p:nvPr/>
        </p:nvSpPr>
        <p:spPr>
          <a:xfrm>
            <a:off x="548640" y="219456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addi a0,a0,1</a:t>
            </a:r>
            <a:endParaRPr lang="en-US" sz="1000" dirty="0"/>
          </a:p>
        </p:txBody>
      </p:sp>
      <p:sp>
        <p:nvSpPr>
          <p:cNvPr id="41" name="!!C1"/>
          <p:cNvSpPr txBox="1"/>
          <p:nvPr/>
        </p:nvSpPr>
        <p:spPr>
          <a:xfrm>
            <a:off x="548640" y="260604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addi a1,a1,-1</a:t>
            </a:r>
            <a:endParaRPr lang="en-US" sz="1000" dirty="0"/>
          </a:p>
        </p:txBody>
      </p:sp>
      <p:sp>
        <p:nvSpPr>
          <p:cNvPr id="42" name="!!D1"/>
          <p:cNvSpPr txBox="1"/>
          <p:nvPr/>
        </p:nvSpPr>
        <p:spPr>
          <a:xfrm>
            <a:off x="548640" y="301752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xori t1,t0,44</a:t>
            </a:r>
            <a:endParaRPr lang="en-US" sz="1000" dirty="0"/>
          </a:p>
        </p:txBody>
      </p:sp>
      <p:sp>
        <p:nvSpPr>
          <p:cNvPr id="43" name="!!E1"/>
          <p:cNvSpPr txBox="1"/>
          <p:nvPr/>
        </p:nvSpPr>
        <p:spPr>
          <a:xfrm>
            <a:off x="548640" y="342900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seqz t1,t1</a:t>
            </a:r>
            <a:endParaRPr lang="en-US" sz="1000" dirty="0"/>
          </a:p>
        </p:txBody>
      </p:sp>
      <p:sp>
        <p:nvSpPr>
          <p:cNvPr id="44" name="!!F1"/>
          <p:cNvSpPr txBox="1"/>
          <p:nvPr/>
        </p:nvSpPr>
        <p:spPr>
          <a:xfrm>
            <a:off x="548640" y="384048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  s0,s0,t1</a:t>
            </a:r>
            <a:endParaRPr lang="en-US" sz="1000" dirty="0"/>
          </a:p>
        </p:txBody>
      </p:sp>
      <p:sp>
        <p:nvSpPr>
          <p:cNvPr id="45" name="!!G1"/>
          <p:cNvSpPr txBox="1"/>
          <p:nvPr/>
        </p:nvSpPr>
        <p:spPr>
          <a:xfrm>
            <a:off x="548640" y="425196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bnez a1,loop</a:t>
            </a:r>
            <a:endParaRPr lang="en-US" sz="1000" dirty="0"/>
          </a:p>
        </p:txBody>
      </p:sp>
      <p:sp>
        <p:nvSpPr>
          <p:cNvPr id="46" name="!!A2"/>
          <p:cNvSpPr txBox="1"/>
          <p:nvPr/>
        </p:nvSpPr>
        <p:spPr>
          <a:xfrm>
            <a:off x="1783080" y="17830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lbu  t0,0(a0)</a:t>
            </a:r>
            <a:endParaRPr lang="en-US" sz="1000" dirty="0"/>
          </a:p>
        </p:txBody>
      </p:sp>
      <p:sp>
        <p:nvSpPr>
          <p:cNvPr id="47" name="!!B2"/>
          <p:cNvSpPr txBox="1"/>
          <p:nvPr/>
        </p:nvSpPr>
        <p:spPr>
          <a:xfrm>
            <a:off x="1783080" y="21945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addi a0,a0,1</a:t>
            </a:r>
            <a:endParaRPr lang="en-US" sz="1000" dirty="0"/>
          </a:p>
        </p:txBody>
      </p:sp>
      <p:sp>
        <p:nvSpPr>
          <p:cNvPr id="48" name="!!C2"/>
          <p:cNvSpPr txBox="1"/>
          <p:nvPr/>
        </p:nvSpPr>
        <p:spPr>
          <a:xfrm>
            <a:off x="1783080" y="260604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addi a1,a1,-1</a:t>
            </a:r>
            <a:endParaRPr lang="en-US" sz="1000" dirty="0"/>
          </a:p>
        </p:txBody>
      </p:sp>
      <p:sp>
        <p:nvSpPr>
          <p:cNvPr id="49" name="!!D2"/>
          <p:cNvSpPr txBox="1"/>
          <p:nvPr/>
        </p:nvSpPr>
        <p:spPr>
          <a:xfrm>
            <a:off x="1783080" y="301752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xori t1,t0,44</a:t>
            </a:r>
            <a:endParaRPr lang="en-US" sz="1000" dirty="0"/>
          </a:p>
        </p:txBody>
      </p:sp>
      <p:sp>
        <p:nvSpPr>
          <p:cNvPr id="50" name="!!E2"/>
          <p:cNvSpPr txBox="1"/>
          <p:nvPr/>
        </p:nvSpPr>
        <p:spPr>
          <a:xfrm>
            <a:off x="1783080" y="342900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seqz t1,t1</a:t>
            </a:r>
            <a:endParaRPr lang="en-US" sz="1000" dirty="0"/>
          </a:p>
        </p:txBody>
      </p:sp>
      <p:sp>
        <p:nvSpPr>
          <p:cNvPr id="51" name="!!F2"/>
          <p:cNvSpPr txBox="1"/>
          <p:nvPr/>
        </p:nvSpPr>
        <p:spPr>
          <a:xfrm>
            <a:off x="1783080" y="38404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  s0,s0,t1</a:t>
            </a:r>
            <a:endParaRPr lang="en-US" sz="1000" dirty="0"/>
          </a:p>
        </p:txBody>
      </p:sp>
      <p:sp>
        <p:nvSpPr>
          <p:cNvPr id="52" name="!!G2"/>
          <p:cNvSpPr txBox="1"/>
          <p:nvPr/>
        </p:nvSpPr>
        <p:spPr>
          <a:xfrm>
            <a:off x="1783080" y="42519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bnez a1,loop</a:t>
            </a:r>
            <a:endParaRPr lang="en-US" sz="1000" dirty="0"/>
          </a:p>
        </p:txBody>
      </p:sp>
      <p:sp>
        <p:nvSpPr>
          <p:cNvPr id="53" name="Shape 51"/>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4" name="Text 52"/>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5" name="Shape 53"/>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6" name="Text 54"/>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7" name="Shape 55"/>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8" name="Text 56"/>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59" name="Shape 57"/>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0" name="Text 58"/>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1"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A branch-free loop that counts commas: 7 RISC-V instructions per iteration. A scalar core issues them one per cycle, 7 cycles per iteration.</a:t>
            </a:r>
            <a:endParaRPr lang="en-US" sz="2000" dirty="0"/>
          </a:p>
        </p:txBody>
      </p:sp>
      <p:sp>
        <p:nvSpPr>
          <p:cNvPr id="62"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0/14</a:t>
            </a:r>
            <a:endParaRPr lang="en-US" sz="4000" dirty="0"/>
          </a:p>
        </p:txBody>
      </p:sp>
      <p:sp>
        <p:nvSpPr>
          <p:cNvPr id="63"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0 cycles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curcol"/>
          <p:cNvSpPr/>
          <p:nvPr/>
        </p:nvSpPr>
        <p:spPr>
          <a:xfrm>
            <a:off x="4160520" y="1764792"/>
            <a:ext cx="1243584" cy="2304288"/>
          </a:xfrm>
          <a:prstGeom prst="rect">
            <a:avLst/>
          </a:prstGeom>
          <a:ln w="25400">
            <a:solidFill>
              <a:schemeClr val="accent1"/>
            </a:solidFill>
            <a:prstDash val="solid"/>
          </a:ln>
        </p:spPr>
      </p:sp>
      <p:sp>
        <p:nvSpPr>
          <p:cNvPr id="40" name="!!A1"/>
          <p:cNvSpPr txBox="1"/>
          <p:nvPr/>
        </p:nvSpPr>
        <p:spPr>
          <a:xfrm>
            <a:off x="4233672" y="3035808"/>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lbu  t0,0(a0)</a:t>
            </a:r>
            <a:endParaRPr lang="en-US" sz="1000" dirty="0"/>
          </a:p>
        </p:txBody>
      </p:sp>
      <p:sp>
        <p:nvSpPr>
          <p:cNvPr id="41" name="!!B1"/>
          <p:cNvSpPr txBox="1"/>
          <p:nvPr/>
        </p:nvSpPr>
        <p:spPr>
          <a:xfrm>
            <a:off x="4233672"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addi a0,a0,1</a:t>
            </a:r>
            <a:endParaRPr lang="en-US" sz="1000" dirty="0"/>
          </a:p>
        </p:txBody>
      </p:sp>
      <p:sp>
        <p:nvSpPr>
          <p:cNvPr id="42" name="!!C1"/>
          <p:cNvSpPr txBox="1"/>
          <p:nvPr/>
        </p:nvSpPr>
        <p:spPr>
          <a:xfrm>
            <a:off x="4233672" y="2468880"/>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addi a1,a1,-1</a:t>
            </a:r>
            <a:endParaRPr lang="en-US" sz="1000" dirty="0"/>
          </a:p>
        </p:txBody>
      </p:sp>
      <p:sp>
        <p:nvSpPr>
          <p:cNvPr id="43" name="!!D1"/>
          <p:cNvSpPr txBox="1"/>
          <p:nvPr/>
        </p:nvSpPr>
        <p:spPr>
          <a:xfrm>
            <a:off x="548640" y="301752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xori t1,t0,44</a:t>
            </a:r>
            <a:endParaRPr lang="en-US" sz="1000" dirty="0"/>
          </a:p>
        </p:txBody>
      </p:sp>
      <p:sp>
        <p:nvSpPr>
          <p:cNvPr id="44" name="!!E1"/>
          <p:cNvSpPr txBox="1"/>
          <p:nvPr/>
        </p:nvSpPr>
        <p:spPr>
          <a:xfrm>
            <a:off x="548640" y="342900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seqz t1,t1</a:t>
            </a:r>
            <a:endParaRPr lang="en-US" sz="1000" dirty="0"/>
          </a:p>
        </p:txBody>
      </p:sp>
      <p:sp>
        <p:nvSpPr>
          <p:cNvPr id="45" name="!!F1"/>
          <p:cNvSpPr txBox="1"/>
          <p:nvPr/>
        </p:nvSpPr>
        <p:spPr>
          <a:xfrm>
            <a:off x="548640" y="384048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  s0,s0,t1</a:t>
            </a:r>
            <a:endParaRPr lang="en-US" sz="1000" dirty="0"/>
          </a:p>
        </p:txBody>
      </p:sp>
      <p:sp>
        <p:nvSpPr>
          <p:cNvPr id="46" name="!!G1"/>
          <p:cNvSpPr txBox="1"/>
          <p:nvPr/>
        </p:nvSpPr>
        <p:spPr>
          <a:xfrm>
            <a:off x="548640" y="425196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bnez a1,loop</a:t>
            </a:r>
            <a:endParaRPr lang="en-US" sz="1000" dirty="0"/>
          </a:p>
        </p:txBody>
      </p:sp>
      <p:sp>
        <p:nvSpPr>
          <p:cNvPr id="47" name="!!A2"/>
          <p:cNvSpPr txBox="1"/>
          <p:nvPr/>
        </p:nvSpPr>
        <p:spPr>
          <a:xfrm>
            <a:off x="1783080" y="17830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lbu  t0,0(a0)</a:t>
            </a:r>
            <a:endParaRPr lang="en-US" sz="1000" dirty="0"/>
          </a:p>
        </p:txBody>
      </p:sp>
      <p:sp>
        <p:nvSpPr>
          <p:cNvPr id="48" name="!!B2"/>
          <p:cNvSpPr txBox="1"/>
          <p:nvPr/>
        </p:nvSpPr>
        <p:spPr>
          <a:xfrm>
            <a:off x="1783080" y="21945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addi a0,a0,1</a:t>
            </a:r>
            <a:endParaRPr lang="en-US" sz="1000" dirty="0"/>
          </a:p>
        </p:txBody>
      </p:sp>
      <p:sp>
        <p:nvSpPr>
          <p:cNvPr id="49" name="!!C2"/>
          <p:cNvSpPr txBox="1"/>
          <p:nvPr/>
        </p:nvSpPr>
        <p:spPr>
          <a:xfrm>
            <a:off x="1783080" y="260604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addi a1,a1,-1</a:t>
            </a:r>
            <a:endParaRPr lang="en-US" sz="1000" dirty="0"/>
          </a:p>
        </p:txBody>
      </p:sp>
      <p:sp>
        <p:nvSpPr>
          <p:cNvPr id="50" name="!!D2"/>
          <p:cNvSpPr txBox="1"/>
          <p:nvPr/>
        </p:nvSpPr>
        <p:spPr>
          <a:xfrm>
            <a:off x="1783080" y="301752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xori t1,t0,44</a:t>
            </a:r>
            <a:endParaRPr lang="en-US" sz="1000" dirty="0"/>
          </a:p>
        </p:txBody>
      </p:sp>
      <p:sp>
        <p:nvSpPr>
          <p:cNvPr id="51" name="!!E2"/>
          <p:cNvSpPr txBox="1"/>
          <p:nvPr/>
        </p:nvSpPr>
        <p:spPr>
          <a:xfrm>
            <a:off x="1783080" y="342900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seqz t1,t1</a:t>
            </a:r>
            <a:endParaRPr lang="en-US" sz="1000" dirty="0"/>
          </a:p>
        </p:txBody>
      </p:sp>
      <p:sp>
        <p:nvSpPr>
          <p:cNvPr id="52" name="!!F2"/>
          <p:cNvSpPr txBox="1"/>
          <p:nvPr/>
        </p:nvSpPr>
        <p:spPr>
          <a:xfrm>
            <a:off x="1783080" y="38404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  s0,s0,t1</a:t>
            </a:r>
            <a:endParaRPr lang="en-US" sz="1000" dirty="0"/>
          </a:p>
        </p:txBody>
      </p:sp>
      <p:sp>
        <p:nvSpPr>
          <p:cNvPr id="53" name="!!G2"/>
          <p:cNvSpPr txBox="1"/>
          <p:nvPr/>
        </p:nvSpPr>
        <p:spPr>
          <a:xfrm>
            <a:off x="1783080" y="42519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bnez a1,loop</a:t>
            </a:r>
            <a:endParaRPr lang="en-US" sz="1000" dirty="0"/>
          </a:p>
        </p:txBody>
      </p:sp>
      <p:sp>
        <p:nvSpPr>
          <p:cNvPr id="54" name="Shape 52"/>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5" name="Text 53"/>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6" name="Shape 54"/>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7" name="Text 55"/>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8" name="Shape 56"/>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9" name="Text 57"/>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60" name="Shape 58"/>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1" name="Text 59"/>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2"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Cycle 1: lbu and the two addi don't depend on each other, so all three issue together.</a:t>
            </a:r>
            <a:endParaRPr lang="en-US" sz="2000" dirty="0"/>
          </a:p>
        </p:txBody>
      </p:sp>
      <p:sp>
        <p:nvSpPr>
          <p:cNvPr id="63"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3/14</a:t>
            </a:r>
            <a:endParaRPr lang="en-US" sz="4000" dirty="0"/>
          </a:p>
        </p:txBody>
      </p:sp>
      <p:sp>
        <p:nvSpPr>
          <p:cNvPr id="64"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1 cycle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curcol"/>
          <p:cNvSpPr/>
          <p:nvPr/>
        </p:nvSpPr>
        <p:spPr>
          <a:xfrm>
            <a:off x="5404104" y="1764792"/>
            <a:ext cx="1243584" cy="2304288"/>
          </a:xfrm>
          <a:prstGeom prst="rect">
            <a:avLst/>
          </a:prstGeom>
          <a:ln w="25400">
            <a:solidFill>
              <a:schemeClr val="accent1"/>
            </a:solidFill>
            <a:prstDash val="solid"/>
          </a:ln>
        </p:spPr>
      </p:sp>
      <p:sp>
        <p:nvSpPr>
          <p:cNvPr id="40" name="!!A1"/>
          <p:cNvSpPr txBox="1"/>
          <p:nvPr/>
        </p:nvSpPr>
        <p:spPr>
          <a:xfrm>
            <a:off x="4233672"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1" name="!!B1"/>
          <p:cNvSpPr txBox="1"/>
          <p:nvPr/>
        </p:nvSpPr>
        <p:spPr>
          <a:xfrm>
            <a:off x="4233672"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2" name="!!C1"/>
          <p:cNvSpPr txBox="1"/>
          <p:nvPr/>
        </p:nvSpPr>
        <p:spPr>
          <a:xfrm>
            <a:off x="4233672"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43" name="!!D1"/>
          <p:cNvSpPr txBox="1"/>
          <p:nvPr/>
        </p:nvSpPr>
        <p:spPr>
          <a:xfrm>
            <a:off x="5477256"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xori t1,t0,44</a:t>
            </a:r>
            <a:endParaRPr lang="en-US" sz="1000" dirty="0"/>
          </a:p>
        </p:txBody>
      </p:sp>
      <p:sp>
        <p:nvSpPr>
          <p:cNvPr id="44" name="!!E1"/>
          <p:cNvSpPr txBox="1"/>
          <p:nvPr/>
        </p:nvSpPr>
        <p:spPr>
          <a:xfrm>
            <a:off x="548640" y="342900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seqz t1,t1</a:t>
            </a:r>
            <a:endParaRPr lang="en-US" sz="1000" dirty="0"/>
          </a:p>
        </p:txBody>
      </p:sp>
      <p:sp>
        <p:nvSpPr>
          <p:cNvPr id="45" name="!!F1"/>
          <p:cNvSpPr txBox="1"/>
          <p:nvPr/>
        </p:nvSpPr>
        <p:spPr>
          <a:xfrm>
            <a:off x="548640" y="384048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  s0,s0,t1</a:t>
            </a:r>
            <a:endParaRPr lang="en-US" sz="1000" dirty="0"/>
          </a:p>
        </p:txBody>
      </p:sp>
      <p:sp>
        <p:nvSpPr>
          <p:cNvPr id="46" name="!!G1"/>
          <p:cNvSpPr txBox="1"/>
          <p:nvPr/>
        </p:nvSpPr>
        <p:spPr>
          <a:xfrm>
            <a:off x="5477256" y="3602736"/>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bnez a1,loop</a:t>
            </a:r>
            <a:endParaRPr lang="en-US" sz="1000" dirty="0"/>
          </a:p>
        </p:txBody>
      </p:sp>
      <p:sp>
        <p:nvSpPr>
          <p:cNvPr id="47" name="!!A2"/>
          <p:cNvSpPr txBox="1"/>
          <p:nvPr/>
        </p:nvSpPr>
        <p:spPr>
          <a:xfrm>
            <a:off x="5477256" y="3035808"/>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lbu  t0,0(a0)</a:t>
            </a:r>
            <a:endParaRPr lang="en-US" sz="1000" dirty="0"/>
          </a:p>
        </p:txBody>
      </p:sp>
      <p:sp>
        <p:nvSpPr>
          <p:cNvPr id="48" name="!!B2"/>
          <p:cNvSpPr txBox="1"/>
          <p:nvPr/>
        </p:nvSpPr>
        <p:spPr>
          <a:xfrm>
            <a:off x="5477256" y="2468880"/>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addi a0,a0,1</a:t>
            </a:r>
            <a:endParaRPr lang="en-US" sz="1000" dirty="0"/>
          </a:p>
        </p:txBody>
      </p:sp>
      <p:sp>
        <p:nvSpPr>
          <p:cNvPr id="49" name="!!C2"/>
          <p:cNvSpPr txBox="1"/>
          <p:nvPr/>
        </p:nvSpPr>
        <p:spPr>
          <a:xfrm>
            <a:off x="1783080" y="260604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addi a1,a1,-1</a:t>
            </a:r>
            <a:endParaRPr lang="en-US" sz="1000" dirty="0"/>
          </a:p>
        </p:txBody>
      </p:sp>
      <p:sp>
        <p:nvSpPr>
          <p:cNvPr id="50" name="!!D2"/>
          <p:cNvSpPr txBox="1"/>
          <p:nvPr/>
        </p:nvSpPr>
        <p:spPr>
          <a:xfrm>
            <a:off x="1783080" y="301752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xori t1,t0,44</a:t>
            </a:r>
            <a:endParaRPr lang="en-US" sz="1000" dirty="0"/>
          </a:p>
        </p:txBody>
      </p:sp>
      <p:sp>
        <p:nvSpPr>
          <p:cNvPr id="51" name="!!E2"/>
          <p:cNvSpPr txBox="1"/>
          <p:nvPr/>
        </p:nvSpPr>
        <p:spPr>
          <a:xfrm>
            <a:off x="1783080" y="342900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seqz t1,t1</a:t>
            </a:r>
            <a:endParaRPr lang="en-US" sz="1000" dirty="0"/>
          </a:p>
        </p:txBody>
      </p:sp>
      <p:sp>
        <p:nvSpPr>
          <p:cNvPr id="52" name="!!F2"/>
          <p:cNvSpPr txBox="1"/>
          <p:nvPr/>
        </p:nvSpPr>
        <p:spPr>
          <a:xfrm>
            <a:off x="1783080" y="38404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  s0,s0,t1</a:t>
            </a:r>
            <a:endParaRPr lang="en-US" sz="1000" dirty="0"/>
          </a:p>
        </p:txBody>
      </p:sp>
      <p:sp>
        <p:nvSpPr>
          <p:cNvPr id="53" name="!!G2"/>
          <p:cNvSpPr txBox="1"/>
          <p:nvPr/>
        </p:nvSpPr>
        <p:spPr>
          <a:xfrm>
            <a:off x="1783080" y="42519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bnez a1,loop</a:t>
            </a:r>
            <a:endParaRPr lang="en-US" sz="1000" dirty="0"/>
          </a:p>
        </p:txBody>
      </p:sp>
      <p:sp>
        <p:nvSpPr>
          <p:cNvPr id="54" name="Shape 52"/>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5" name="Text 53"/>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6" name="Shape 54"/>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7" name="Text 55"/>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8" name="Shape 56"/>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9" name="Text 57"/>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60" name="Shape 58"/>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1" name="Text 59"/>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2"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Cycle 2: the branch predictor guesses “taken”, so iteration 2 is already loading while iteration 1 is still computing.</a:t>
            </a:r>
            <a:endParaRPr lang="en-US" sz="2000" dirty="0"/>
          </a:p>
        </p:txBody>
      </p:sp>
      <p:sp>
        <p:nvSpPr>
          <p:cNvPr id="63"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7/14</a:t>
            </a:r>
            <a:endParaRPr lang="en-US" sz="4000" dirty="0"/>
          </a:p>
        </p:txBody>
      </p:sp>
      <p:sp>
        <p:nvSpPr>
          <p:cNvPr id="64"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2 cycles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curcol"/>
          <p:cNvSpPr/>
          <p:nvPr/>
        </p:nvSpPr>
        <p:spPr>
          <a:xfrm>
            <a:off x="6647688" y="1764792"/>
            <a:ext cx="1243584" cy="2304288"/>
          </a:xfrm>
          <a:prstGeom prst="rect">
            <a:avLst/>
          </a:prstGeom>
          <a:ln w="25400">
            <a:solidFill>
              <a:schemeClr val="accent1"/>
            </a:solidFill>
            <a:prstDash val="solid"/>
          </a:ln>
        </p:spPr>
      </p:sp>
      <p:sp>
        <p:nvSpPr>
          <p:cNvPr id="40" name="!!A1"/>
          <p:cNvSpPr txBox="1"/>
          <p:nvPr/>
        </p:nvSpPr>
        <p:spPr>
          <a:xfrm>
            <a:off x="4233672"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1" name="!!B1"/>
          <p:cNvSpPr txBox="1"/>
          <p:nvPr/>
        </p:nvSpPr>
        <p:spPr>
          <a:xfrm>
            <a:off x="4233672"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2" name="!!C1"/>
          <p:cNvSpPr txBox="1"/>
          <p:nvPr/>
        </p:nvSpPr>
        <p:spPr>
          <a:xfrm>
            <a:off x="4233672"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43" name="!!D1"/>
          <p:cNvSpPr txBox="1"/>
          <p:nvPr/>
        </p:nvSpPr>
        <p:spPr>
          <a:xfrm>
            <a:off x="5477256"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xori t1,t0,44</a:t>
            </a:r>
            <a:endParaRPr lang="en-US" sz="1000" dirty="0"/>
          </a:p>
        </p:txBody>
      </p:sp>
      <p:sp>
        <p:nvSpPr>
          <p:cNvPr id="44" name="!!E1"/>
          <p:cNvSpPr txBox="1"/>
          <p:nvPr/>
        </p:nvSpPr>
        <p:spPr>
          <a:xfrm>
            <a:off x="6720840"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seqz t1,t1</a:t>
            </a:r>
            <a:endParaRPr lang="en-US" sz="1000" dirty="0"/>
          </a:p>
        </p:txBody>
      </p:sp>
      <p:sp>
        <p:nvSpPr>
          <p:cNvPr id="45" name="!!F1"/>
          <p:cNvSpPr txBox="1"/>
          <p:nvPr/>
        </p:nvSpPr>
        <p:spPr>
          <a:xfrm>
            <a:off x="548640" y="3840480"/>
            <a:ext cx="1097280" cy="329184"/>
          </a:xfrm>
          <a:prstGeom prst="roundRect">
            <a:avLst>
              <a:gd name="adj" fmla="val 16667"/>
            </a:avLst>
          </a:prstGeom>
          <a:solidFill>
            <a:schemeClr val="bg1"/>
          </a:solidFill>
          <a:ln w="12700">
            <a:solidFill>
              <a:schemeClr val="tx1"/>
            </a:solidFill>
            <a:prstDash val="solid"/>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add  s0,s0,t1</a:t>
            </a:r>
            <a:endParaRPr lang="en-US" sz="1000" dirty="0"/>
          </a:p>
        </p:txBody>
      </p:sp>
      <p:sp>
        <p:nvSpPr>
          <p:cNvPr id="46" name="!!G1"/>
          <p:cNvSpPr txBox="1"/>
          <p:nvPr/>
        </p:nvSpPr>
        <p:spPr>
          <a:xfrm>
            <a:off x="5477256" y="3602736"/>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bnez a1,loop</a:t>
            </a:r>
            <a:endParaRPr lang="en-US" sz="1000" dirty="0"/>
          </a:p>
        </p:txBody>
      </p:sp>
      <p:sp>
        <p:nvSpPr>
          <p:cNvPr id="47" name="!!A2"/>
          <p:cNvSpPr txBox="1"/>
          <p:nvPr/>
        </p:nvSpPr>
        <p:spPr>
          <a:xfrm>
            <a:off x="5477256"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8" name="!!B2"/>
          <p:cNvSpPr txBox="1"/>
          <p:nvPr/>
        </p:nvSpPr>
        <p:spPr>
          <a:xfrm>
            <a:off x="5477256"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9" name="!!C2"/>
          <p:cNvSpPr txBox="1"/>
          <p:nvPr/>
        </p:nvSpPr>
        <p:spPr>
          <a:xfrm>
            <a:off x="6720840" y="2468880"/>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addi a1,a1,-1</a:t>
            </a:r>
            <a:endParaRPr lang="en-US" sz="1000" dirty="0"/>
          </a:p>
        </p:txBody>
      </p:sp>
      <p:sp>
        <p:nvSpPr>
          <p:cNvPr id="50" name="!!D2"/>
          <p:cNvSpPr txBox="1"/>
          <p:nvPr/>
        </p:nvSpPr>
        <p:spPr>
          <a:xfrm>
            <a:off x="1783080" y="301752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xori t1,t0,44</a:t>
            </a:r>
            <a:endParaRPr lang="en-US" sz="1000" dirty="0"/>
          </a:p>
        </p:txBody>
      </p:sp>
      <p:sp>
        <p:nvSpPr>
          <p:cNvPr id="51" name="!!E2"/>
          <p:cNvSpPr txBox="1"/>
          <p:nvPr/>
        </p:nvSpPr>
        <p:spPr>
          <a:xfrm>
            <a:off x="1783080" y="342900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seqz t1,t1</a:t>
            </a:r>
            <a:endParaRPr lang="en-US" sz="1000" dirty="0"/>
          </a:p>
        </p:txBody>
      </p:sp>
      <p:sp>
        <p:nvSpPr>
          <p:cNvPr id="52" name="!!F2"/>
          <p:cNvSpPr txBox="1"/>
          <p:nvPr/>
        </p:nvSpPr>
        <p:spPr>
          <a:xfrm>
            <a:off x="1783080" y="38404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  s0,s0,t1</a:t>
            </a:r>
            <a:endParaRPr lang="en-US" sz="1000" dirty="0"/>
          </a:p>
        </p:txBody>
      </p:sp>
      <p:sp>
        <p:nvSpPr>
          <p:cNvPr id="53" name="!!G2"/>
          <p:cNvSpPr txBox="1"/>
          <p:nvPr/>
        </p:nvSpPr>
        <p:spPr>
          <a:xfrm>
            <a:off x="1783080" y="425196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bnez a1,loop</a:t>
            </a:r>
            <a:endParaRPr lang="en-US" sz="1000" dirty="0"/>
          </a:p>
        </p:txBody>
      </p:sp>
      <p:sp>
        <p:nvSpPr>
          <p:cNvPr id="54" name="Shape 52"/>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5" name="Text 53"/>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6" name="Shape 54"/>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7" name="Text 55"/>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8" name="Shape 56"/>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9" name="Text 57"/>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60" name="Shape 58"/>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1" name="Text 59"/>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2"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Cycle 3: each instruction waits only for its own inputs, not for everything before it.</a:t>
            </a:r>
            <a:endParaRPr lang="en-US" sz="2000" dirty="0"/>
          </a:p>
        </p:txBody>
      </p:sp>
      <p:sp>
        <p:nvSpPr>
          <p:cNvPr id="63"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9/14</a:t>
            </a:r>
            <a:endParaRPr lang="en-US" sz="4000" dirty="0"/>
          </a:p>
        </p:txBody>
      </p:sp>
      <p:sp>
        <p:nvSpPr>
          <p:cNvPr id="64"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3 cycles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curcol"/>
          <p:cNvSpPr/>
          <p:nvPr/>
        </p:nvSpPr>
        <p:spPr>
          <a:xfrm>
            <a:off x="7891272" y="1764792"/>
            <a:ext cx="1243584" cy="2304288"/>
          </a:xfrm>
          <a:prstGeom prst="rect">
            <a:avLst/>
          </a:prstGeom>
          <a:ln w="25400">
            <a:solidFill>
              <a:schemeClr val="accent1"/>
            </a:solidFill>
            <a:prstDash val="solid"/>
          </a:ln>
        </p:spPr>
      </p:sp>
      <p:sp>
        <p:nvSpPr>
          <p:cNvPr id="40" name="!!A1"/>
          <p:cNvSpPr txBox="1"/>
          <p:nvPr/>
        </p:nvSpPr>
        <p:spPr>
          <a:xfrm>
            <a:off x="4233672"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1" name="!!B1"/>
          <p:cNvSpPr txBox="1"/>
          <p:nvPr/>
        </p:nvSpPr>
        <p:spPr>
          <a:xfrm>
            <a:off x="4233672"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2" name="!!C1"/>
          <p:cNvSpPr txBox="1"/>
          <p:nvPr/>
        </p:nvSpPr>
        <p:spPr>
          <a:xfrm>
            <a:off x="4233672"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43" name="!!D1"/>
          <p:cNvSpPr txBox="1"/>
          <p:nvPr/>
        </p:nvSpPr>
        <p:spPr>
          <a:xfrm>
            <a:off x="5477256"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xori t1,t0,44</a:t>
            </a:r>
            <a:endParaRPr lang="en-US" sz="1000" dirty="0"/>
          </a:p>
        </p:txBody>
      </p:sp>
      <p:sp>
        <p:nvSpPr>
          <p:cNvPr id="44" name="!!E1"/>
          <p:cNvSpPr txBox="1"/>
          <p:nvPr/>
        </p:nvSpPr>
        <p:spPr>
          <a:xfrm>
            <a:off x="6720840"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seqz t1,t1</a:t>
            </a:r>
            <a:endParaRPr lang="en-US" sz="1000" dirty="0"/>
          </a:p>
        </p:txBody>
      </p:sp>
      <p:sp>
        <p:nvSpPr>
          <p:cNvPr id="45" name="!!F1"/>
          <p:cNvSpPr txBox="1"/>
          <p:nvPr/>
        </p:nvSpPr>
        <p:spPr>
          <a:xfrm>
            <a:off x="7964424"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  s0,s0,t1</a:t>
            </a:r>
            <a:endParaRPr lang="en-US" sz="1000" dirty="0"/>
          </a:p>
        </p:txBody>
      </p:sp>
      <p:sp>
        <p:nvSpPr>
          <p:cNvPr id="46" name="!!G1"/>
          <p:cNvSpPr txBox="1"/>
          <p:nvPr/>
        </p:nvSpPr>
        <p:spPr>
          <a:xfrm>
            <a:off x="5477256" y="3602736"/>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bnez a1,loop</a:t>
            </a:r>
            <a:endParaRPr lang="en-US" sz="1000" dirty="0"/>
          </a:p>
        </p:txBody>
      </p:sp>
      <p:sp>
        <p:nvSpPr>
          <p:cNvPr id="47" name="!!A2"/>
          <p:cNvSpPr txBox="1"/>
          <p:nvPr/>
        </p:nvSpPr>
        <p:spPr>
          <a:xfrm>
            <a:off x="5477256"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8" name="!!B2"/>
          <p:cNvSpPr txBox="1"/>
          <p:nvPr/>
        </p:nvSpPr>
        <p:spPr>
          <a:xfrm>
            <a:off x="5477256"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9" name="!!C2"/>
          <p:cNvSpPr txBox="1"/>
          <p:nvPr/>
        </p:nvSpPr>
        <p:spPr>
          <a:xfrm>
            <a:off x="6720840"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50" name="!!D2"/>
          <p:cNvSpPr txBox="1"/>
          <p:nvPr/>
        </p:nvSpPr>
        <p:spPr>
          <a:xfrm>
            <a:off x="7964424" y="2468880"/>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xori t1,t0,44</a:t>
            </a:r>
            <a:endParaRPr lang="en-US" sz="1000" dirty="0"/>
          </a:p>
        </p:txBody>
      </p:sp>
      <p:sp>
        <p:nvSpPr>
          <p:cNvPr id="51" name="!!E2"/>
          <p:cNvSpPr txBox="1"/>
          <p:nvPr/>
        </p:nvSpPr>
        <p:spPr>
          <a:xfrm>
            <a:off x="1783080" y="342900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seqz t1,t1</a:t>
            </a:r>
            <a:endParaRPr lang="en-US" sz="1000" dirty="0"/>
          </a:p>
        </p:txBody>
      </p:sp>
      <p:sp>
        <p:nvSpPr>
          <p:cNvPr id="52" name="!!F2"/>
          <p:cNvSpPr txBox="1"/>
          <p:nvPr/>
        </p:nvSpPr>
        <p:spPr>
          <a:xfrm>
            <a:off x="1783080" y="3840480"/>
            <a:ext cx="1097280" cy="329184"/>
          </a:xfrm>
          <a:prstGeom prst="roundRect">
            <a:avLst>
              <a:gd name="adj" fmla="val 16667"/>
            </a:avLst>
          </a:prstGeom>
          <a:solidFill>
            <a:schemeClr val="bg1"/>
          </a:solidFill>
          <a:ln w="12700">
            <a:solidFill>
              <a:schemeClr val="accent2"/>
            </a:solidFill>
            <a:prstDash val="dash"/>
          </a:ln>
        </p:spPr>
        <p:txBody>
          <a:bodyPr wrap="square" lIns="0" tIns="0" rIns="0" bIns="0" rtlCol="0" anchor="ctr"/>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add  s0,s0,t1</a:t>
            </a:r>
            <a:endParaRPr lang="en-US" sz="1000" dirty="0"/>
          </a:p>
        </p:txBody>
      </p:sp>
      <p:sp>
        <p:nvSpPr>
          <p:cNvPr id="53" name="!!G2"/>
          <p:cNvSpPr txBox="1"/>
          <p:nvPr/>
        </p:nvSpPr>
        <p:spPr>
          <a:xfrm>
            <a:off x="7964424" y="3602736"/>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bnez a1,loop</a:t>
            </a:r>
            <a:endParaRPr lang="en-US" sz="1000" dirty="0"/>
          </a:p>
        </p:txBody>
      </p:sp>
      <p:sp>
        <p:nvSpPr>
          <p:cNvPr id="54" name="Shape 52"/>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5" name="Text 53"/>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6" name="Shape 54"/>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7" name="Text 55"/>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8" name="Shape 56"/>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9" name="Text 57"/>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60" name="Shape 58"/>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1" name="Text 59"/>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2"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Cycle 4: iteration 1 is done, and 5 of iteration 2's 7 instructions have already issued.</a:t>
            </a:r>
            <a:endParaRPr lang="en-US" sz="2000" dirty="0"/>
          </a:p>
        </p:txBody>
      </p:sp>
      <p:sp>
        <p:nvSpPr>
          <p:cNvPr id="63"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12/14</a:t>
            </a:r>
            <a:endParaRPr lang="en-US" sz="4000" dirty="0"/>
          </a:p>
        </p:txBody>
      </p:sp>
      <p:sp>
        <p:nvSpPr>
          <p:cNvPr id="64"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4 cycles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Superscalar: several instructions per clock</a:t>
            </a:r>
            <a:endParaRPr lang="en-US" sz="3200" dirty="0"/>
          </a:p>
        </p:txBody>
      </p:sp>
      <p:sp>
        <p:nvSpPr>
          <p:cNvPr id="3" name="Text 1"/>
          <p:cNvSpPr txBox="1"/>
          <p:nvPr/>
        </p:nvSpPr>
        <p:spPr>
          <a:xfrm>
            <a:off x="548640" y="1371600"/>
            <a:ext cx="2377440" cy="274320"/>
          </a:xfrm>
          <a:prstGeom prst="rect">
            <a:avLst/>
          </a:prstGeom>
          <a:noFill/>
          <a:ln/>
        </p:spPr>
        <p:txBody>
          <a:bodyPr wrap="square" lIns="0" tIns="0" rIns="0" bIns="0" rtlCol="0" anchor="ctr"/>
          <a:lstStyle/>
          <a:p>
            <a:pPr indent="0" marL="0">
              <a:buNone/>
            </a:pPr>
            <a:r>
              <a:rPr lang="en-US" sz="1100" b="1" spc="200" kern="0" dirty="0">
                <a:solidFill>
                  <a:schemeClr val="tx2"/>
                </a:solidFill>
              </a:rPr>
              <a:t>PROGRAM ORDER</a:t>
            </a:r>
            <a:endParaRPr lang="en-US" sz="1100" dirty="0"/>
          </a:p>
        </p:txBody>
      </p:sp>
      <p:sp>
        <p:nvSpPr>
          <p:cNvPr id="4" name="Text 2"/>
          <p:cNvSpPr txBox="1"/>
          <p:nvPr/>
        </p:nvSpPr>
        <p:spPr>
          <a:xfrm>
            <a:off x="3154680" y="1371600"/>
            <a:ext cx="86868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CYCLE</a:t>
            </a:r>
            <a:endParaRPr lang="en-US" sz="1100" dirty="0"/>
          </a:p>
        </p:txBody>
      </p:sp>
      <p:sp>
        <p:nvSpPr>
          <p:cNvPr id="5" name="!!cyc1"/>
          <p:cNvSpPr txBox="1"/>
          <p:nvPr/>
        </p:nvSpPr>
        <p:spPr>
          <a:xfrm>
            <a:off x="416052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cyc2"/>
          <p:cNvSpPr txBox="1"/>
          <p:nvPr/>
        </p:nvSpPr>
        <p:spPr>
          <a:xfrm>
            <a:off x="5404104"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7" name="!!cyc3"/>
          <p:cNvSpPr txBox="1"/>
          <p:nvPr/>
        </p:nvSpPr>
        <p:spPr>
          <a:xfrm>
            <a:off x="6647688"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8" name="!!cyc4"/>
          <p:cNvSpPr txBox="1"/>
          <p:nvPr/>
        </p:nvSpPr>
        <p:spPr>
          <a:xfrm>
            <a:off x="7891272"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9" name="!!cyc5"/>
          <p:cNvSpPr txBox="1"/>
          <p:nvPr/>
        </p:nvSpPr>
        <p:spPr>
          <a:xfrm>
            <a:off x="9134856"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0" name="!!cyc6"/>
          <p:cNvSpPr txBox="1"/>
          <p:nvPr/>
        </p:nvSpPr>
        <p:spPr>
          <a:xfrm>
            <a:off x="10378440" y="1371600"/>
            <a:ext cx="1243584" cy="27432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11" name="Text 9"/>
          <p:cNvSpPr txBox="1"/>
          <p:nvPr/>
        </p:nvSpPr>
        <p:spPr>
          <a:xfrm>
            <a:off x="3154680" y="1783080"/>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0</a:t>
            </a:r>
            <a:endParaRPr lang="en-US" sz="1300" dirty="0"/>
          </a:p>
        </p:txBody>
      </p:sp>
      <p:sp>
        <p:nvSpPr>
          <p:cNvPr id="12" name="Shape 10"/>
          <p:cNvSpPr/>
          <p:nvPr/>
        </p:nvSpPr>
        <p:spPr>
          <a:xfrm>
            <a:off x="4197096" y="1819656"/>
            <a:ext cx="1170432" cy="493776"/>
          </a:xfrm>
          <a:prstGeom prst="rect">
            <a:avLst/>
          </a:prstGeom>
          <a:solidFill>
            <a:schemeClr val="bg1"/>
          </a:solidFill>
          <a:ln w="9525">
            <a:solidFill>
              <a:schemeClr val="accent3"/>
            </a:solidFill>
            <a:prstDash val="solid"/>
          </a:ln>
        </p:spPr>
      </p:sp>
      <p:sp>
        <p:nvSpPr>
          <p:cNvPr id="13" name="Shape 11"/>
          <p:cNvSpPr/>
          <p:nvPr/>
        </p:nvSpPr>
        <p:spPr>
          <a:xfrm>
            <a:off x="5440680" y="1819656"/>
            <a:ext cx="1170432" cy="493776"/>
          </a:xfrm>
          <a:prstGeom prst="rect">
            <a:avLst/>
          </a:prstGeom>
          <a:solidFill>
            <a:schemeClr val="bg1"/>
          </a:solidFill>
          <a:ln w="9525">
            <a:solidFill>
              <a:schemeClr val="accent3"/>
            </a:solidFill>
            <a:prstDash val="solid"/>
          </a:ln>
        </p:spPr>
      </p:sp>
      <p:sp>
        <p:nvSpPr>
          <p:cNvPr id="14" name="Shape 12"/>
          <p:cNvSpPr/>
          <p:nvPr/>
        </p:nvSpPr>
        <p:spPr>
          <a:xfrm>
            <a:off x="6684264" y="1819656"/>
            <a:ext cx="1170432" cy="493776"/>
          </a:xfrm>
          <a:prstGeom prst="rect">
            <a:avLst/>
          </a:prstGeom>
          <a:solidFill>
            <a:schemeClr val="bg1"/>
          </a:solidFill>
          <a:ln w="9525">
            <a:solidFill>
              <a:schemeClr val="accent3"/>
            </a:solidFill>
            <a:prstDash val="solid"/>
          </a:ln>
        </p:spPr>
      </p:sp>
      <p:sp>
        <p:nvSpPr>
          <p:cNvPr id="15" name="Shape 13"/>
          <p:cNvSpPr/>
          <p:nvPr/>
        </p:nvSpPr>
        <p:spPr>
          <a:xfrm>
            <a:off x="7927848" y="1819656"/>
            <a:ext cx="1170432" cy="493776"/>
          </a:xfrm>
          <a:prstGeom prst="rect">
            <a:avLst/>
          </a:prstGeom>
          <a:solidFill>
            <a:schemeClr val="bg1"/>
          </a:solidFill>
          <a:ln w="9525">
            <a:solidFill>
              <a:schemeClr val="accent3"/>
            </a:solidFill>
            <a:prstDash val="solid"/>
          </a:ln>
        </p:spPr>
      </p:sp>
      <p:sp>
        <p:nvSpPr>
          <p:cNvPr id="16" name="Shape 14"/>
          <p:cNvSpPr/>
          <p:nvPr/>
        </p:nvSpPr>
        <p:spPr>
          <a:xfrm>
            <a:off x="9171432" y="1819656"/>
            <a:ext cx="1170432" cy="493776"/>
          </a:xfrm>
          <a:prstGeom prst="rect">
            <a:avLst/>
          </a:prstGeom>
          <a:solidFill>
            <a:schemeClr val="bg1"/>
          </a:solidFill>
          <a:ln w="9525">
            <a:solidFill>
              <a:schemeClr val="accent3"/>
            </a:solidFill>
            <a:prstDash val="solid"/>
          </a:ln>
        </p:spPr>
      </p:sp>
      <p:sp>
        <p:nvSpPr>
          <p:cNvPr id="17" name="Shape 15"/>
          <p:cNvSpPr/>
          <p:nvPr/>
        </p:nvSpPr>
        <p:spPr>
          <a:xfrm>
            <a:off x="10415016" y="1819656"/>
            <a:ext cx="1170432" cy="493776"/>
          </a:xfrm>
          <a:prstGeom prst="rect">
            <a:avLst/>
          </a:prstGeom>
          <a:solidFill>
            <a:schemeClr val="bg1"/>
          </a:solidFill>
          <a:ln w="9525">
            <a:solidFill>
              <a:schemeClr val="accent3"/>
            </a:solidFill>
            <a:prstDash val="solid"/>
          </a:ln>
        </p:spPr>
      </p:sp>
      <p:sp>
        <p:nvSpPr>
          <p:cNvPr id="18" name="Text 16"/>
          <p:cNvSpPr txBox="1"/>
          <p:nvPr/>
        </p:nvSpPr>
        <p:spPr>
          <a:xfrm>
            <a:off x="3154680" y="2350008"/>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ALU 1</a:t>
            </a:r>
            <a:endParaRPr lang="en-US" sz="1300" dirty="0"/>
          </a:p>
        </p:txBody>
      </p:sp>
      <p:sp>
        <p:nvSpPr>
          <p:cNvPr id="19" name="Shape 17"/>
          <p:cNvSpPr/>
          <p:nvPr/>
        </p:nvSpPr>
        <p:spPr>
          <a:xfrm>
            <a:off x="4197096" y="2386584"/>
            <a:ext cx="1170432" cy="493776"/>
          </a:xfrm>
          <a:prstGeom prst="rect">
            <a:avLst/>
          </a:prstGeom>
          <a:solidFill>
            <a:schemeClr val="bg1"/>
          </a:solidFill>
          <a:ln w="9525">
            <a:solidFill>
              <a:schemeClr val="accent3"/>
            </a:solidFill>
            <a:prstDash val="solid"/>
          </a:ln>
        </p:spPr>
      </p:sp>
      <p:sp>
        <p:nvSpPr>
          <p:cNvPr id="20" name="Shape 18"/>
          <p:cNvSpPr/>
          <p:nvPr/>
        </p:nvSpPr>
        <p:spPr>
          <a:xfrm>
            <a:off x="5440680" y="2386584"/>
            <a:ext cx="1170432" cy="493776"/>
          </a:xfrm>
          <a:prstGeom prst="rect">
            <a:avLst/>
          </a:prstGeom>
          <a:solidFill>
            <a:schemeClr val="bg1"/>
          </a:solidFill>
          <a:ln w="9525">
            <a:solidFill>
              <a:schemeClr val="accent3"/>
            </a:solidFill>
            <a:prstDash val="solid"/>
          </a:ln>
        </p:spPr>
      </p:sp>
      <p:sp>
        <p:nvSpPr>
          <p:cNvPr id="21" name="Shape 19"/>
          <p:cNvSpPr/>
          <p:nvPr/>
        </p:nvSpPr>
        <p:spPr>
          <a:xfrm>
            <a:off x="6684264" y="2386584"/>
            <a:ext cx="1170432" cy="493776"/>
          </a:xfrm>
          <a:prstGeom prst="rect">
            <a:avLst/>
          </a:prstGeom>
          <a:solidFill>
            <a:schemeClr val="bg1"/>
          </a:solidFill>
          <a:ln w="9525">
            <a:solidFill>
              <a:schemeClr val="accent3"/>
            </a:solidFill>
            <a:prstDash val="solid"/>
          </a:ln>
        </p:spPr>
      </p:sp>
      <p:sp>
        <p:nvSpPr>
          <p:cNvPr id="22" name="Shape 20"/>
          <p:cNvSpPr/>
          <p:nvPr/>
        </p:nvSpPr>
        <p:spPr>
          <a:xfrm>
            <a:off x="7927848" y="2386584"/>
            <a:ext cx="1170432" cy="493776"/>
          </a:xfrm>
          <a:prstGeom prst="rect">
            <a:avLst/>
          </a:prstGeom>
          <a:solidFill>
            <a:schemeClr val="bg1"/>
          </a:solidFill>
          <a:ln w="9525">
            <a:solidFill>
              <a:schemeClr val="accent3"/>
            </a:solidFill>
            <a:prstDash val="solid"/>
          </a:ln>
        </p:spPr>
      </p:sp>
      <p:sp>
        <p:nvSpPr>
          <p:cNvPr id="23" name="Shape 21"/>
          <p:cNvSpPr/>
          <p:nvPr/>
        </p:nvSpPr>
        <p:spPr>
          <a:xfrm>
            <a:off x="9171432" y="2386584"/>
            <a:ext cx="1170432" cy="493776"/>
          </a:xfrm>
          <a:prstGeom prst="rect">
            <a:avLst/>
          </a:prstGeom>
          <a:solidFill>
            <a:schemeClr val="bg1"/>
          </a:solidFill>
          <a:ln w="9525">
            <a:solidFill>
              <a:schemeClr val="accent3"/>
            </a:solidFill>
            <a:prstDash val="solid"/>
          </a:ln>
        </p:spPr>
      </p:sp>
      <p:sp>
        <p:nvSpPr>
          <p:cNvPr id="24" name="Shape 22"/>
          <p:cNvSpPr/>
          <p:nvPr/>
        </p:nvSpPr>
        <p:spPr>
          <a:xfrm>
            <a:off x="10415016" y="2386584"/>
            <a:ext cx="1170432" cy="493776"/>
          </a:xfrm>
          <a:prstGeom prst="rect">
            <a:avLst/>
          </a:prstGeom>
          <a:solidFill>
            <a:schemeClr val="bg1"/>
          </a:solidFill>
          <a:ln w="9525">
            <a:solidFill>
              <a:schemeClr val="accent3"/>
            </a:solidFill>
            <a:prstDash val="solid"/>
          </a:ln>
        </p:spPr>
      </p:sp>
      <p:sp>
        <p:nvSpPr>
          <p:cNvPr id="25" name="Text 23"/>
          <p:cNvSpPr txBox="1"/>
          <p:nvPr/>
        </p:nvSpPr>
        <p:spPr>
          <a:xfrm>
            <a:off x="3154680" y="2916936"/>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LOAD</a:t>
            </a:r>
            <a:endParaRPr lang="en-US" sz="1300" dirty="0"/>
          </a:p>
        </p:txBody>
      </p:sp>
      <p:sp>
        <p:nvSpPr>
          <p:cNvPr id="26" name="Shape 24"/>
          <p:cNvSpPr/>
          <p:nvPr/>
        </p:nvSpPr>
        <p:spPr>
          <a:xfrm>
            <a:off x="4197096" y="2953512"/>
            <a:ext cx="1170432" cy="493776"/>
          </a:xfrm>
          <a:prstGeom prst="rect">
            <a:avLst/>
          </a:prstGeom>
          <a:solidFill>
            <a:schemeClr val="bg1"/>
          </a:solidFill>
          <a:ln w="9525">
            <a:solidFill>
              <a:schemeClr val="accent3"/>
            </a:solidFill>
            <a:prstDash val="solid"/>
          </a:ln>
        </p:spPr>
      </p:sp>
      <p:sp>
        <p:nvSpPr>
          <p:cNvPr id="27" name="Shape 25"/>
          <p:cNvSpPr/>
          <p:nvPr/>
        </p:nvSpPr>
        <p:spPr>
          <a:xfrm>
            <a:off x="5440680" y="2953512"/>
            <a:ext cx="1170432" cy="493776"/>
          </a:xfrm>
          <a:prstGeom prst="rect">
            <a:avLst/>
          </a:prstGeom>
          <a:solidFill>
            <a:schemeClr val="bg1"/>
          </a:solidFill>
          <a:ln w="9525">
            <a:solidFill>
              <a:schemeClr val="accent3"/>
            </a:solidFill>
            <a:prstDash val="solid"/>
          </a:ln>
        </p:spPr>
      </p:sp>
      <p:sp>
        <p:nvSpPr>
          <p:cNvPr id="28" name="Shape 26"/>
          <p:cNvSpPr/>
          <p:nvPr/>
        </p:nvSpPr>
        <p:spPr>
          <a:xfrm>
            <a:off x="6684264" y="2953512"/>
            <a:ext cx="1170432" cy="493776"/>
          </a:xfrm>
          <a:prstGeom prst="rect">
            <a:avLst/>
          </a:prstGeom>
          <a:solidFill>
            <a:schemeClr val="bg1"/>
          </a:solidFill>
          <a:ln w="9525">
            <a:solidFill>
              <a:schemeClr val="accent3"/>
            </a:solidFill>
            <a:prstDash val="solid"/>
          </a:ln>
        </p:spPr>
      </p:sp>
      <p:sp>
        <p:nvSpPr>
          <p:cNvPr id="29" name="Shape 27"/>
          <p:cNvSpPr/>
          <p:nvPr/>
        </p:nvSpPr>
        <p:spPr>
          <a:xfrm>
            <a:off x="7927848" y="2953512"/>
            <a:ext cx="1170432" cy="493776"/>
          </a:xfrm>
          <a:prstGeom prst="rect">
            <a:avLst/>
          </a:prstGeom>
          <a:solidFill>
            <a:schemeClr val="bg1"/>
          </a:solidFill>
          <a:ln w="9525">
            <a:solidFill>
              <a:schemeClr val="accent3"/>
            </a:solidFill>
            <a:prstDash val="solid"/>
          </a:ln>
        </p:spPr>
      </p:sp>
      <p:sp>
        <p:nvSpPr>
          <p:cNvPr id="30" name="Shape 28"/>
          <p:cNvSpPr/>
          <p:nvPr/>
        </p:nvSpPr>
        <p:spPr>
          <a:xfrm>
            <a:off x="9171432" y="2953512"/>
            <a:ext cx="1170432" cy="493776"/>
          </a:xfrm>
          <a:prstGeom prst="rect">
            <a:avLst/>
          </a:prstGeom>
          <a:solidFill>
            <a:schemeClr val="bg1"/>
          </a:solidFill>
          <a:ln w="9525">
            <a:solidFill>
              <a:schemeClr val="accent3"/>
            </a:solidFill>
            <a:prstDash val="solid"/>
          </a:ln>
        </p:spPr>
      </p:sp>
      <p:sp>
        <p:nvSpPr>
          <p:cNvPr id="31" name="Shape 29"/>
          <p:cNvSpPr/>
          <p:nvPr/>
        </p:nvSpPr>
        <p:spPr>
          <a:xfrm>
            <a:off x="10415016" y="2953512"/>
            <a:ext cx="1170432" cy="493776"/>
          </a:xfrm>
          <a:prstGeom prst="rect">
            <a:avLst/>
          </a:prstGeom>
          <a:solidFill>
            <a:schemeClr val="bg1"/>
          </a:solidFill>
          <a:ln w="9525">
            <a:solidFill>
              <a:schemeClr val="accent3"/>
            </a:solidFill>
            <a:prstDash val="solid"/>
          </a:ln>
        </p:spPr>
      </p:sp>
      <p:sp>
        <p:nvSpPr>
          <p:cNvPr id="32" name="Text 30"/>
          <p:cNvSpPr txBox="1"/>
          <p:nvPr/>
        </p:nvSpPr>
        <p:spPr>
          <a:xfrm>
            <a:off x="3154680" y="3483864"/>
            <a:ext cx="868680" cy="566928"/>
          </a:xfrm>
          <a:prstGeom prst="rect">
            <a:avLst/>
          </a:prstGeom>
          <a:noFill/>
          <a:ln/>
        </p:spPr>
        <p:txBody>
          <a:bodyPr wrap="square" lIns="0" tIns="0" rIns="0" bIns="0" rtlCol="0" anchor="ctr"/>
          <a:lstStyle/>
          <a:p>
            <a:pPr algn="r" indent="0" marL="0">
              <a:buNone/>
            </a:pPr>
            <a:r>
              <a:rPr lang="en-US" sz="1300" b="1" dirty="0">
                <a:solidFill>
                  <a:schemeClr val="tx2"/>
                </a:solidFill>
              </a:rPr>
              <a:t>BRANCH</a:t>
            </a:r>
            <a:endParaRPr lang="en-US" sz="1300" dirty="0"/>
          </a:p>
        </p:txBody>
      </p:sp>
      <p:sp>
        <p:nvSpPr>
          <p:cNvPr id="33" name="Shape 31"/>
          <p:cNvSpPr/>
          <p:nvPr/>
        </p:nvSpPr>
        <p:spPr>
          <a:xfrm>
            <a:off x="4197096" y="3520440"/>
            <a:ext cx="1170432" cy="493776"/>
          </a:xfrm>
          <a:prstGeom prst="rect">
            <a:avLst/>
          </a:prstGeom>
          <a:solidFill>
            <a:schemeClr val="bg1"/>
          </a:solidFill>
          <a:ln w="9525">
            <a:solidFill>
              <a:schemeClr val="accent3"/>
            </a:solidFill>
            <a:prstDash val="solid"/>
          </a:ln>
        </p:spPr>
      </p:sp>
      <p:sp>
        <p:nvSpPr>
          <p:cNvPr id="34" name="Shape 32"/>
          <p:cNvSpPr/>
          <p:nvPr/>
        </p:nvSpPr>
        <p:spPr>
          <a:xfrm>
            <a:off x="5440680" y="3520440"/>
            <a:ext cx="1170432" cy="493776"/>
          </a:xfrm>
          <a:prstGeom prst="rect">
            <a:avLst/>
          </a:prstGeom>
          <a:solidFill>
            <a:schemeClr val="bg1"/>
          </a:solidFill>
          <a:ln w="9525">
            <a:solidFill>
              <a:schemeClr val="accent3"/>
            </a:solidFill>
            <a:prstDash val="solid"/>
          </a:ln>
        </p:spPr>
      </p:sp>
      <p:sp>
        <p:nvSpPr>
          <p:cNvPr id="35" name="Shape 33"/>
          <p:cNvSpPr/>
          <p:nvPr/>
        </p:nvSpPr>
        <p:spPr>
          <a:xfrm>
            <a:off x="6684264" y="3520440"/>
            <a:ext cx="1170432" cy="493776"/>
          </a:xfrm>
          <a:prstGeom prst="rect">
            <a:avLst/>
          </a:prstGeom>
          <a:solidFill>
            <a:schemeClr val="bg1"/>
          </a:solidFill>
          <a:ln w="9525">
            <a:solidFill>
              <a:schemeClr val="accent3"/>
            </a:solidFill>
            <a:prstDash val="solid"/>
          </a:ln>
        </p:spPr>
      </p:sp>
      <p:sp>
        <p:nvSpPr>
          <p:cNvPr id="36" name="Shape 34"/>
          <p:cNvSpPr/>
          <p:nvPr/>
        </p:nvSpPr>
        <p:spPr>
          <a:xfrm>
            <a:off x="7927848" y="3520440"/>
            <a:ext cx="1170432" cy="493776"/>
          </a:xfrm>
          <a:prstGeom prst="rect">
            <a:avLst/>
          </a:prstGeom>
          <a:solidFill>
            <a:schemeClr val="bg1"/>
          </a:solidFill>
          <a:ln w="9525">
            <a:solidFill>
              <a:schemeClr val="accent3"/>
            </a:solidFill>
            <a:prstDash val="solid"/>
          </a:ln>
        </p:spPr>
      </p:sp>
      <p:sp>
        <p:nvSpPr>
          <p:cNvPr id="37" name="Shape 35"/>
          <p:cNvSpPr/>
          <p:nvPr/>
        </p:nvSpPr>
        <p:spPr>
          <a:xfrm>
            <a:off x="9171432" y="3520440"/>
            <a:ext cx="1170432" cy="493776"/>
          </a:xfrm>
          <a:prstGeom prst="rect">
            <a:avLst/>
          </a:prstGeom>
          <a:solidFill>
            <a:schemeClr val="bg1"/>
          </a:solidFill>
          <a:ln w="9525">
            <a:solidFill>
              <a:schemeClr val="accent3"/>
            </a:solidFill>
            <a:prstDash val="solid"/>
          </a:ln>
        </p:spPr>
      </p:sp>
      <p:sp>
        <p:nvSpPr>
          <p:cNvPr id="38" name="Shape 36"/>
          <p:cNvSpPr/>
          <p:nvPr/>
        </p:nvSpPr>
        <p:spPr>
          <a:xfrm>
            <a:off x="10415016" y="3520440"/>
            <a:ext cx="1170432" cy="493776"/>
          </a:xfrm>
          <a:prstGeom prst="rect">
            <a:avLst/>
          </a:prstGeom>
          <a:solidFill>
            <a:schemeClr val="bg1"/>
          </a:solidFill>
          <a:ln w="9525">
            <a:solidFill>
              <a:schemeClr val="accent3"/>
            </a:solidFill>
            <a:prstDash val="solid"/>
          </a:ln>
        </p:spPr>
      </p:sp>
      <p:sp>
        <p:nvSpPr>
          <p:cNvPr id="39" name="!!curcol"/>
          <p:cNvSpPr/>
          <p:nvPr/>
        </p:nvSpPr>
        <p:spPr>
          <a:xfrm>
            <a:off x="9134856" y="1764792"/>
            <a:ext cx="2487168" cy="2304288"/>
          </a:xfrm>
          <a:prstGeom prst="rect">
            <a:avLst/>
          </a:prstGeom>
          <a:ln w="25400">
            <a:solidFill>
              <a:schemeClr val="accent1"/>
            </a:solidFill>
            <a:prstDash val="solid"/>
          </a:ln>
        </p:spPr>
      </p:sp>
      <p:sp>
        <p:nvSpPr>
          <p:cNvPr id="40" name="!!A1"/>
          <p:cNvSpPr txBox="1"/>
          <p:nvPr/>
        </p:nvSpPr>
        <p:spPr>
          <a:xfrm>
            <a:off x="4233672"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1" name="!!B1"/>
          <p:cNvSpPr txBox="1"/>
          <p:nvPr/>
        </p:nvSpPr>
        <p:spPr>
          <a:xfrm>
            <a:off x="4233672"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2" name="!!C1"/>
          <p:cNvSpPr txBox="1"/>
          <p:nvPr/>
        </p:nvSpPr>
        <p:spPr>
          <a:xfrm>
            <a:off x="4233672"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43" name="!!D1"/>
          <p:cNvSpPr txBox="1"/>
          <p:nvPr/>
        </p:nvSpPr>
        <p:spPr>
          <a:xfrm>
            <a:off x="5477256"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xori t1,t0,44</a:t>
            </a:r>
            <a:endParaRPr lang="en-US" sz="1000" dirty="0"/>
          </a:p>
        </p:txBody>
      </p:sp>
      <p:sp>
        <p:nvSpPr>
          <p:cNvPr id="44" name="!!E1"/>
          <p:cNvSpPr txBox="1"/>
          <p:nvPr/>
        </p:nvSpPr>
        <p:spPr>
          <a:xfrm>
            <a:off x="6720840"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seqz t1,t1</a:t>
            </a:r>
            <a:endParaRPr lang="en-US" sz="1000" dirty="0"/>
          </a:p>
        </p:txBody>
      </p:sp>
      <p:sp>
        <p:nvSpPr>
          <p:cNvPr id="45" name="!!F1"/>
          <p:cNvSpPr txBox="1"/>
          <p:nvPr/>
        </p:nvSpPr>
        <p:spPr>
          <a:xfrm>
            <a:off x="7964424" y="1901952"/>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  s0,s0,t1</a:t>
            </a:r>
            <a:endParaRPr lang="en-US" sz="1000" dirty="0"/>
          </a:p>
        </p:txBody>
      </p:sp>
      <p:sp>
        <p:nvSpPr>
          <p:cNvPr id="46" name="!!G1"/>
          <p:cNvSpPr txBox="1"/>
          <p:nvPr/>
        </p:nvSpPr>
        <p:spPr>
          <a:xfrm>
            <a:off x="5477256" y="3602736"/>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bnez a1,loop</a:t>
            </a:r>
            <a:endParaRPr lang="en-US" sz="1000" dirty="0"/>
          </a:p>
        </p:txBody>
      </p:sp>
      <p:sp>
        <p:nvSpPr>
          <p:cNvPr id="47" name="!!A2"/>
          <p:cNvSpPr txBox="1"/>
          <p:nvPr/>
        </p:nvSpPr>
        <p:spPr>
          <a:xfrm>
            <a:off x="5477256" y="3035808"/>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lbu  t0,0(a0)</a:t>
            </a:r>
            <a:endParaRPr lang="en-US" sz="1000" dirty="0"/>
          </a:p>
        </p:txBody>
      </p:sp>
      <p:sp>
        <p:nvSpPr>
          <p:cNvPr id="48" name="!!B2"/>
          <p:cNvSpPr txBox="1"/>
          <p:nvPr/>
        </p:nvSpPr>
        <p:spPr>
          <a:xfrm>
            <a:off x="5477256"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a0,a0,1</a:t>
            </a:r>
            <a:endParaRPr lang="en-US" sz="1000" dirty="0"/>
          </a:p>
        </p:txBody>
      </p:sp>
      <p:sp>
        <p:nvSpPr>
          <p:cNvPr id="49" name="!!C2"/>
          <p:cNvSpPr txBox="1"/>
          <p:nvPr/>
        </p:nvSpPr>
        <p:spPr>
          <a:xfrm>
            <a:off x="6720840"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addi a1,a1,-1</a:t>
            </a:r>
            <a:endParaRPr lang="en-US" sz="1000" dirty="0"/>
          </a:p>
        </p:txBody>
      </p:sp>
      <p:sp>
        <p:nvSpPr>
          <p:cNvPr id="50" name="!!D2"/>
          <p:cNvSpPr txBox="1"/>
          <p:nvPr/>
        </p:nvSpPr>
        <p:spPr>
          <a:xfrm>
            <a:off x="7964424" y="2468880"/>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xori t1,t0,44</a:t>
            </a:r>
            <a:endParaRPr lang="en-US" sz="1000" dirty="0"/>
          </a:p>
        </p:txBody>
      </p:sp>
      <p:sp>
        <p:nvSpPr>
          <p:cNvPr id="51" name="!!E2"/>
          <p:cNvSpPr txBox="1"/>
          <p:nvPr/>
        </p:nvSpPr>
        <p:spPr>
          <a:xfrm>
            <a:off x="9208008"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seqz t1,t1</a:t>
            </a:r>
            <a:endParaRPr lang="en-US" sz="1000" dirty="0"/>
          </a:p>
        </p:txBody>
      </p:sp>
      <p:sp>
        <p:nvSpPr>
          <p:cNvPr id="52" name="!!F2"/>
          <p:cNvSpPr txBox="1"/>
          <p:nvPr/>
        </p:nvSpPr>
        <p:spPr>
          <a:xfrm>
            <a:off x="10451592" y="1901952"/>
            <a:ext cx="1097280" cy="329184"/>
          </a:xfrm>
          <a:prstGeom prst="roundRect">
            <a:avLst>
              <a:gd name="adj" fmla="val 16667"/>
            </a:avLst>
          </a:prstGeom>
          <a:solidFill>
            <a:schemeClr val="accent1"/>
          </a:solidFill>
          <a:ln>
            <a:solidFill>
              <a:schemeClr val="accent1"/>
            </a:solid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add  s0,s0,t1</a:t>
            </a:r>
            <a:endParaRPr lang="en-US" sz="1000" dirty="0"/>
          </a:p>
        </p:txBody>
      </p:sp>
      <p:sp>
        <p:nvSpPr>
          <p:cNvPr id="53" name="!!G2"/>
          <p:cNvSpPr txBox="1"/>
          <p:nvPr/>
        </p:nvSpPr>
        <p:spPr>
          <a:xfrm>
            <a:off x="7964424" y="3602736"/>
            <a:ext cx="1097280" cy="329184"/>
          </a:xfrm>
          <a:prstGeom prst="roundRect">
            <a:avLst>
              <a:gd name="adj" fmla="val 16667"/>
            </a:avLst>
          </a:prstGeom>
          <a:solidFill>
            <a:schemeClr val="accent5"/>
          </a:solidFill>
          <a:ln>
            <a:solidFill>
              <a:schemeClr val="accent5"/>
            </a:solidFill>
          </a:ln>
        </p:spPr>
        <p:txBody>
          <a:bodyPr wrap="square" lIns="0" tIns="0" rIns="0" bIns="0" rtlCol="0" anchor="ctr"/>
          <a:lstStyle/>
          <a:p>
            <a:pPr algn="ctr" indent="0" marL="0">
              <a:buNone/>
            </a:pPr>
            <a:r>
              <a:rPr lang="en-US" sz="1000" dirty="0">
                <a:solidFill>
                  <a:schemeClr val="tx2"/>
                </a:solidFill>
                <a:latin typeface="Courier New" pitchFamily="34" charset="0"/>
                <a:ea typeface="Courier New" pitchFamily="34" charset="-122"/>
                <a:cs typeface="Courier New" pitchFamily="34" charset="-120"/>
              </a:rPr>
              <a:t>bnez a1,loop</a:t>
            </a:r>
            <a:endParaRPr lang="en-US" sz="1000" dirty="0"/>
          </a:p>
        </p:txBody>
      </p:sp>
      <p:sp>
        <p:nvSpPr>
          <p:cNvPr id="54" name="Shape 52"/>
          <p:cNvSpPr/>
          <p:nvPr/>
        </p:nvSpPr>
        <p:spPr>
          <a:xfrm>
            <a:off x="548640" y="4892040"/>
            <a:ext cx="292608" cy="219456"/>
          </a:xfrm>
          <a:prstGeom prst="roundRect">
            <a:avLst>
              <a:gd name="adj" fmla="val 20833"/>
            </a:avLst>
          </a:prstGeom>
          <a:solidFill>
            <a:schemeClr val="bg1"/>
          </a:solidFill>
          <a:ln w="12700">
            <a:solidFill>
              <a:schemeClr val="tx1"/>
            </a:solidFill>
            <a:prstDash val="solid"/>
          </a:ln>
        </p:spPr>
      </p:sp>
      <p:sp>
        <p:nvSpPr>
          <p:cNvPr id="55" name="Text 53"/>
          <p:cNvSpPr txBox="1"/>
          <p:nvPr/>
        </p:nvSpPr>
        <p:spPr>
          <a:xfrm>
            <a:off x="960120" y="4873752"/>
            <a:ext cx="2194560" cy="256032"/>
          </a:xfrm>
          <a:prstGeom prst="rect">
            <a:avLst/>
          </a:prstGeom>
          <a:noFill/>
          <a:ln/>
        </p:spPr>
        <p:txBody>
          <a:bodyPr wrap="square" lIns="0" tIns="0" rIns="0" bIns="0" rtlCol="0" anchor="ctr"/>
          <a:lstStyle/>
          <a:p>
            <a:pPr indent="0" marL="0">
              <a:buNone/>
            </a:pPr>
            <a:r>
              <a:rPr lang="en-US" sz="1200" dirty="0">
                <a:solidFill>
                  <a:schemeClr val="tx2"/>
                </a:solidFill>
              </a:rPr>
              <a:t>waiting</a:t>
            </a:r>
            <a:endParaRPr lang="en-US" sz="1200" dirty="0"/>
          </a:p>
        </p:txBody>
      </p:sp>
      <p:sp>
        <p:nvSpPr>
          <p:cNvPr id="56" name="Shape 54"/>
          <p:cNvSpPr/>
          <p:nvPr/>
        </p:nvSpPr>
        <p:spPr>
          <a:xfrm>
            <a:off x="548640" y="5239512"/>
            <a:ext cx="292608" cy="219456"/>
          </a:xfrm>
          <a:prstGeom prst="roundRect">
            <a:avLst>
              <a:gd name="adj" fmla="val 20833"/>
            </a:avLst>
          </a:prstGeom>
          <a:solidFill>
            <a:schemeClr val="accent1"/>
          </a:solidFill>
          <a:ln w="12700">
            <a:solidFill>
              <a:schemeClr val="accent1"/>
            </a:solidFill>
            <a:prstDash val="solid"/>
          </a:ln>
        </p:spPr>
      </p:sp>
      <p:sp>
        <p:nvSpPr>
          <p:cNvPr id="57" name="Text 55"/>
          <p:cNvSpPr txBox="1"/>
          <p:nvPr/>
        </p:nvSpPr>
        <p:spPr>
          <a:xfrm>
            <a:off x="960120" y="5221224"/>
            <a:ext cx="2194560" cy="256032"/>
          </a:xfrm>
          <a:prstGeom prst="rect">
            <a:avLst/>
          </a:prstGeom>
          <a:noFill/>
          <a:ln/>
        </p:spPr>
        <p:txBody>
          <a:bodyPr wrap="square" lIns="0" tIns="0" rIns="0" bIns="0" rtlCol="0" anchor="ctr"/>
          <a:lstStyle/>
          <a:p>
            <a:pPr indent="0" marL="0">
              <a:buNone/>
            </a:pPr>
            <a:r>
              <a:rPr lang="en-US" sz="1200" dirty="0">
                <a:solidFill>
                  <a:schemeClr val="tx2"/>
                </a:solidFill>
              </a:rPr>
              <a:t>issuing now</a:t>
            </a:r>
            <a:endParaRPr lang="en-US" sz="1200" dirty="0"/>
          </a:p>
        </p:txBody>
      </p:sp>
      <p:sp>
        <p:nvSpPr>
          <p:cNvPr id="58" name="Shape 56"/>
          <p:cNvSpPr/>
          <p:nvPr/>
        </p:nvSpPr>
        <p:spPr>
          <a:xfrm>
            <a:off x="548640" y="5586984"/>
            <a:ext cx="292608" cy="219456"/>
          </a:xfrm>
          <a:prstGeom prst="roundRect">
            <a:avLst>
              <a:gd name="adj" fmla="val 20833"/>
            </a:avLst>
          </a:prstGeom>
          <a:solidFill>
            <a:schemeClr val="bg1"/>
          </a:solidFill>
          <a:ln w="12700">
            <a:solidFill>
              <a:schemeClr val="accent2"/>
            </a:solidFill>
            <a:prstDash val="dash"/>
          </a:ln>
        </p:spPr>
      </p:sp>
      <p:sp>
        <p:nvSpPr>
          <p:cNvPr id="59" name="Text 57"/>
          <p:cNvSpPr txBox="1"/>
          <p:nvPr/>
        </p:nvSpPr>
        <p:spPr>
          <a:xfrm>
            <a:off x="960120" y="5568696"/>
            <a:ext cx="2194560" cy="256032"/>
          </a:xfrm>
          <a:prstGeom prst="rect">
            <a:avLst/>
          </a:prstGeom>
          <a:noFill/>
          <a:ln/>
        </p:spPr>
        <p:txBody>
          <a:bodyPr wrap="square" lIns="0" tIns="0" rIns="0" bIns="0" rtlCol="0" anchor="ctr"/>
          <a:lstStyle/>
          <a:p>
            <a:pPr indent="0" marL="0">
              <a:buNone/>
            </a:pPr>
            <a:r>
              <a:rPr lang="en-US" sz="1200" dirty="0">
                <a:solidFill>
                  <a:schemeClr val="tx2"/>
                </a:solidFill>
              </a:rPr>
              <a:t>iteration 2 (predicted)</a:t>
            </a:r>
            <a:endParaRPr lang="en-US" sz="1200" dirty="0"/>
          </a:p>
        </p:txBody>
      </p:sp>
      <p:sp>
        <p:nvSpPr>
          <p:cNvPr id="60" name="Shape 58"/>
          <p:cNvSpPr/>
          <p:nvPr/>
        </p:nvSpPr>
        <p:spPr>
          <a:xfrm>
            <a:off x="548640" y="5934456"/>
            <a:ext cx="292608" cy="219456"/>
          </a:xfrm>
          <a:prstGeom prst="roundRect">
            <a:avLst>
              <a:gd name="adj" fmla="val 20833"/>
            </a:avLst>
          </a:prstGeom>
          <a:solidFill>
            <a:schemeClr val="accent5"/>
          </a:solidFill>
          <a:ln w="12700">
            <a:solidFill>
              <a:schemeClr val="accent5"/>
            </a:solidFill>
            <a:prstDash val="solid"/>
          </a:ln>
        </p:spPr>
      </p:sp>
      <p:sp>
        <p:nvSpPr>
          <p:cNvPr id="61" name="Text 59"/>
          <p:cNvSpPr txBox="1"/>
          <p:nvPr/>
        </p:nvSpPr>
        <p:spPr>
          <a:xfrm>
            <a:off x="960120" y="5916168"/>
            <a:ext cx="2194560" cy="256032"/>
          </a:xfrm>
          <a:prstGeom prst="rect">
            <a:avLst/>
          </a:prstGeom>
          <a:noFill/>
          <a:ln/>
        </p:spPr>
        <p:txBody>
          <a:bodyPr wrap="square" lIns="0" tIns="0" rIns="0" bIns="0" rtlCol="0" anchor="ctr"/>
          <a:lstStyle/>
          <a:p>
            <a:pPr indent="0" marL="0">
              <a:buNone/>
            </a:pPr>
            <a:r>
              <a:rPr lang="en-US" sz="1200" dirty="0">
                <a:solidFill>
                  <a:schemeClr val="tx2"/>
                </a:solidFill>
              </a:rPr>
              <a:t>done</a:t>
            </a:r>
            <a:endParaRPr lang="en-US" sz="1200" dirty="0"/>
          </a:p>
        </p:txBody>
      </p:sp>
      <p:sp>
        <p:nvSpPr>
          <p:cNvPr id="62" name="!!caption"/>
          <p:cNvSpPr txBox="1"/>
          <p:nvPr/>
        </p:nvSpPr>
        <p:spPr>
          <a:xfrm>
            <a:off x="3154680" y="4343400"/>
            <a:ext cx="6309360" cy="1463040"/>
          </a:xfrm>
          <a:prstGeom prst="rect">
            <a:avLst/>
          </a:prstGeom>
          <a:noFill/>
          <a:ln/>
        </p:spPr>
        <p:txBody>
          <a:bodyPr wrap="square" lIns="0" tIns="0" rIns="0" bIns="0" rtlCol="0" anchor="t"/>
          <a:lstStyle/>
          <a:p>
            <a:pPr indent="0" marL="0">
              <a:buNone/>
            </a:pPr>
            <a:r>
              <a:rPr lang="en-US" sz="2000" dirty="0">
                <a:solidFill>
                  <a:schemeClr val="tx1"/>
                </a:solidFill>
              </a:rPr>
              <a:t>14 instructions in 6 cycles instead of 14. That only works while the predictor guesses right.</a:t>
            </a:r>
            <a:endParaRPr lang="en-US" sz="2000" dirty="0"/>
          </a:p>
        </p:txBody>
      </p:sp>
      <p:sp>
        <p:nvSpPr>
          <p:cNvPr id="63" name="!!stat"/>
          <p:cNvSpPr txBox="1"/>
          <p:nvPr/>
        </p:nvSpPr>
        <p:spPr>
          <a:xfrm>
            <a:off x="9692640" y="4434840"/>
            <a:ext cx="1929384"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14/14</a:t>
            </a:r>
            <a:endParaRPr lang="en-US" sz="4000" dirty="0"/>
          </a:p>
        </p:txBody>
      </p:sp>
      <p:sp>
        <p:nvSpPr>
          <p:cNvPr id="64" name="!!statlbl"/>
          <p:cNvSpPr txBox="1"/>
          <p:nvPr/>
        </p:nvSpPr>
        <p:spPr>
          <a:xfrm>
            <a:off x="9692640" y="5212080"/>
            <a:ext cx="1929384" cy="365760"/>
          </a:xfrm>
          <a:prstGeom prst="rect">
            <a:avLst/>
          </a:prstGeom>
          <a:noFill/>
          <a:ln/>
        </p:spPr>
        <p:txBody>
          <a:bodyPr wrap="square" lIns="0" tIns="0" rIns="0" bIns="0" rtlCol="0" anchor="ctr"/>
          <a:lstStyle/>
          <a:p>
            <a:pPr algn="ctr" indent="0" marL="0">
              <a:buNone/>
            </a:pPr>
            <a:r>
              <a:rPr lang="en-US" sz="1400" dirty="0">
                <a:solidFill>
                  <a:schemeClr val="tx2"/>
                </a:solidFill>
              </a:rPr>
              <a:t>issued in 6 cycles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Wide cores want boring, predictable work</a:t>
            </a:r>
            <a:endParaRPr lang="en-US" sz="3200" dirty="0"/>
          </a:p>
        </p:txBody>
      </p:sp>
      <p:sp>
        <p:nvSpPr>
          <p:cNvPr id="3" name="Text 1"/>
          <p:cNvSpPr txBox="1"/>
          <p:nvPr/>
        </p:nvSpPr>
        <p:spPr>
          <a:xfrm>
            <a:off x="548640" y="1600200"/>
            <a:ext cx="6766560" cy="3657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Batch: the same tiny check on every byte</a:t>
            </a:r>
            <a:endParaRPr lang="en-US" sz="2000" dirty="0"/>
          </a:p>
        </p:txBody>
      </p:sp>
      <p:sp>
        <p:nvSpPr>
          <p:cNvPr id="4" name="Shape 2"/>
          <p:cNvSpPr/>
          <p:nvPr/>
        </p:nvSpPr>
        <p:spPr>
          <a:xfrm>
            <a:off x="548640" y="2148840"/>
            <a:ext cx="320040" cy="457200"/>
          </a:xfrm>
          <a:prstGeom prst="roundRect">
            <a:avLst>
              <a:gd name="adj" fmla="val 14286"/>
            </a:avLst>
          </a:prstGeom>
          <a:solidFill>
            <a:schemeClr val="accent2"/>
          </a:solidFill>
          <a:ln w="12700">
            <a:solidFill>
              <a:schemeClr val="accent2"/>
            </a:solidFill>
            <a:prstDash val="solid"/>
          </a:ln>
        </p:spPr>
      </p:sp>
      <p:sp>
        <p:nvSpPr>
          <p:cNvPr id="5" name="Shape 3"/>
          <p:cNvSpPr/>
          <p:nvPr/>
        </p:nvSpPr>
        <p:spPr>
          <a:xfrm>
            <a:off x="923544" y="2148840"/>
            <a:ext cx="320040" cy="457200"/>
          </a:xfrm>
          <a:prstGeom prst="roundRect">
            <a:avLst>
              <a:gd name="adj" fmla="val 14286"/>
            </a:avLst>
          </a:prstGeom>
          <a:solidFill>
            <a:schemeClr val="accent2"/>
          </a:solidFill>
          <a:ln w="12700">
            <a:solidFill>
              <a:schemeClr val="accent2"/>
            </a:solidFill>
            <a:prstDash val="solid"/>
          </a:ln>
        </p:spPr>
      </p:sp>
      <p:sp>
        <p:nvSpPr>
          <p:cNvPr id="6" name="Shape 4"/>
          <p:cNvSpPr/>
          <p:nvPr/>
        </p:nvSpPr>
        <p:spPr>
          <a:xfrm>
            <a:off x="1298448" y="2148840"/>
            <a:ext cx="320040" cy="457200"/>
          </a:xfrm>
          <a:prstGeom prst="roundRect">
            <a:avLst>
              <a:gd name="adj" fmla="val 14286"/>
            </a:avLst>
          </a:prstGeom>
          <a:solidFill>
            <a:schemeClr val="accent2"/>
          </a:solidFill>
          <a:ln w="12700">
            <a:solidFill>
              <a:schemeClr val="accent2"/>
            </a:solidFill>
            <a:prstDash val="solid"/>
          </a:ln>
        </p:spPr>
      </p:sp>
      <p:sp>
        <p:nvSpPr>
          <p:cNvPr id="7" name="Shape 5"/>
          <p:cNvSpPr/>
          <p:nvPr/>
        </p:nvSpPr>
        <p:spPr>
          <a:xfrm>
            <a:off x="1673352" y="2148840"/>
            <a:ext cx="320040" cy="457200"/>
          </a:xfrm>
          <a:prstGeom prst="roundRect">
            <a:avLst>
              <a:gd name="adj" fmla="val 14286"/>
            </a:avLst>
          </a:prstGeom>
          <a:solidFill>
            <a:schemeClr val="accent2"/>
          </a:solidFill>
          <a:ln w="12700">
            <a:solidFill>
              <a:schemeClr val="accent2"/>
            </a:solidFill>
            <a:prstDash val="solid"/>
          </a:ln>
        </p:spPr>
      </p:sp>
      <p:sp>
        <p:nvSpPr>
          <p:cNvPr id="8" name="Shape 6"/>
          <p:cNvSpPr/>
          <p:nvPr/>
        </p:nvSpPr>
        <p:spPr>
          <a:xfrm>
            <a:off x="2048256" y="2148840"/>
            <a:ext cx="320040" cy="457200"/>
          </a:xfrm>
          <a:prstGeom prst="roundRect">
            <a:avLst>
              <a:gd name="adj" fmla="val 14286"/>
            </a:avLst>
          </a:prstGeom>
          <a:solidFill>
            <a:schemeClr val="accent2"/>
          </a:solidFill>
          <a:ln w="12700">
            <a:solidFill>
              <a:schemeClr val="accent2"/>
            </a:solidFill>
            <a:prstDash val="solid"/>
          </a:ln>
        </p:spPr>
      </p:sp>
      <p:sp>
        <p:nvSpPr>
          <p:cNvPr id="9" name="Shape 7"/>
          <p:cNvSpPr/>
          <p:nvPr/>
        </p:nvSpPr>
        <p:spPr>
          <a:xfrm>
            <a:off x="2423160" y="2148840"/>
            <a:ext cx="320040" cy="457200"/>
          </a:xfrm>
          <a:prstGeom prst="roundRect">
            <a:avLst>
              <a:gd name="adj" fmla="val 14286"/>
            </a:avLst>
          </a:prstGeom>
          <a:solidFill>
            <a:schemeClr val="accent2"/>
          </a:solidFill>
          <a:ln w="12700">
            <a:solidFill>
              <a:schemeClr val="accent2"/>
            </a:solidFill>
            <a:prstDash val="solid"/>
          </a:ln>
        </p:spPr>
      </p:sp>
      <p:sp>
        <p:nvSpPr>
          <p:cNvPr id="10" name="Shape 8"/>
          <p:cNvSpPr/>
          <p:nvPr/>
        </p:nvSpPr>
        <p:spPr>
          <a:xfrm>
            <a:off x="2798064" y="2148840"/>
            <a:ext cx="320040" cy="457200"/>
          </a:xfrm>
          <a:prstGeom prst="roundRect">
            <a:avLst>
              <a:gd name="adj" fmla="val 14286"/>
            </a:avLst>
          </a:prstGeom>
          <a:solidFill>
            <a:schemeClr val="accent2"/>
          </a:solidFill>
          <a:ln w="12700">
            <a:solidFill>
              <a:schemeClr val="accent2"/>
            </a:solidFill>
            <a:prstDash val="solid"/>
          </a:ln>
        </p:spPr>
      </p:sp>
      <p:sp>
        <p:nvSpPr>
          <p:cNvPr id="11" name="Shape 9"/>
          <p:cNvSpPr/>
          <p:nvPr/>
        </p:nvSpPr>
        <p:spPr>
          <a:xfrm>
            <a:off x="3172968" y="2148840"/>
            <a:ext cx="320040" cy="457200"/>
          </a:xfrm>
          <a:prstGeom prst="roundRect">
            <a:avLst>
              <a:gd name="adj" fmla="val 14286"/>
            </a:avLst>
          </a:prstGeom>
          <a:solidFill>
            <a:schemeClr val="accent2"/>
          </a:solidFill>
          <a:ln w="12700">
            <a:solidFill>
              <a:schemeClr val="accent2"/>
            </a:solidFill>
            <a:prstDash val="solid"/>
          </a:ln>
        </p:spPr>
      </p:sp>
      <p:sp>
        <p:nvSpPr>
          <p:cNvPr id="12" name="Shape 10"/>
          <p:cNvSpPr/>
          <p:nvPr/>
        </p:nvSpPr>
        <p:spPr>
          <a:xfrm>
            <a:off x="3547872" y="2148840"/>
            <a:ext cx="320040" cy="457200"/>
          </a:xfrm>
          <a:prstGeom prst="roundRect">
            <a:avLst>
              <a:gd name="adj" fmla="val 14286"/>
            </a:avLst>
          </a:prstGeom>
          <a:solidFill>
            <a:schemeClr val="accent2"/>
          </a:solidFill>
          <a:ln w="12700">
            <a:solidFill>
              <a:schemeClr val="accent2"/>
            </a:solidFill>
            <a:prstDash val="solid"/>
          </a:ln>
        </p:spPr>
      </p:sp>
      <p:sp>
        <p:nvSpPr>
          <p:cNvPr id="13" name="Shape 11"/>
          <p:cNvSpPr/>
          <p:nvPr/>
        </p:nvSpPr>
        <p:spPr>
          <a:xfrm>
            <a:off x="3922776" y="2148840"/>
            <a:ext cx="320040" cy="457200"/>
          </a:xfrm>
          <a:prstGeom prst="roundRect">
            <a:avLst>
              <a:gd name="adj" fmla="val 14286"/>
            </a:avLst>
          </a:prstGeom>
          <a:solidFill>
            <a:schemeClr val="accent2"/>
          </a:solidFill>
          <a:ln w="12700">
            <a:solidFill>
              <a:schemeClr val="accent2"/>
            </a:solidFill>
            <a:prstDash val="solid"/>
          </a:ln>
        </p:spPr>
      </p:sp>
      <p:sp>
        <p:nvSpPr>
          <p:cNvPr id="14" name="Shape 12"/>
          <p:cNvSpPr/>
          <p:nvPr/>
        </p:nvSpPr>
        <p:spPr>
          <a:xfrm>
            <a:off x="4297680" y="2148840"/>
            <a:ext cx="320040" cy="457200"/>
          </a:xfrm>
          <a:prstGeom prst="roundRect">
            <a:avLst>
              <a:gd name="adj" fmla="val 14286"/>
            </a:avLst>
          </a:prstGeom>
          <a:solidFill>
            <a:schemeClr val="accent2"/>
          </a:solidFill>
          <a:ln w="12700">
            <a:solidFill>
              <a:schemeClr val="accent2"/>
            </a:solidFill>
            <a:prstDash val="solid"/>
          </a:ln>
        </p:spPr>
      </p:sp>
      <p:sp>
        <p:nvSpPr>
          <p:cNvPr id="15" name="Shape 13"/>
          <p:cNvSpPr/>
          <p:nvPr/>
        </p:nvSpPr>
        <p:spPr>
          <a:xfrm>
            <a:off x="4672584" y="2148840"/>
            <a:ext cx="320040" cy="457200"/>
          </a:xfrm>
          <a:prstGeom prst="roundRect">
            <a:avLst>
              <a:gd name="adj" fmla="val 14286"/>
            </a:avLst>
          </a:prstGeom>
          <a:solidFill>
            <a:schemeClr val="accent2"/>
          </a:solidFill>
          <a:ln w="12700">
            <a:solidFill>
              <a:schemeClr val="accent2"/>
            </a:solidFill>
            <a:prstDash val="solid"/>
          </a:ln>
        </p:spPr>
      </p:sp>
      <p:sp>
        <p:nvSpPr>
          <p:cNvPr id="16" name="Shape 14"/>
          <p:cNvSpPr/>
          <p:nvPr/>
        </p:nvSpPr>
        <p:spPr>
          <a:xfrm>
            <a:off x="5047488" y="2148840"/>
            <a:ext cx="320040" cy="457200"/>
          </a:xfrm>
          <a:prstGeom prst="roundRect">
            <a:avLst>
              <a:gd name="adj" fmla="val 14286"/>
            </a:avLst>
          </a:prstGeom>
          <a:solidFill>
            <a:schemeClr val="accent2"/>
          </a:solidFill>
          <a:ln w="12700">
            <a:solidFill>
              <a:schemeClr val="accent2"/>
            </a:solidFill>
            <a:prstDash val="solid"/>
          </a:ln>
        </p:spPr>
      </p:sp>
      <p:sp>
        <p:nvSpPr>
          <p:cNvPr id="17" name="Shape 15"/>
          <p:cNvSpPr/>
          <p:nvPr/>
        </p:nvSpPr>
        <p:spPr>
          <a:xfrm>
            <a:off x="5422392" y="2148840"/>
            <a:ext cx="320040" cy="457200"/>
          </a:xfrm>
          <a:prstGeom prst="roundRect">
            <a:avLst>
              <a:gd name="adj" fmla="val 14286"/>
            </a:avLst>
          </a:prstGeom>
          <a:solidFill>
            <a:schemeClr val="accent2"/>
          </a:solidFill>
          <a:ln w="12700">
            <a:solidFill>
              <a:schemeClr val="accent2"/>
            </a:solidFill>
            <a:prstDash val="solid"/>
          </a:ln>
        </p:spPr>
      </p:sp>
      <p:sp>
        <p:nvSpPr>
          <p:cNvPr id="18" name="Shape 16"/>
          <p:cNvSpPr/>
          <p:nvPr/>
        </p:nvSpPr>
        <p:spPr>
          <a:xfrm>
            <a:off x="5797296" y="2148840"/>
            <a:ext cx="320040" cy="457200"/>
          </a:xfrm>
          <a:prstGeom prst="roundRect">
            <a:avLst>
              <a:gd name="adj" fmla="val 14286"/>
            </a:avLst>
          </a:prstGeom>
          <a:solidFill>
            <a:schemeClr val="accent2"/>
          </a:solidFill>
          <a:ln w="12700">
            <a:solidFill>
              <a:schemeClr val="accent2"/>
            </a:solidFill>
            <a:prstDash val="solid"/>
          </a:ln>
        </p:spPr>
      </p:sp>
      <p:sp>
        <p:nvSpPr>
          <p:cNvPr id="19" name="Shape 17"/>
          <p:cNvSpPr/>
          <p:nvPr/>
        </p:nvSpPr>
        <p:spPr>
          <a:xfrm>
            <a:off x="6172200" y="2148840"/>
            <a:ext cx="320040" cy="457200"/>
          </a:xfrm>
          <a:prstGeom prst="roundRect">
            <a:avLst>
              <a:gd name="adj" fmla="val 14286"/>
            </a:avLst>
          </a:prstGeom>
          <a:solidFill>
            <a:schemeClr val="accent2"/>
          </a:solidFill>
          <a:ln w="12700">
            <a:solidFill>
              <a:schemeClr val="accent2"/>
            </a:solidFill>
            <a:prstDash val="solid"/>
          </a:ln>
        </p:spPr>
      </p:sp>
      <p:sp>
        <p:nvSpPr>
          <p:cNvPr id="20" name="Shape 18"/>
          <p:cNvSpPr/>
          <p:nvPr/>
        </p:nvSpPr>
        <p:spPr>
          <a:xfrm>
            <a:off x="6547104" y="2148840"/>
            <a:ext cx="320040" cy="457200"/>
          </a:xfrm>
          <a:prstGeom prst="roundRect">
            <a:avLst>
              <a:gd name="adj" fmla="val 14286"/>
            </a:avLst>
          </a:prstGeom>
          <a:solidFill>
            <a:schemeClr val="accent2"/>
          </a:solidFill>
          <a:ln w="12700">
            <a:solidFill>
              <a:schemeClr val="accent2"/>
            </a:solidFill>
            <a:prstDash val="solid"/>
          </a:ln>
        </p:spPr>
      </p:sp>
      <p:sp>
        <p:nvSpPr>
          <p:cNvPr id="21" name="Shape 19"/>
          <p:cNvSpPr/>
          <p:nvPr/>
        </p:nvSpPr>
        <p:spPr>
          <a:xfrm>
            <a:off x="6922008" y="2148840"/>
            <a:ext cx="320040" cy="457200"/>
          </a:xfrm>
          <a:prstGeom prst="roundRect">
            <a:avLst>
              <a:gd name="adj" fmla="val 14286"/>
            </a:avLst>
          </a:prstGeom>
          <a:solidFill>
            <a:schemeClr val="accent2"/>
          </a:solidFill>
          <a:ln w="12700">
            <a:solidFill>
              <a:schemeClr val="accent2"/>
            </a:solidFill>
            <a:prstDash val="solid"/>
          </a:ln>
        </p:spPr>
      </p:sp>
      <p:sp>
        <p:nvSpPr>
          <p:cNvPr id="22" name="Text 20"/>
          <p:cNvSpPr txBox="1"/>
          <p:nvPr/>
        </p:nvSpPr>
        <p:spPr>
          <a:xfrm>
            <a:off x="548640" y="2743200"/>
            <a:ext cx="6766560" cy="365760"/>
          </a:xfrm>
          <a:prstGeom prst="rect">
            <a:avLst/>
          </a:prstGeom>
          <a:noFill/>
          <a:ln/>
        </p:spPr>
        <p:txBody>
          <a:bodyPr wrap="square" lIns="0" tIns="0" rIns="0" bIns="0" rtlCol="0" anchor="ctr"/>
          <a:lstStyle/>
          <a:p>
            <a:pPr indent="0" marL="0">
              <a:buNone/>
            </a:pPr>
            <a:r>
              <a:rPr lang="en-US" sz="1600" dirty="0">
                <a:solidFill>
                  <a:schemeClr val="tx2"/>
                </a:solidFill>
              </a:rPr>
              <a:t>The predictor is right every time, so the pipeline stays full.</a:t>
            </a:r>
            <a:endParaRPr lang="en-US" sz="1600" dirty="0"/>
          </a:p>
        </p:txBody>
      </p:sp>
      <p:sp>
        <p:nvSpPr>
          <p:cNvPr id="23" name="Text 21"/>
          <p:cNvSpPr txBox="1"/>
          <p:nvPr/>
        </p:nvSpPr>
        <p:spPr>
          <a:xfrm>
            <a:off x="548640" y="3566160"/>
            <a:ext cx="6766560" cy="36576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Interpret as you go: branch on the data</a:t>
            </a:r>
            <a:endParaRPr lang="en-US" sz="2000" dirty="0"/>
          </a:p>
        </p:txBody>
      </p:sp>
      <p:sp>
        <p:nvSpPr>
          <p:cNvPr id="24" name="Shape 22"/>
          <p:cNvSpPr/>
          <p:nvPr/>
        </p:nvSpPr>
        <p:spPr>
          <a:xfrm>
            <a:off x="548640" y="4114800"/>
            <a:ext cx="320040" cy="457200"/>
          </a:xfrm>
          <a:prstGeom prst="roundRect">
            <a:avLst>
              <a:gd name="adj" fmla="val 14286"/>
            </a:avLst>
          </a:prstGeom>
          <a:solidFill>
            <a:schemeClr val="accent2"/>
          </a:solidFill>
          <a:ln w="12700">
            <a:solidFill>
              <a:schemeClr val="accent2"/>
            </a:solidFill>
            <a:prstDash val="solid"/>
          </a:ln>
        </p:spPr>
      </p:sp>
      <p:sp>
        <p:nvSpPr>
          <p:cNvPr id="25" name="Shape 23"/>
          <p:cNvSpPr/>
          <p:nvPr/>
        </p:nvSpPr>
        <p:spPr>
          <a:xfrm>
            <a:off x="923544" y="4114800"/>
            <a:ext cx="320040" cy="457200"/>
          </a:xfrm>
          <a:prstGeom prst="roundRect">
            <a:avLst>
              <a:gd name="adj" fmla="val 14286"/>
            </a:avLst>
          </a:prstGeom>
          <a:solidFill>
            <a:schemeClr val="accent2"/>
          </a:solidFill>
          <a:ln w="12700">
            <a:solidFill>
              <a:schemeClr val="accent2"/>
            </a:solidFill>
            <a:prstDash val="solid"/>
          </a:ln>
        </p:spPr>
      </p:sp>
      <p:sp>
        <p:nvSpPr>
          <p:cNvPr id="26" name="Shape 24"/>
          <p:cNvSpPr/>
          <p:nvPr/>
        </p:nvSpPr>
        <p:spPr>
          <a:xfrm>
            <a:off x="1298448" y="4114800"/>
            <a:ext cx="320040" cy="457200"/>
          </a:xfrm>
          <a:prstGeom prst="roundRect">
            <a:avLst>
              <a:gd name="adj" fmla="val 14286"/>
            </a:avLst>
          </a:prstGeom>
          <a:solidFill>
            <a:schemeClr val="accent2"/>
          </a:solidFill>
          <a:ln w="12700">
            <a:solidFill>
              <a:schemeClr val="accent2"/>
            </a:solidFill>
            <a:prstDash val="solid"/>
          </a:ln>
        </p:spPr>
      </p:sp>
      <p:sp>
        <p:nvSpPr>
          <p:cNvPr id="27" name="Shape 25"/>
          <p:cNvSpPr/>
          <p:nvPr/>
        </p:nvSpPr>
        <p:spPr>
          <a:xfrm>
            <a:off x="1673352" y="4114800"/>
            <a:ext cx="320040" cy="457200"/>
          </a:xfrm>
          <a:prstGeom prst="roundRect">
            <a:avLst>
              <a:gd name="adj" fmla="val 14286"/>
            </a:avLst>
          </a:prstGeom>
          <a:solidFill>
            <a:schemeClr val="accent2"/>
          </a:solidFill>
          <a:ln w="12700">
            <a:solidFill>
              <a:schemeClr val="accent2"/>
            </a:solidFill>
            <a:prstDash val="solid"/>
          </a:ln>
        </p:spPr>
      </p:sp>
      <p:sp>
        <p:nvSpPr>
          <p:cNvPr id="28" name="Shape 26"/>
          <p:cNvSpPr/>
          <p:nvPr/>
        </p:nvSpPr>
        <p:spPr>
          <a:xfrm>
            <a:off x="2048256" y="4114800"/>
            <a:ext cx="320040" cy="457200"/>
          </a:xfrm>
          <a:prstGeom prst="roundRect">
            <a:avLst>
              <a:gd name="adj" fmla="val 14286"/>
            </a:avLst>
          </a:prstGeom>
          <a:solidFill>
            <a:schemeClr val="accent4"/>
          </a:solidFill>
          <a:ln w="12700">
            <a:solidFill>
              <a:schemeClr val="accent4"/>
            </a:solidFill>
            <a:prstDash val="solid"/>
          </a:ln>
        </p:spPr>
      </p:sp>
      <p:sp>
        <p:nvSpPr>
          <p:cNvPr id="29" name="Shape 27"/>
          <p:cNvSpPr/>
          <p:nvPr/>
        </p:nvSpPr>
        <p:spPr>
          <a:xfrm>
            <a:off x="2423160" y="4114800"/>
            <a:ext cx="320040" cy="457200"/>
          </a:xfrm>
          <a:prstGeom prst="roundRect">
            <a:avLst>
              <a:gd name="adj" fmla="val 14286"/>
            </a:avLst>
          </a:prstGeom>
          <a:solidFill>
            <a:schemeClr val="bg1"/>
          </a:solidFill>
          <a:ln w="12700">
            <a:solidFill>
              <a:schemeClr val="accent6"/>
            </a:solidFill>
            <a:prstDash val="dash"/>
          </a:ln>
        </p:spPr>
      </p:sp>
      <p:sp>
        <p:nvSpPr>
          <p:cNvPr id="30" name="Shape 28"/>
          <p:cNvSpPr/>
          <p:nvPr/>
        </p:nvSpPr>
        <p:spPr>
          <a:xfrm>
            <a:off x="2798064" y="4114800"/>
            <a:ext cx="320040" cy="457200"/>
          </a:xfrm>
          <a:prstGeom prst="roundRect">
            <a:avLst>
              <a:gd name="adj" fmla="val 14286"/>
            </a:avLst>
          </a:prstGeom>
          <a:solidFill>
            <a:schemeClr val="bg1"/>
          </a:solidFill>
          <a:ln w="12700">
            <a:solidFill>
              <a:schemeClr val="accent6"/>
            </a:solidFill>
            <a:prstDash val="dash"/>
          </a:ln>
        </p:spPr>
      </p:sp>
      <p:sp>
        <p:nvSpPr>
          <p:cNvPr id="31" name="Shape 29"/>
          <p:cNvSpPr/>
          <p:nvPr/>
        </p:nvSpPr>
        <p:spPr>
          <a:xfrm>
            <a:off x="3172968" y="4114800"/>
            <a:ext cx="320040" cy="457200"/>
          </a:xfrm>
          <a:prstGeom prst="roundRect">
            <a:avLst>
              <a:gd name="adj" fmla="val 14286"/>
            </a:avLst>
          </a:prstGeom>
          <a:solidFill>
            <a:schemeClr val="bg1"/>
          </a:solidFill>
          <a:ln w="12700">
            <a:solidFill>
              <a:schemeClr val="accent6"/>
            </a:solidFill>
            <a:prstDash val="dash"/>
          </a:ln>
        </p:spPr>
      </p:sp>
      <p:sp>
        <p:nvSpPr>
          <p:cNvPr id="32" name="Shape 30"/>
          <p:cNvSpPr/>
          <p:nvPr/>
        </p:nvSpPr>
        <p:spPr>
          <a:xfrm>
            <a:off x="3547872" y="4114800"/>
            <a:ext cx="320040" cy="457200"/>
          </a:xfrm>
          <a:prstGeom prst="roundRect">
            <a:avLst>
              <a:gd name="adj" fmla="val 14286"/>
            </a:avLst>
          </a:prstGeom>
          <a:solidFill>
            <a:schemeClr val="bg1"/>
          </a:solidFill>
          <a:ln w="12700">
            <a:solidFill>
              <a:schemeClr val="accent6"/>
            </a:solidFill>
            <a:prstDash val="dash"/>
          </a:ln>
        </p:spPr>
      </p:sp>
      <p:sp>
        <p:nvSpPr>
          <p:cNvPr id="33" name="Shape 31"/>
          <p:cNvSpPr/>
          <p:nvPr/>
        </p:nvSpPr>
        <p:spPr>
          <a:xfrm>
            <a:off x="3922776" y="4114800"/>
            <a:ext cx="320040" cy="457200"/>
          </a:xfrm>
          <a:prstGeom prst="roundRect">
            <a:avLst>
              <a:gd name="adj" fmla="val 14286"/>
            </a:avLst>
          </a:prstGeom>
          <a:solidFill>
            <a:schemeClr val="bg1"/>
          </a:solidFill>
          <a:ln w="12700">
            <a:solidFill>
              <a:schemeClr val="accent6"/>
            </a:solidFill>
            <a:prstDash val="dash"/>
          </a:ln>
        </p:spPr>
      </p:sp>
      <p:sp>
        <p:nvSpPr>
          <p:cNvPr id="34" name="Shape 32"/>
          <p:cNvSpPr/>
          <p:nvPr/>
        </p:nvSpPr>
        <p:spPr>
          <a:xfrm>
            <a:off x="4297680" y="4114800"/>
            <a:ext cx="320040" cy="457200"/>
          </a:xfrm>
          <a:prstGeom prst="roundRect">
            <a:avLst>
              <a:gd name="adj" fmla="val 14286"/>
            </a:avLst>
          </a:prstGeom>
          <a:solidFill>
            <a:schemeClr val="bg1"/>
          </a:solidFill>
          <a:ln w="12700">
            <a:solidFill>
              <a:schemeClr val="accent6"/>
            </a:solidFill>
            <a:prstDash val="dash"/>
          </a:ln>
        </p:spPr>
      </p:sp>
      <p:sp>
        <p:nvSpPr>
          <p:cNvPr id="35" name="Shape 33"/>
          <p:cNvSpPr/>
          <p:nvPr/>
        </p:nvSpPr>
        <p:spPr>
          <a:xfrm>
            <a:off x="4672584" y="4114800"/>
            <a:ext cx="320040" cy="457200"/>
          </a:xfrm>
          <a:prstGeom prst="roundRect">
            <a:avLst>
              <a:gd name="adj" fmla="val 14286"/>
            </a:avLst>
          </a:prstGeom>
          <a:solidFill>
            <a:schemeClr val="bg1"/>
          </a:solidFill>
          <a:ln w="12700">
            <a:solidFill>
              <a:schemeClr val="accent6"/>
            </a:solidFill>
            <a:prstDash val="dash"/>
          </a:ln>
        </p:spPr>
      </p:sp>
      <p:sp>
        <p:nvSpPr>
          <p:cNvPr id="36" name="Shape 34"/>
          <p:cNvSpPr/>
          <p:nvPr/>
        </p:nvSpPr>
        <p:spPr>
          <a:xfrm>
            <a:off x="5047488" y="4114800"/>
            <a:ext cx="320040" cy="457200"/>
          </a:xfrm>
          <a:prstGeom prst="roundRect">
            <a:avLst>
              <a:gd name="adj" fmla="val 14286"/>
            </a:avLst>
          </a:prstGeom>
          <a:solidFill>
            <a:schemeClr val="accent2"/>
          </a:solidFill>
          <a:ln w="12700">
            <a:solidFill>
              <a:schemeClr val="accent2"/>
            </a:solidFill>
            <a:prstDash val="solid"/>
          </a:ln>
        </p:spPr>
      </p:sp>
      <p:sp>
        <p:nvSpPr>
          <p:cNvPr id="37" name="Shape 35"/>
          <p:cNvSpPr/>
          <p:nvPr/>
        </p:nvSpPr>
        <p:spPr>
          <a:xfrm>
            <a:off x="5422392" y="4114800"/>
            <a:ext cx="320040" cy="457200"/>
          </a:xfrm>
          <a:prstGeom prst="roundRect">
            <a:avLst>
              <a:gd name="adj" fmla="val 14286"/>
            </a:avLst>
          </a:prstGeom>
          <a:solidFill>
            <a:schemeClr val="accent2"/>
          </a:solidFill>
          <a:ln w="12700">
            <a:solidFill>
              <a:schemeClr val="accent2"/>
            </a:solidFill>
            <a:prstDash val="solid"/>
          </a:ln>
        </p:spPr>
      </p:sp>
      <p:sp>
        <p:nvSpPr>
          <p:cNvPr id="38" name="Shape 36"/>
          <p:cNvSpPr/>
          <p:nvPr/>
        </p:nvSpPr>
        <p:spPr>
          <a:xfrm>
            <a:off x="5797296" y="4114800"/>
            <a:ext cx="320040" cy="457200"/>
          </a:xfrm>
          <a:prstGeom prst="roundRect">
            <a:avLst>
              <a:gd name="adj" fmla="val 14286"/>
            </a:avLst>
          </a:prstGeom>
          <a:solidFill>
            <a:schemeClr val="accent2"/>
          </a:solidFill>
          <a:ln w="12700">
            <a:solidFill>
              <a:schemeClr val="accent2"/>
            </a:solidFill>
            <a:prstDash val="solid"/>
          </a:ln>
        </p:spPr>
      </p:sp>
      <p:sp>
        <p:nvSpPr>
          <p:cNvPr id="39" name="Shape 37"/>
          <p:cNvSpPr/>
          <p:nvPr/>
        </p:nvSpPr>
        <p:spPr>
          <a:xfrm>
            <a:off x="6172200" y="4114800"/>
            <a:ext cx="320040" cy="457200"/>
          </a:xfrm>
          <a:prstGeom prst="roundRect">
            <a:avLst>
              <a:gd name="adj" fmla="val 14286"/>
            </a:avLst>
          </a:prstGeom>
          <a:solidFill>
            <a:schemeClr val="accent4"/>
          </a:solidFill>
          <a:ln w="12700">
            <a:solidFill>
              <a:schemeClr val="accent4"/>
            </a:solidFill>
            <a:prstDash val="solid"/>
          </a:ln>
        </p:spPr>
      </p:sp>
      <p:sp>
        <p:nvSpPr>
          <p:cNvPr id="40" name="Shape 38"/>
          <p:cNvSpPr/>
          <p:nvPr/>
        </p:nvSpPr>
        <p:spPr>
          <a:xfrm>
            <a:off x="6547104" y="4114800"/>
            <a:ext cx="320040" cy="457200"/>
          </a:xfrm>
          <a:prstGeom prst="roundRect">
            <a:avLst>
              <a:gd name="adj" fmla="val 14286"/>
            </a:avLst>
          </a:prstGeom>
          <a:solidFill>
            <a:schemeClr val="bg1"/>
          </a:solidFill>
          <a:ln w="12700">
            <a:solidFill>
              <a:schemeClr val="accent6"/>
            </a:solidFill>
            <a:prstDash val="dash"/>
          </a:ln>
        </p:spPr>
      </p:sp>
      <p:sp>
        <p:nvSpPr>
          <p:cNvPr id="41" name="Shape 39"/>
          <p:cNvSpPr/>
          <p:nvPr/>
        </p:nvSpPr>
        <p:spPr>
          <a:xfrm>
            <a:off x="6922008" y="4114800"/>
            <a:ext cx="320040" cy="457200"/>
          </a:xfrm>
          <a:prstGeom prst="roundRect">
            <a:avLst>
              <a:gd name="adj" fmla="val 14286"/>
            </a:avLst>
          </a:prstGeom>
          <a:solidFill>
            <a:schemeClr val="bg1"/>
          </a:solidFill>
          <a:ln w="12700">
            <a:solidFill>
              <a:schemeClr val="accent6"/>
            </a:solidFill>
            <a:prstDash val="dash"/>
          </a:ln>
        </p:spPr>
      </p:sp>
      <p:sp>
        <p:nvSpPr>
          <p:cNvPr id="42" name="Text 40"/>
          <p:cNvSpPr txBox="1"/>
          <p:nvPr/>
        </p:nvSpPr>
        <p:spPr>
          <a:xfrm>
            <a:off x="548640" y="4709160"/>
            <a:ext cx="6766560" cy="365760"/>
          </a:xfrm>
          <a:prstGeom prst="rect">
            <a:avLst/>
          </a:prstGeom>
          <a:noFill/>
          <a:ln/>
        </p:spPr>
        <p:txBody>
          <a:bodyPr wrap="square" lIns="0" tIns="0" rIns="0" bIns="0" rtlCol="0" anchor="ctr"/>
          <a:lstStyle/>
          <a:p>
            <a:pPr indent="0" marL="0">
              <a:buNone/>
            </a:pPr>
            <a:r>
              <a:rPr lang="en-US" sz="1600" dirty="0">
                <a:solidFill>
                  <a:schemeClr val="tx2"/>
                </a:solidFill>
              </a:rPr>
              <a:t>One wrong guess throws away all the work in flight, then refills.</a:t>
            </a:r>
            <a:endParaRPr lang="en-US" sz="1600" dirty="0"/>
          </a:p>
        </p:txBody>
      </p:sp>
      <p:sp>
        <p:nvSpPr>
          <p:cNvPr id="43" name="Shape 41"/>
          <p:cNvSpPr/>
          <p:nvPr/>
        </p:nvSpPr>
        <p:spPr>
          <a:xfrm>
            <a:off x="548640" y="5669280"/>
            <a:ext cx="228600" cy="228600"/>
          </a:xfrm>
          <a:prstGeom prst="roundRect">
            <a:avLst>
              <a:gd name="adj" fmla="val 16000"/>
            </a:avLst>
          </a:prstGeom>
          <a:solidFill>
            <a:schemeClr val="accent2"/>
          </a:solidFill>
          <a:ln w="12700">
            <a:solidFill>
              <a:schemeClr val="accent2"/>
            </a:solidFill>
            <a:prstDash val="solid"/>
          </a:ln>
        </p:spPr>
      </p:sp>
      <p:sp>
        <p:nvSpPr>
          <p:cNvPr id="44" name="Text 42"/>
          <p:cNvSpPr txBox="1"/>
          <p:nvPr/>
        </p:nvSpPr>
        <p:spPr>
          <a:xfrm>
            <a:off x="868680" y="5641848"/>
            <a:ext cx="1920240" cy="274320"/>
          </a:xfrm>
          <a:prstGeom prst="rect">
            <a:avLst/>
          </a:prstGeom>
          <a:noFill/>
          <a:ln/>
        </p:spPr>
        <p:txBody>
          <a:bodyPr wrap="square" lIns="0" tIns="0" rIns="0" bIns="0" rtlCol="0" anchor="ctr"/>
          <a:lstStyle/>
          <a:p>
            <a:pPr indent="0" marL="0">
              <a:buNone/>
            </a:pPr>
            <a:r>
              <a:rPr lang="en-US" sz="1300" dirty="0">
                <a:solidFill>
                  <a:schemeClr val="tx2"/>
                </a:solidFill>
              </a:rPr>
              <a:t>predicted right</a:t>
            </a:r>
            <a:endParaRPr lang="en-US" sz="1300" dirty="0"/>
          </a:p>
        </p:txBody>
      </p:sp>
      <p:sp>
        <p:nvSpPr>
          <p:cNvPr id="45" name="Shape 43"/>
          <p:cNvSpPr/>
          <p:nvPr/>
        </p:nvSpPr>
        <p:spPr>
          <a:xfrm>
            <a:off x="2834640" y="5669280"/>
            <a:ext cx="228600" cy="228600"/>
          </a:xfrm>
          <a:prstGeom prst="roundRect">
            <a:avLst>
              <a:gd name="adj" fmla="val 16000"/>
            </a:avLst>
          </a:prstGeom>
          <a:solidFill>
            <a:schemeClr val="accent4"/>
          </a:solidFill>
          <a:ln w="12700">
            <a:solidFill>
              <a:schemeClr val="accent4"/>
            </a:solidFill>
            <a:prstDash val="solid"/>
          </a:ln>
        </p:spPr>
      </p:sp>
      <p:sp>
        <p:nvSpPr>
          <p:cNvPr id="46" name="Text 44"/>
          <p:cNvSpPr txBox="1"/>
          <p:nvPr/>
        </p:nvSpPr>
        <p:spPr>
          <a:xfrm>
            <a:off x="3154680" y="5641848"/>
            <a:ext cx="1920240" cy="274320"/>
          </a:xfrm>
          <a:prstGeom prst="rect">
            <a:avLst/>
          </a:prstGeom>
          <a:noFill/>
          <a:ln/>
        </p:spPr>
        <p:txBody>
          <a:bodyPr wrap="square" lIns="0" tIns="0" rIns="0" bIns="0" rtlCol="0" anchor="ctr"/>
          <a:lstStyle/>
          <a:p>
            <a:pPr indent="0" marL="0">
              <a:buNone/>
            </a:pPr>
            <a:r>
              <a:rPr lang="en-US" sz="1300" dirty="0">
                <a:solidFill>
                  <a:schemeClr val="tx2"/>
                </a:solidFill>
              </a:rPr>
              <a:t>mispredicted branch</a:t>
            </a:r>
            <a:endParaRPr lang="en-US" sz="1300" dirty="0"/>
          </a:p>
        </p:txBody>
      </p:sp>
      <p:sp>
        <p:nvSpPr>
          <p:cNvPr id="47" name="Shape 45"/>
          <p:cNvSpPr/>
          <p:nvPr/>
        </p:nvSpPr>
        <p:spPr>
          <a:xfrm>
            <a:off x="5120640" y="5669280"/>
            <a:ext cx="228600" cy="228600"/>
          </a:xfrm>
          <a:prstGeom prst="roundRect">
            <a:avLst>
              <a:gd name="adj" fmla="val 16000"/>
            </a:avLst>
          </a:prstGeom>
          <a:solidFill>
            <a:schemeClr val="bg1"/>
          </a:solidFill>
          <a:ln w="12700">
            <a:solidFill>
              <a:schemeClr val="accent6"/>
            </a:solidFill>
            <a:prstDash val="dash"/>
          </a:ln>
        </p:spPr>
      </p:sp>
      <p:sp>
        <p:nvSpPr>
          <p:cNvPr id="48" name="Text 46"/>
          <p:cNvSpPr txBox="1"/>
          <p:nvPr/>
        </p:nvSpPr>
        <p:spPr>
          <a:xfrm>
            <a:off x="5440680" y="5641848"/>
            <a:ext cx="1920240" cy="274320"/>
          </a:xfrm>
          <a:prstGeom prst="rect">
            <a:avLst/>
          </a:prstGeom>
          <a:noFill/>
          <a:ln/>
        </p:spPr>
        <p:txBody>
          <a:bodyPr wrap="square" lIns="0" tIns="0" rIns="0" bIns="0" rtlCol="0" anchor="ctr"/>
          <a:lstStyle/>
          <a:p>
            <a:pPr indent="0" marL="0">
              <a:buNone/>
            </a:pPr>
            <a:r>
              <a:rPr lang="en-US" sz="1300" dirty="0">
                <a:solidFill>
                  <a:schemeClr val="tx2"/>
                </a:solidFill>
              </a:rPr>
              <a:t>work thrown away</a:t>
            </a:r>
            <a:endParaRPr lang="en-US" sz="1300" dirty="0"/>
          </a:p>
        </p:txBody>
      </p:sp>
      <p:sp>
        <p:nvSpPr>
          <p:cNvPr id="49" name="Text 47"/>
          <p:cNvSpPr txBox="1"/>
          <p:nvPr/>
        </p:nvSpPr>
        <p:spPr>
          <a:xfrm>
            <a:off x="8092440" y="1737360"/>
            <a:ext cx="3291840" cy="91440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10–20</a:t>
            </a:r>
            <a:endParaRPr lang="en-US" sz="6000" dirty="0"/>
          </a:p>
        </p:txBody>
      </p:sp>
      <p:sp>
        <p:nvSpPr>
          <p:cNvPr id="50" name="Text 48"/>
          <p:cNvSpPr txBox="1"/>
          <p:nvPr/>
        </p:nvSpPr>
        <p:spPr>
          <a:xfrm>
            <a:off x="8092440" y="2697480"/>
            <a:ext cx="3291840" cy="1097280"/>
          </a:xfrm>
          <a:prstGeom prst="rect">
            <a:avLst/>
          </a:prstGeom>
          <a:noFill/>
          <a:ln/>
        </p:spPr>
        <p:txBody>
          <a:bodyPr wrap="square" lIns="0" tIns="0" rIns="0" bIns="0" rtlCol="0" anchor="t"/>
          <a:lstStyle/>
          <a:p>
            <a:pPr indent="0" marL="0">
              <a:buNone/>
            </a:pPr>
            <a:r>
              <a:rPr lang="en-US" sz="1400" dirty="0">
                <a:solidFill>
                  <a:schemeClr val="tx2"/>
                </a:solidFill>
              </a:rPr>
              <a:t>cycles lost per mispredicted branch on a typical out-of-order core. On a 4-wide core, that's up to ~80 instructions' worth of slots.</a:t>
            </a:r>
            <a:endParaRPr lang="en-US" sz="1400" dirty="0"/>
          </a:p>
        </p:txBody>
      </p:sp>
      <p:sp>
        <p:nvSpPr>
          <p:cNvPr id="51" name="Text 49"/>
          <p:cNvSpPr txBox="1"/>
          <p:nvPr/>
        </p:nvSpPr>
        <p:spPr>
          <a:xfrm>
            <a:off x="8092440" y="4389120"/>
            <a:ext cx="3291840" cy="36576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Same reason GPUs win</a:t>
            </a:r>
            <a:endParaRPr lang="en-US" sz="1800" dirty="0"/>
          </a:p>
        </p:txBody>
      </p:sp>
      <p:sp>
        <p:nvSpPr>
          <p:cNvPr id="52" name="Text 50"/>
          <p:cNvSpPr txBox="1"/>
          <p:nvPr/>
        </p:nvSpPr>
        <p:spPr>
          <a:xfrm>
            <a:off x="8092440" y="4800600"/>
            <a:ext cx="3291840" cy="1005840"/>
          </a:xfrm>
          <a:prstGeom prst="rect">
            <a:avLst/>
          </a:prstGeom>
          <a:noFill/>
          <a:ln/>
        </p:spPr>
        <p:txBody>
          <a:bodyPr wrap="square" lIns="0" tIns="0" rIns="0" bIns="0" rtlCol="0" anchor="t"/>
          <a:lstStyle/>
          <a:p>
            <a:pPr indent="0" marL="0">
              <a:buNone/>
            </a:pPr>
            <a:r>
              <a:rPr lang="en-US" sz="1400" dirty="0">
                <a:solidFill>
                  <a:schemeClr val="tx2"/>
                </a:solidFill>
              </a:rPr>
              <a:t>Thousands of lanes doing identical work over lots of data, with no surprises. A CPU core gets the same effect from wide pipelines plus good guesses.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simdjson: parsing gigabytes of JSON per second</a:t>
            </a:r>
            <a:endParaRPr lang="en-US" sz="3200" dirty="0"/>
          </a:p>
        </p:txBody>
      </p:sp>
      <p:graphicFrame>
        <p:nvGraphicFramePr>
          <p:cNvPr id="3" name="Chart 0" descr=""/>
          <p:cNvGraphicFramePr/>
          <p:nvPr/>
        </p:nvGraphicFramePr>
        <p:xfrm>
          <a:off x="548640" y="1371600"/>
          <a:ext cx="603504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572000"/>
            <a:ext cx="6035040" cy="640080"/>
          </a:xfrm>
          <a:prstGeom prst="rect">
            <a:avLst/>
          </a:prstGeom>
          <a:noFill/>
          <a:ln/>
        </p:spPr>
        <p:txBody>
          <a:bodyPr wrap="square" lIns="0" tIns="0" rIns="0" bIns="0" rtlCol="0" anchor="t"/>
          <a:lstStyle/>
          <a:p>
            <a:pPr indent="0" marL="0">
              <a:buNone/>
            </a:pPr>
            <a:r>
              <a:rPr lang="en-US" sz="1300" dirty="0">
                <a:solidFill>
                  <a:schemeClr val="accent6"/>
                </a:solidFill>
              </a:rPr>
              <a:t>Project's own headline numbers: 4× RapidJSON, 25× JSON for Modern C++. Also: minify at 6 GB/s, validate UTF-8 at 13 GB/s.</a:t>
            </a:r>
            <a:endParaRPr lang="en-US" sz="1300" dirty="0"/>
          </a:p>
        </p:txBody>
      </p:sp>
      <p:sp>
        <p:nvSpPr>
          <p:cNvPr id="5" name="Text 2"/>
          <p:cNvSpPr txBox="1"/>
          <p:nvPr/>
        </p:nvSpPr>
        <p:spPr>
          <a:xfrm>
            <a:off x="548640" y="5623560"/>
            <a:ext cx="6583680" cy="457200"/>
          </a:xfrm>
          <a:prstGeom prst="rect">
            <a:avLst/>
          </a:prstGeom>
          <a:noFill/>
          <a:ln/>
        </p:spPr>
        <p:txBody>
          <a:bodyPr wrap="square" lIns="0" tIns="0" rIns="0" bIns="0" rtlCol="0" anchor="t"/>
          <a:lstStyle/>
          <a:p>
            <a:pPr indent="0" marL="0">
              <a:buNone/>
            </a:pPr>
            <a:r>
              <a:rPr lang="en-US" sz="1100" dirty="0">
                <a:solidFill>
                  <a:schemeClr val="accent6"/>
                </a:solidFill>
              </a:rPr>
              <a:t>Langdale &amp; Lemire, “Parsing Gigabytes of JSON per Second”, VLDB Journal 2019  ·  github.com/simdjson/simdjson</a:t>
            </a:r>
            <a:endParaRPr lang="en-US" sz="1100" dirty="0"/>
          </a:p>
        </p:txBody>
      </p:sp>
      <p:sp>
        <p:nvSpPr>
          <p:cNvPr id="6" name="Text 3"/>
          <p:cNvSpPr txBox="1"/>
          <p:nvPr/>
        </p:nvSpPr>
        <p:spPr>
          <a:xfrm>
            <a:off x="7040880" y="1371600"/>
            <a:ext cx="4572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USED IN</a:t>
            </a:r>
            <a:endParaRPr lang="en-US" sz="1200" dirty="0"/>
          </a:p>
        </p:txBody>
      </p:sp>
      <p:sp>
        <p:nvSpPr>
          <p:cNvPr id="7" name="node_bg"/>
          <p:cNvSpPr/>
          <p:nvPr/>
        </p:nvSpPr>
        <p:spPr>
          <a:xfrm>
            <a:off x="7040880" y="1737360"/>
            <a:ext cx="4599432" cy="1005840"/>
          </a:xfrm>
          <a:prstGeom prst="roundRect">
            <a:avLst>
              <a:gd name="adj" fmla="val 10909"/>
            </a:avLst>
          </a:prstGeom>
          <a:solidFill>
            <a:schemeClr val="bg2"/>
          </a:solidFill>
          <a:ln w="12700">
            <a:solidFill>
              <a:schemeClr val="bg2"/>
            </a:solidFill>
            <a:prstDash val="solid"/>
          </a:ln>
        </p:spPr>
      </p:sp>
      <p:sp>
        <p:nvSpPr>
          <p:cNvPr id="8" name="Text 5"/>
          <p:cNvSpPr txBox="1"/>
          <p:nvPr/>
        </p:nvSpPr>
        <p:spPr>
          <a:xfrm>
            <a:off x="7269480" y="1828800"/>
            <a:ext cx="4114800" cy="4114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Node.js</a:t>
            </a:r>
            <a:endParaRPr lang="en-US" sz="2200" dirty="0"/>
          </a:p>
        </p:txBody>
      </p:sp>
      <p:sp>
        <p:nvSpPr>
          <p:cNvPr id="9" name="Text 6"/>
          <p:cNvSpPr txBox="1"/>
          <p:nvPr/>
        </p:nvSpPr>
        <p:spPr>
          <a:xfrm>
            <a:off x="7269480" y="2240280"/>
            <a:ext cx="4206240" cy="365760"/>
          </a:xfrm>
          <a:prstGeom prst="rect">
            <a:avLst/>
          </a:prstGeom>
          <a:noFill/>
          <a:ln/>
        </p:spPr>
        <p:txBody>
          <a:bodyPr wrap="square" lIns="0" tIns="0" rIns="0" bIns="0" rtlCol="0" anchor="ctr"/>
          <a:lstStyle/>
          <a:p>
            <a:pPr indent="0" marL="0">
              <a:buNone/>
            </a:pPr>
            <a:r>
              <a:rPr lang="en-US" sz="1400" dirty="0">
                <a:solidFill>
                  <a:schemeClr val="tx2"/>
                </a:solidFill>
              </a:rPr>
              <a:t>reads package.json and runs node --run with it</a:t>
            </a:r>
            <a:endParaRPr lang="en-US" sz="1400" dirty="0"/>
          </a:p>
        </p:txBody>
      </p:sp>
      <p:sp>
        <p:nvSpPr>
          <p:cNvPr id="10" name="Text 7"/>
          <p:cNvSpPr txBox="1"/>
          <p:nvPr/>
        </p:nvSpPr>
        <p:spPr>
          <a:xfrm>
            <a:off x="7040880" y="2926080"/>
            <a:ext cx="1920240" cy="365760"/>
          </a:xfrm>
          <a:prstGeom prst="rect">
            <a:avLst/>
          </a:prstGeom>
          <a:noFill/>
          <a:ln/>
        </p:spPr>
        <p:txBody>
          <a:bodyPr wrap="square" lIns="0" tIns="0" rIns="0" bIns="0" rtlCol="0" anchor="ctr"/>
          <a:lstStyle/>
          <a:p>
            <a:pPr indent="0" marL="0">
              <a:buNone/>
            </a:pPr>
            <a:r>
              <a:rPr lang="en-US" sz="1400" dirty="0">
                <a:solidFill>
                  <a:schemeClr val="tx1"/>
                </a:solidFill>
              </a:rPr>
              <a:t>ClickHouse</a:t>
            </a:r>
            <a:endParaRPr lang="en-US" sz="1400" dirty="0"/>
          </a:p>
        </p:txBody>
      </p:sp>
      <p:sp>
        <p:nvSpPr>
          <p:cNvPr id="11" name="Text 8"/>
          <p:cNvSpPr txBox="1"/>
          <p:nvPr/>
        </p:nvSpPr>
        <p:spPr>
          <a:xfrm>
            <a:off x="9390888" y="2926080"/>
            <a:ext cx="1920240" cy="365760"/>
          </a:xfrm>
          <a:prstGeom prst="rect">
            <a:avLst/>
          </a:prstGeom>
          <a:noFill/>
          <a:ln/>
        </p:spPr>
        <p:txBody>
          <a:bodyPr wrap="square" lIns="0" tIns="0" rIns="0" bIns="0" rtlCol="0" anchor="ctr"/>
          <a:lstStyle/>
          <a:p>
            <a:pPr indent="0" marL="0">
              <a:buNone/>
            </a:pPr>
            <a:r>
              <a:rPr lang="en-US" sz="1400" dirty="0">
                <a:solidFill>
                  <a:schemeClr val="tx1"/>
                </a:solidFill>
              </a:rPr>
              <a:t>Meta Velox</a:t>
            </a:r>
            <a:endParaRPr lang="en-US" sz="1400" dirty="0"/>
          </a:p>
        </p:txBody>
      </p:sp>
      <p:sp>
        <p:nvSpPr>
          <p:cNvPr id="12" name="Text 9"/>
          <p:cNvSpPr txBox="1"/>
          <p:nvPr/>
        </p:nvSpPr>
        <p:spPr>
          <a:xfrm>
            <a:off x="7040880" y="3383280"/>
            <a:ext cx="1920240" cy="365760"/>
          </a:xfrm>
          <a:prstGeom prst="rect">
            <a:avLst/>
          </a:prstGeom>
          <a:noFill/>
          <a:ln/>
        </p:spPr>
        <p:txBody>
          <a:bodyPr wrap="square" lIns="0" tIns="0" rIns="0" bIns="0" rtlCol="0" anchor="ctr"/>
          <a:lstStyle/>
          <a:p>
            <a:pPr indent="0" marL="0">
              <a:buNone/>
            </a:pPr>
            <a:r>
              <a:rPr lang="en-US" sz="1400" dirty="0">
                <a:solidFill>
                  <a:schemeClr val="tx1"/>
                </a:solidFill>
              </a:rPr>
              <a:t>Apache Doris</a:t>
            </a:r>
            <a:endParaRPr lang="en-US" sz="1400" dirty="0"/>
          </a:p>
        </p:txBody>
      </p:sp>
      <p:sp>
        <p:nvSpPr>
          <p:cNvPr id="13" name="Text 10"/>
          <p:cNvSpPr txBox="1"/>
          <p:nvPr/>
        </p:nvSpPr>
        <p:spPr>
          <a:xfrm>
            <a:off x="9390888" y="3383280"/>
            <a:ext cx="1920240" cy="365760"/>
          </a:xfrm>
          <a:prstGeom prst="rect">
            <a:avLst/>
          </a:prstGeom>
          <a:noFill/>
          <a:ln/>
        </p:spPr>
        <p:txBody>
          <a:bodyPr wrap="square" lIns="0" tIns="0" rIns="0" bIns="0" rtlCol="0" anchor="ctr"/>
          <a:lstStyle/>
          <a:p>
            <a:pPr indent="0" marL="0">
              <a:buNone/>
            </a:pPr>
            <a:r>
              <a:rPr lang="en-US" sz="1400" dirty="0">
                <a:solidFill>
                  <a:schemeClr val="tx1"/>
                </a:solidFill>
              </a:rPr>
              <a:t>StarRocks</a:t>
            </a:r>
            <a:endParaRPr lang="en-US" sz="1400" dirty="0"/>
          </a:p>
        </p:txBody>
      </p:sp>
      <p:sp>
        <p:nvSpPr>
          <p:cNvPr id="14" name="Text 11"/>
          <p:cNvSpPr txBox="1"/>
          <p:nvPr/>
        </p:nvSpPr>
        <p:spPr>
          <a:xfrm>
            <a:off x="7040880" y="3840480"/>
            <a:ext cx="1920240" cy="365760"/>
          </a:xfrm>
          <a:prstGeom prst="rect">
            <a:avLst/>
          </a:prstGeom>
          <a:noFill/>
          <a:ln/>
        </p:spPr>
        <p:txBody>
          <a:bodyPr wrap="square" lIns="0" tIns="0" rIns="0" bIns="0" rtlCol="0" anchor="ctr"/>
          <a:lstStyle/>
          <a:p>
            <a:pPr indent="0" marL="0">
              <a:buNone/>
            </a:pPr>
            <a:r>
              <a:rPr lang="en-US" sz="1400" dirty="0">
                <a:solidFill>
                  <a:schemeClr val="tx1"/>
                </a:solidFill>
              </a:rPr>
              <a:t>Milvus</a:t>
            </a:r>
            <a:endParaRPr lang="en-US" sz="1400" dirty="0"/>
          </a:p>
        </p:txBody>
      </p:sp>
      <p:sp>
        <p:nvSpPr>
          <p:cNvPr id="15" name="Text 12"/>
          <p:cNvSpPr txBox="1"/>
          <p:nvPr/>
        </p:nvSpPr>
        <p:spPr>
          <a:xfrm>
            <a:off x="9390888" y="3840480"/>
            <a:ext cx="1920240" cy="365760"/>
          </a:xfrm>
          <a:prstGeom prst="rect">
            <a:avLst/>
          </a:prstGeom>
          <a:noFill/>
          <a:ln/>
        </p:spPr>
        <p:txBody>
          <a:bodyPr wrap="square" lIns="0" tIns="0" rIns="0" bIns="0" rtlCol="0" anchor="ctr"/>
          <a:lstStyle/>
          <a:p>
            <a:pPr indent="0" marL="0">
              <a:buNone/>
            </a:pPr>
            <a:r>
              <a:rPr lang="en-US" sz="1400" dirty="0">
                <a:solidFill>
                  <a:schemeClr val="tx1"/>
                </a:solidFill>
              </a:rPr>
              <a:t>QuestDB</a:t>
            </a:r>
            <a:endParaRPr lang="en-US" sz="1400" dirty="0"/>
          </a:p>
        </p:txBody>
      </p:sp>
      <p:sp>
        <p:nvSpPr>
          <p:cNvPr id="16" name="Text 13"/>
          <p:cNvSpPr txBox="1"/>
          <p:nvPr/>
        </p:nvSpPr>
        <p:spPr>
          <a:xfrm>
            <a:off x="7040880" y="4297680"/>
            <a:ext cx="1920240" cy="365760"/>
          </a:xfrm>
          <a:prstGeom prst="rect">
            <a:avLst/>
          </a:prstGeom>
          <a:noFill/>
          <a:ln/>
        </p:spPr>
        <p:txBody>
          <a:bodyPr wrap="square" lIns="0" tIns="0" rIns="0" bIns="0" rtlCol="0" anchor="ctr"/>
          <a:lstStyle/>
          <a:p>
            <a:pPr indent="0" marL="0">
              <a:buNone/>
            </a:pPr>
            <a:r>
              <a:rPr lang="en-US" sz="1400" dirty="0">
                <a:solidFill>
                  <a:schemeClr val="tx1"/>
                </a:solidFill>
              </a:rPr>
              <a:t>Ladybird</a:t>
            </a:r>
            <a:endParaRPr lang="en-US" sz="1400" dirty="0"/>
          </a:p>
        </p:txBody>
      </p:sp>
      <p:sp>
        <p:nvSpPr>
          <p:cNvPr id="17" name="Text 14"/>
          <p:cNvSpPr txBox="1"/>
          <p:nvPr/>
        </p:nvSpPr>
        <p:spPr>
          <a:xfrm>
            <a:off x="9390888" y="4297680"/>
            <a:ext cx="1920240" cy="365760"/>
          </a:xfrm>
          <a:prstGeom prst="rect">
            <a:avLst/>
          </a:prstGeom>
          <a:noFill/>
          <a:ln/>
        </p:spPr>
        <p:txBody>
          <a:bodyPr wrap="square" lIns="0" tIns="0" rIns="0" bIns="0" rtlCol="0" anchor="ctr"/>
          <a:lstStyle/>
          <a:p>
            <a:pPr indent="0" marL="0">
              <a:buNone/>
            </a:pPr>
            <a:r>
              <a:rPr lang="en-US" sz="1400" dirty="0">
                <a:solidFill>
                  <a:schemeClr val="tx1"/>
                </a:solidFill>
              </a:rPr>
              <a:t>WasmEdge</a:t>
            </a:r>
            <a:endParaRPr lang="en-US" sz="1400" dirty="0"/>
          </a:p>
        </p:txBody>
      </p:sp>
      <p:sp>
        <p:nvSpPr>
          <p:cNvPr id="18" name="Text 15"/>
          <p:cNvSpPr txBox="1"/>
          <p:nvPr/>
        </p:nvSpPr>
        <p:spPr>
          <a:xfrm>
            <a:off x="7040880" y="4983480"/>
            <a:ext cx="4114800" cy="36576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On RISC-V</a:t>
            </a:r>
            <a:endParaRPr lang="en-US" sz="1600" dirty="0"/>
          </a:p>
        </p:txBody>
      </p:sp>
      <p:sp>
        <p:nvSpPr>
          <p:cNvPr id="19" name="Text 16"/>
          <p:cNvSpPr txBox="1"/>
          <p:nvPr/>
        </p:nvSpPr>
        <p:spPr>
          <a:xfrm>
            <a:off x="7040880" y="5349240"/>
            <a:ext cx="4572000" cy="685800"/>
          </a:xfrm>
          <a:prstGeom prst="rect">
            <a:avLst/>
          </a:prstGeom>
          <a:noFill/>
          <a:ln/>
        </p:spPr>
        <p:txBody>
          <a:bodyPr wrap="square" lIns="0" tIns="0" rIns="0" bIns="0" rtlCol="0" anchor="t"/>
          <a:lstStyle/>
          <a:p>
            <a:pPr indent="0" marL="0">
              <a:buNone/>
            </a:pPr>
            <a:r>
              <a:rPr lang="en-US" sz="1400" dirty="0">
                <a:solidFill>
                  <a:schemeClr val="tx2"/>
                </a:solidFill>
              </a:rPr>
              <a:t>simdjson gained an RVV backend (rvv-vls) in January 2026, alongside its x86, ARM, POWER and LoongArch kernels.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High-school algebra: reorder, then factor</a:t>
            </a:r>
            <a:endParaRPr lang="en-US" sz="3200" dirty="0"/>
          </a:p>
        </p:txBody>
      </p:sp>
      <p:sp>
        <p:nvSpPr>
          <p:cNvPr id="3" name="!!c_a"/>
          <p:cNvSpPr txBox="1"/>
          <p:nvPr/>
        </p:nvSpPr>
        <p:spPr>
          <a:xfrm>
            <a:off x="257540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4" name="!!v_a"/>
          <p:cNvSpPr txBox="1"/>
          <p:nvPr/>
        </p:nvSpPr>
        <p:spPr>
          <a:xfrm>
            <a:off x="298688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a</a:t>
            </a:r>
            <a:endParaRPr lang="en-US" sz="6000" dirty="0"/>
          </a:p>
        </p:txBody>
      </p:sp>
      <p:sp>
        <p:nvSpPr>
          <p:cNvPr id="5" name="!!p1"/>
          <p:cNvSpPr txBox="1"/>
          <p:nvPr/>
        </p:nvSpPr>
        <p:spPr>
          <a:xfrm>
            <a:off x="339836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6" name="!!c_b"/>
          <p:cNvSpPr txBox="1"/>
          <p:nvPr/>
        </p:nvSpPr>
        <p:spPr>
          <a:xfrm>
            <a:off x="412988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7" name="!!v_b"/>
          <p:cNvSpPr txBox="1"/>
          <p:nvPr/>
        </p:nvSpPr>
        <p:spPr>
          <a:xfrm>
            <a:off x="454136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b</a:t>
            </a:r>
            <a:endParaRPr lang="en-US" sz="6000" dirty="0"/>
          </a:p>
        </p:txBody>
      </p:sp>
      <p:sp>
        <p:nvSpPr>
          <p:cNvPr id="8" name="!!p2"/>
          <p:cNvSpPr txBox="1"/>
          <p:nvPr/>
        </p:nvSpPr>
        <p:spPr>
          <a:xfrm>
            <a:off x="495284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9" name="!!c_c"/>
          <p:cNvSpPr txBox="1"/>
          <p:nvPr/>
        </p:nvSpPr>
        <p:spPr>
          <a:xfrm>
            <a:off x="568436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10" name="!!v_c"/>
          <p:cNvSpPr txBox="1"/>
          <p:nvPr/>
        </p:nvSpPr>
        <p:spPr>
          <a:xfrm>
            <a:off x="609584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c</a:t>
            </a:r>
            <a:endParaRPr lang="en-US" sz="6000" dirty="0"/>
          </a:p>
        </p:txBody>
      </p:sp>
      <p:sp>
        <p:nvSpPr>
          <p:cNvPr id="11" name="!!p3"/>
          <p:cNvSpPr txBox="1"/>
          <p:nvPr/>
        </p:nvSpPr>
        <p:spPr>
          <a:xfrm>
            <a:off x="650732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2" name="!!c_d"/>
          <p:cNvSpPr txBox="1"/>
          <p:nvPr/>
        </p:nvSpPr>
        <p:spPr>
          <a:xfrm>
            <a:off x="723884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13" name="!!v_d"/>
          <p:cNvSpPr txBox="1"/>
          <p:nvPr/>
        </p:nvSpPr>
        <p:spPr>
          <a:xfrm>
            <a:off x="765032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d</a:t>
            </a:r>
            <a:endParaRPr lang="en-US" sz="6000" dirty="0"/>
          </a:p>
        </p:txBody>
      </p:sp>
      <p:sp>
        <p:nvSpPr>
          <p:cNvPr id="14" name="!!p4"/>
          <p:cNvSpPr txBox="1"/>
          <p:nvPr/>
        </p:nvSpPr>
        <p:spPr>
          <a:xfrm>
            <a:off x="806180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5" name="!!c_e"/>
          <p:cNvSpPr txBox="1"/>
          <p:nvPr/>
        </p:nvSpPr>
        <p:spPr>
          <a:xfrm>
            <a:off x="879332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16" name="!!v_e"/>
          <p:cNvSpPr txBox="1"/>
          <p:nvPr/>
        </p:nvSpPr>
        <p:spPr>
          <a:xfrm>
            <a:off x="920480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e</a:t>
            </a:r>
            <a:endParaRPr lang="en-US" sz="6000" dirty="0"/>
          </a:p>
        </p:txBody>
      </p:sp>
      <p:sp>
        <p:nvSpPr>
          <p:cNvPr id="17" name="!!step0"/>
          <p:cNvSpPr txBox="1"/>
          <p:nvPr/>
        </p:nvSpPr>
        <p:spPr>
          <a:xfrm>
            <a:off x="978408" y="2788920"/>
            <a:ext cx="3108960" cy="457200"/>
          </a:xfrm>
          <a:prstGeom prst="roundRect">
            <a:avLst>
              <a:gd name="adj" fmla="val 40000"/>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   Original</a:t>
            </a:r>
            <a:endParaRPr lang="en-US" sz="1500" dirty="0"/>
          </a:p>
        </p:txBody>
      </p:sp>
      <p:sp>
        <p:nvSpPr>
          <p:cNvPr id="18" name="!!step1"/>
          <p:cNvSpPr txBox="1"/>
          <p:nvPr/>
        </p:nvSpPr>
        <p:spPr>
          <a:xfrm>
            <a:off x="445312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2   Reorder: commutativity</a:t>
            </a:r>
            <a:endParaRPr lang="en-US" sz="1500" dirty="0"/>
          </a:p>
        </p:txBody>
      </p:sp>
      <p:sp>
        <p:nvSpPr>
          <p:cNvPr id="19" name="!!step2"/>
          <p:cNvSpPr txBox="1"/>
          <p:nvPr/>
        </p:nvSpPr>
        <p:spPr>
          <a:xfrm>
            <a:off x="792784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3   Factor: distributivity</a:t>
            </a:r>
            <a:endParaRPr lang="en-US" sz="1500" dirty="0"/>
          </a:p>
        </p:txBody>
      </p:sp>
      <p:sp>
        <p:nvSpPr>
          <p:cNvPr id="20" name="!!caption"/>
          <p:cNvSpPr txBox="1"/>
          <p:nvPr/>
        </p:nvSpPr>
        <p:spPr>
          <a:xfrm>
            <a:off x="978408" y="3474720"/>
            <a:ext cx="10241280" cy="457200"/>
          </a:xfrm>
          <a:prstGeom prst="rect">
            <a:avLst/>
          </a:prstGeom>
          <a:noFill/>
          <a:ln/>
        </p:spPr>
        <p:txBody>
          <a:bodyPr wrap="square" lIns="0" tIns="0" rIns="0" bIns="0" rtlCol="0" anchor="ctr"/>
          <a:lstStyle/>
          <a:p>
            <a:pPr algn="ctr" indent="0" marL="0">
              <a:buNone/>
            </a:pPr>
            <a:r>
              <a:rPr lang="en-US" sz="2000" dirty="0">
                <a:solidFill>
                  <a:schemeClr val="tx1"/>
                </a:solidFill>
              </a:rPr>
              <a:t>Five multiplications, and the kind of work flips back and forth every term.</a:t>
            </a:r>
            <a:endParaRPr lang="en-US" sz="2000" dirty="0"/>
          </a:p>
        </p:txBody>
      </p:sp>
      <p:sp>
        <p:nvSpPr>
          <p:cNvPr id="21" name="Text 19"/>
          <p:cNvSpPr txBox="1"/>
          <p:nvPr/>
        </p:nvSpPr>
        <p:spPr>
          <a:xfrm>
            <a:off x="978408" y="4206240"/>
            <a:ext cx="1737360" cy="502920"/>
          </a:xfrm>
          <a:prstGeom prst="rect">
            <a:avLst/>
          </a:prstGeom>
          <a:noFill/>
          <a:ln/>
        </p:spPr>
        <p:txBody>
          <a:bodyPr wrap="square" lIns="0" tIns="0" rIns="0" bIns="0" rtlCol="0" anchor="ctr"/>
          <a:lstStyle/>
          <a:p>
            <a:pPr indent="0" marL="0">
              <a:buNone/>
            </a:pPr>
            <a:r>
              <a:rPr lang="en-US" sz="1100" b="1" spc="200" kern="0" dirty="0">
                <a:solidFill>
                  <a:schemeClr val="tx2"/>
                </a:solidFill>
              </a:rPr>
              <a:t>WORK, IN ORDER</a:t>
            </a:r>
            <a:endParaRPr lang="en-US" sz="1100" dirty="0"/>
          </a:p>
        </p:txBody>
      </p:sp>
      <p:sp>
        <p:nvSpPr>
          <p:cNvPr id="22" name="!!m_a"/>
          <p:cNvSpPr txBox="1"/>
          <p:nvPr/>
        </p:nvSpPr>
        <p:spPr>
          <a:xfrm>
            <a:off x="274320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3" name="!!m_b"/>
          <p:cNvSpPr txBox="1"/>
          <p:nvPr/>
        </p:nvSpPr>
        <p:spPr>
          <a:xfrm>
            <a:off x="347472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4" name="!!m_c"/>
          <p:cNvSpPr txBox="1"/>
          <p:nvPr/>
        </p:nvSpPr>
        <p:spPr>
          <a:xfrm>
            <a:off x="420624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5" name="!!m_d"/>
          <p:cNvSpPr txBox="1"/>
          <p:nvPr/>
        </p:nvSpPr>
        <p:spPr>
          <a:xfrm>
            <a:off x="493776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m_e"/>
          <p:cNvSpPr txBox="1"/>
          <p:nvPr/>
        </p:nvSpPr>
        <p:spPr>
          <a:xfrm>
            <a:off x="566928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7" name="!!s1"/>
          <p:cNvSpPr txBox="1"/>
          <p:nvPr/>
        </p:nvSpPr>
        <p:spPr>
          <a:xfrm>
            <a:off x="640080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8" name="!!s2"/>
          <p:cNvSpPr txBox="1"/>
          <p:nvPr/>
        </p:nvSpPr>
        <p:spPr>
          <a:xfrm>
            <a:off x="713232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9" name="!!s3"/>
          <p:cNvSpPr txBox="1"/>
          <p:nvPr/>
        </p:nvSpPr>
        <p:spPr>
          <a:xfrm>
            <a:off x="786384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0" name="!!s4"/>
          <p:cNvSpPr txBox="1"/>
          <p:nvPr/>
        </p:nvSpPr>
        <p:spPr>
          <a:xfrm>
            <a:off x="859536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1" name="!!opcount"/>
          <p:cNvSpPr txBox="1"/>
          <p:nvPr/>
        </p:nvSpPr>
        <p:spPr>
          <a:xfrm>
            <a:off x="9555480" y="4206240"/>
            <a:ext cx="1664208" cy="502920"/>
          </a:xfrm>
          <a:prstGeom prst="rect">
            <a:avLst/>
          </a:prstGeom>
          <a:noFill/>
          <a:ln/>
        </p:spPr>
        <p:txBody>
          <a:bodyPr wrap="square" lIns="0" tIns="0" rIns="0" bIns="0" rtlCol="0" anchor="ctr"/>
          <a:lstStyle/>
          <a:p>
            <a:pPr algn="r" indent="0" marL="0">
              <a:buNone/>
            </a:pPr>
            <a:r>
              <a:rPr lang="en-US" sz="1800" b="1" dirty="0">
                <a:solidFill>
                  <a:schemeClr val="tx1"/>
                </a:solidFill>
              </a:rPr>
              <a:t>9 ops · 5 ×</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High-school algebra: reorder, then factor</a:t>
            </a:r>
            <a:endParaRPr lang="en-US" sz="3200" dirty="0"/>
          </a:p>
        </p:txBody>
      </p:sp>
      <p:sp>
        <p:nvSpPr>
          <p:cNvPr id="3" name="!!c_a"/>
          <p:cNvSpPr txBox="1"/>
          <p:nvPr/>
        </p:nvSpPr>
        <p:spPr>
          <a:xfrm>
            <a:off x="257540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4" name="!!v_a"/>
          <p:cNvSpPr txBox="1"/>
          <p:nvPr/>
        </p:nvSpPr>
        <p:spPr>
          <a:xfrm>
            <a:off x="298688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a</a:t>
            </a:r>
            <a:endParaRPr lang="en-US" sz="6000" dirty="0"/>
          </a:p>
        </p:txBody>
      </p:sp>
      <p:sp>
        <p:nvSpPr>
          <p:cNvPr id="5" name="!!p1"/>
          <p:cNvSpPr txBox="1"/>
          <p:nvPr/>
        </p:nvSpPr>
        <p:spPr>
          <a:xfrm>
            <a:off x="339836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6" name="!!c_c"/>
          <p:cNvSpPr txBox="1"/>
          <p:nvPr/>
        </p:nvSpPr>
        <p:spPr>
          <a:xfrm>
            <a:off x="412988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7" name="!!v_c"/>
          <p:cNvSpPr txBox="1"/>
          <p:nvPr/>
        </p:nvSpPr>
        <p:spPr>
          <a:xfrm>
            <a:off x="454136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c</a:t>
            </a:r>
            <a:endParaRPr lang="en-US" sz="6000" dirty="0"/>
          </a:p>
        </p:txBody>
      </p:sp>
      <p:sp>
        <p:nvSpPr>
          <p:cNvPr id="8" name="!!p2"/>
          <p:cNvSpPr txBox="1"/>
          <p:nvPr/>
        </p:nvSpPr>
        <p:spPr>
          <a:xfrm>
            <a:off x="495284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9" name="!!c_e"/>
          <p:cNvSpPr txBox="1"/>
          <p:nvPr/>
        </p:nvSpPr>
        <p:spPr>
          <a:xfrm>
            <a:off x="568436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10" name="!!v_e"/>
          <p:cNvSpPr txBox="1"/>
          <p:nvPr/>
        </p:nvSpPr>
        <p:spPr>
          <a:xfrm>
            <a:off x="609584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e</a:t>
            </a:r>
            <a:endParaRPr lang="en-US" sz="6000" dirty="0"/>
          </a:p>
        </p:txBody>
      </p:sp>
      <p:sp>
        <p:nvSpPr>
          <p:cNvPr id="11" name="!!p3"/>
          <p:cNvSpPr txBox="1"/>
          <p:nvPr/>
        </p:nvSpPr>
        <p:spPr>
          <a:xfrm>
            <a:off x="650732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2" name="!!c_b"/>
          <p:cNvSpPr txBox="1"/>
          <p:nvPr/>
        </p:nvSpPr>
        <p:spPr>
          <a:xfrm>
            <a:off x="723884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13" name="!!v_b"/>
          <p:cNvSpPr txBox="1"/>
          <p:nvPr/>
        </p:nvSpPr>
        <p:spPr>
          <a:xfrm>
            <a:off x="765032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b</a:t>
            </a:r>
            <a:endParaRPr lang="en-US" sz="6000" dirty="0"/>
          </a:p>
        </p:txBody>
      </p:sp>
      <p:sp>
        <p:nvSpPr>
          <p:cNvPr id="14" name="!!p4"/>
          <p:cNvSpPr txBox="1"/>
          <p:nvPr/>
        </p:nvSpPr>
        <p:spPr>
          <a:xfrm>
            <a:off x="806180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5" name="!!c_d"/>
          <p:cNvSpPr txBox="1"/>
          <p:nvPr/>
        </p:nvSpPr>
        <p:spPr>
          <a:xfrm>
            <a:off x="879332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16" name="!!v_d"/>
          <p:cNvSpPr txBox="1"/>
          <p:nvPr/>
        </p:nvSpPr>
        <p:spPr>
          <a:xfrm>
            <a:off x="920480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d</a:t>
            </a:r>
            <a:endParaRPr lang="en-US" sz="6000" dirty="0"/>
          </a:p>
        </p:txBody>
      </p:sp>
      <p:sp>
        <p:nvSpPr>
          <p:cNvPr id="17" name="!!step0"/>
          <p:cNvSpPr txBox="1"/>
          <p:nvPr/>
        </p:nvSpPr>
        <p:spPr>
          <a:xfrm>
            <a:off x="97840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1   Original</a:t>
            </a:r>
            <a:endParaRPr lang="en-US" sz="1500" dirty="0"/>
          </a:p>
        </p:txBody>
      </p:sp>
      <p:sp>
        <p:nvSpPr>
          <p:cNvPr id="18" name="!!step1"/>
          <p:cNvSpPr txBox="1"/>
          <p:nvPr/>
        </p:nvSpPr>
        <p:spPr>
          <a:xfrm>
            <a:off x="4453128" y="2788920"/>
            <a:ext cx="3108960" cy="457200"/>
          </a:xfrm>
          <a:prstGeom prst="roundRect">
            <a:avLst>
              <a:gd name="adj" fmla="val 40000"/>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2   Reorder: commutativity</a:t>
            </a:r>
            <a:endParaRPr lang="en-US" sz="1500" dirty="0"/>
          </a:p>
        </p:txBody>
      </p:sp>
      <p:sp>
        <p:nvSpPr>
          <p:cNvPr id="19" name="!!step2"/>
          <p:cNvSpPr txBox="1"/>
          <p:nvPr/>
        </p:nvSpPr>
        <p:spPr>
          <a:xfrm>
            <a:off x="792784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3   Factor: distributivity</a:t>
            </a:r>
            <a:endParaRPr lang="en-US" sz="1500" dirty="0"/>
          </a:p>
        </p:txBody>
      </p:sp>
      <p:sp>
        <p:nvSpPr>
          <p:cNvPr id="20" name="!!caption"/>
          <p:cNvSpPr txBox="1"/>
          <p:nvPr/>
        </p:nvSpPr>
        <p:spPr>
          <a:xfrm>
            <a:off x="978408" y="3474720"/>
            <a:ext cx="10241280" cy="457200"/>
          </a:xfrm>
          <a:prstGeom prst="rect">
            <a:avLst/>
          </a:prstGeom>
          <a:noFill/>
          <a:ln/>
        </p:spPr>
        <p:txBody>
          <a:bodyPr wrap="square" lIns="0" tIns="0" rIns="0" bIns="0" rtlCol="0" anchor="ctr"/>
          <a:lstStyle/>
          <a:p>
            <a:pPr algn="ctr" indent="0" marL="0">
              <a:buNone/>
            </a:pPr>
            <a:r>
              <a:rPr lang="en-US" sz="2000" dirty="0">
                <a:solidFill>
                  <a:schemeClr val="tx1"/>
                </a:solidFill>
              </a:rPr>
              <a:t>Group similar work together. Same answer, same cost, but now there's a pattern.</a:t>
            </a:r>
            <a:endParaRPr lang="en-US" sz="2000" dirty="0"/>
          </a:p>
        </p:txBody>
      </p:sp>
      <p:sp>
        <p:nvSpPr>
          <p:cNvPr id="21" name="Text 19"/>
          <p:cNvSpPr txBox="1"/>
          <p:nvPr/>
        </p:nvSpPr>
        <p:spPr>
          <a:xfrm>
            <a:off x="978408" y="4206240"/>
            <a:ext cx="1737360" cy="502920"/>
          </a:xfrm>
          <a:prstGeom prst="rect">
            <a:avLst/>
          </a:prstGeom>
          <a:noFill/>
          <a:ln/>
        </p:spPr>
        <p:txBody>
          <a:bodyPr wrap="square" lIns="0" tIns="0" rIns="0" bIns="0" rtlCol="0" anchor="ctr"/>
          <a:lstStyle/>
          <a:p>
            <a:pPr indent="0" marL="0">
              <a:buNone/>
            </a:pPr>
            <a:r>
              <a:rPr lang="en-US" sz="1100" b="1" spc="200" kern="0" dirty="0">
                <a:solidFill>
                  <a:schemeClr val="tx2"/>
                </a:solidFill>
              </a:rPr>
              <a:t>WORK, IN ORDER</a:t>
            </a:r>
            <a:endParaRPr lang="en-US" sz="1100" dirty="0"/>
          </a:p>
        </p:txBody>
      </p:sp>
      <p:sp>
        <p:nvSpPr>
          <p:cNvPr id="22" name="!!m_a"/>
          <p:cNvSpPr txBox="1"/>
          <p:nvPr/>
        </p:nvSpPr>
        <p:spPr>
          <a:xfrm>
            <a:off x="274320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3" name="!!m_c"/>
          <p:cNvSpPr txBox="1"/>
          <p:nvPr/>
        </p:nvSpPr>
        <p:spPr>
          <a:xfrm>
            <a:off x="347472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4" name="!!m_e"/>
          <p:cNvSpPr txBox="1"/>
          <p:nvPr/>
        </p:nvSpPr>
        <p:spPr>
          <a:xfrm>
            <a:off x="420624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5" name="!!m_b"/>
          <p:cNvSpPr txBox="1"/>
          <p:nvPr/>
        </p:nvSpPr>
        <p:spPr>
          <a:xfrm>
            <a:off x="493776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m_d"/>
          <p:cNvSpPr txBox="1"/>
          <p:nvPr/>
        </p:nvSpPr>
        <p:spPr>
          <a:xfrm>
            <a:off x="566928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7" name="!!s1"/>
          <p:cNvSpPr txBox="1"/>
          <p:nvPr/>
        </p:nvSpPr>
        <p:spPr>
          <a:xfrm>
            <a:off x="640080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8" name="!!s2"/>
          <p:cNvSpPr txBox="1"/>
          <p:nvPr/>
        </p:nvSpPr>
        <p:spPr>
          <a:xfrm>
            <a:off x="713232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9" name="!!s3"/>
          <p:cNvSpPr txBox="1"/>
          <p:nvPr/>
        </p:nvSpPr>
        <p:spPr>
          <a:xfrm>
            <a:off x="786384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0" name="!!s4"/>
          <p:cNvSpPr txBox="1"/>
          <p:nvPr/>
        </p:nvSpPr>
        <p:spPr>
          <a:xfrm>
            <a:off x="859536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1" name="!!opcount"/>
          <p:cNvSpPr txBox="1"/>
          <p:nvPr/>
        </p:nvSpPr>
        <p:spPr>
          <a:xfrm>
            <a:off x="9555480" y="4206240"/>
            <a:ext cx="1664208" cy="502920"/>
          </a:xfrm>
          <a:prstGeom prst="rect">
            <a:avLst/>
          </a:prstGeom>
          <a:noFill/>
          <a:ln/>
        </p:spPr>
        <p:txBody>
          <a:bodyPr wrap="square" lIns="0" tIns="0" rIns="0" bIns="0" rtlCol="0" anchor="ctr"/>
          <a:lstStyle/>
          <a:p>
            <a:pPr algn="r" indent="0" marL="0">
              <a:buNone/>
            </a:pPr>
            <a:r>
              <a:rPr lang="en-US" sz="1800" b="1" dirty="0">
                <a:solidFill>
                  <a:schemeClr val="tx1"/>
                </a:solidFill>
              </a:rPr>
              <a:t>9 ops · 5 ×</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High-school algebra: reorder, then factor</a:t>
            </a:r>
            <a:endParaRPr lang="en-US" sz="3200" dirty="0"/>
          </a:p>
        </p:txBody>
      </p:sp>
      <p:sp>
        <p:nvSpPr>
          <p:cNvPr id="3" name="!!c_a"/>
          <p:cNvSpPr txBox="1"/>
          <p:nvPr/>
        </p:nvSpPr>
        <p:spPr>
          <a:xfrm>
            <a:off x="264398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4" name="!!lp1"/>
          <p:cNvSpPr txBox="1"/>
          <p:nvPr/>
        </p:nvSpPr>
        <p:spPr>
          <a:xfrm>
            <a:off x="3055468" y="1417320"/>
            <a:ext cx="274320" cy="1097280"/>
          </a:xfrm>
          <a:prstGeom prst="rect">
            <a:avLst/>
          </a:prstGeom>
          <a:noFill/>
          <a:ln/>
        </p:spPr>
        <p:txBody>
          <a:bodyPr wrap="square" lIns="0" tIns="0" rIns="0" bIns="0" rtlCol="0" anchor="ctr"/>
          <a:lstStyle/>
          <a:p>
            <a:pPr algn="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5" name="!!v_a"/>
          <p:cNvSpPr txBox="1"/>
          <p:nvPr/>
        </p:nvSpPr>
        <p:spPr>
          <a:xfrm>
            <a:off x="332978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a</a:t>
            </a:r>
            <a:endParaRPr lang="en-US" sz="6000" dirty="0"/>
          </a:p>
        </p:txBody>
      </p:sp>
      <p:sp>
        <p:nvSpPr>
          <p:cNvPr id="6" name="!!p1"/>
          <p:cNvSpPr txBox="1"/>
          <p:nvPr/>
        </p:nvSpPr>
        <p:spPr>
          <a:xfrm>
            <a:off x="374126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7" name="!!v_c"/>
          <p:cNvSpPr txBox="1"/>
          <p:nvPr/>
        </p:nvSpPr>
        <p:spPr>
          <a:xfrm>
            <a:off x="447278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c</a:t>
            </a:r>
            <a:endParaRPr lang="en-US" sz="6000" dirty="0"/>
          </a:p>
        </p:txBody>
      </p:sp>
      <p:sp>
        <p:nvSpPr>
          <p:cNvPr id="8" name="!!p2"/>
          <p:cNvSpPr txBox="1"/>
          <p:nvPr/>
        </p:nvSpPr>
        <p:spPr>
          <a:xfrm>
            <a:off x="488426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9" name="!!v_e"/>
          <p:cNvSpPr txBox="1"/>
          <p:nvPr/>
        </p:nvSpPr>
        <p:spPr>
          <a:xfrm>
            <a:off x="561578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e</a:t>
            </a:r>
            <a:endParaRPr lang="en-US" sz="6000" dirty="0"/>
          </a:p>
        </p:txBody>
      </p:sp>
      <p:sp>
        <p:nvSpPr>
          <p:cNvPr id="10" name="!!rp1"/>
          <p:cNvSpPr txBox="1"/>
          <p:nvPr/>
        </p:nvSpPr>
        <p:spPr>
          <a:xfrm>
            <a:off x="6027268" y="1417320"/>
            <a:ext cx="274320" cy="1097280"/>
          </a:xfrm>
          <a:prstGeom prst="rect">
            <a:avLst/>
          </a:prstGeom>
          <a:noFill/>
          <a:ln/>
        </p:spPr>
        <p:txBody>
          <a:bodyPr wrap="square" lIns="0" tIns="0" rIns="0" bIns="0" rtlCol="0" anchor="ctr"/>
          <a:lstStyle/>
          <a:p>
            <a:pPr algn="l"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1" name="!!p3"/>
          <p:cNvSpPr txBox="1"/>
          <p:nvPr/>
        </p:nvSpPr>
        <p:spPr>
          <a:xfrm>
            <a:off x="630158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2" name="!!c_b"/>
          <p:cNvSpPr txBox="1"/>
          <p:nvPr/>
        </p:nvSpPr>
        <p:spPr>
          <a:xfrm>
            <a:off x="703310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13" name="!!lp2"/>
          <p:cNvSpPr txBox="1"/>
          <p:nvPr/>
        </p:nvSpPr>
        <p:spPr>
          <a:xfrm>
            <a:off x="7444588" y="1417320"/>
            <a:ext cx="274320" cy="1097280"/>
          </a:xfrm>
          <a:prstGeom prst="rect">
            <a:avLst/>
          </a:prstGeom>
          <a:noFill/>
          <a:ln/>
        </p:spPr>
        <p:txBody>
          <a:bodyPr wrap="square" lIns="0" tIns="0" rIns="0" bIns="0" rtlCol="0" anchor="ctr"/>
          <a:lstStyle/>
          <a:p>
            <a:pPr algn="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4" name="!!v_b"/>
          <p:cNvSpPr txBox="1"/>
          <p:nvPr/>
        </p:nvSpPr>
        <p:spPr>
          <a:xfrm>
            <a:off x="771890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b</a:t>
            </a:r>
            <a:endParaRPr lang="en-US" sz="6000" dirty="0"/>
          </a:p>
        </p:txBody>
      </p:sp>
      <p:sp>
        <p:nvSpPr>
          <p:cNvPr id="15" name="!!p4"/>
          <p:cNvSpPr txBox="1"/>
          <p:nvPr/>
        </p:nvSpPr>
        <p:spPr>
          <a:xfrm>
            <a:off x="8130388" y="1417320"/>
            <a:ext cx="731520" cy="1097280"/>
          </a:xfrm>
          <a:prstGeom prst="rect">
            <a:avLst/>
          </a:prstGeom>
          <a:noFill/>
          <a:ln/>
        </p:spPr>
        <p:txBody>
          <a:bodyPr wrap="square" lIns="0" tIns="0" rIns="0" bIns="0" rtlCol="0" anchor="ctr"/>
          <a:lstStyle/>
          <a:p>
            <a:pPr algn="ctr"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6" name="!!v_d"/>
          <p:cNvSpPr txBox="1"/>
          <p:nvPr/>
        </p:nvSpPr>
        <p:spPr>
          <a:xfrm>
            <a:off x="8861908" y="1417320"/>
            <a:ext cx="411480" cy="1097280"/>
          </a:xfrm>
          <a:prstGeom prst="rect">
            <a:avLst/>
          </a:prstGeom>
          <a:noFill/>
          <a:ln/>
        </p:spPr>
        <p:txBody>
          <a:bodyPr wrap="square" lIns="0" tIns="0" rIns="0" bIns="0" rtlCol="0" anchor="ctr"/>
          <a:lstStyle/>
          <a:p>
            <a:pPr algn="l" indent="0" marL="0">
              <a:buNone/>
            </a:pPr>
            <a:r>
              <a:rPr lang="en-US" sz="6000" i="1" dirty="0">
                <a:solidFill>
                  <a:schemeClr val="tx1"/>
                </a:solidFill>
                <a:latin typeface="Cambria" pitchFamily="34" charset="0"/>
                <a:ea typeface="Cambria" pitchFamily="34" charset="-122"/>
                <a:cs typeface="Cambria" pitchFamily="34" charset="-120"/>
              </a:rPr>
              <a:t>d</a:t>
            </a:r>
            <a:endParaRPr lang="en-US" sz="6000" dirty="0"/>
          </a:p>
        </p:txBody>
      </p:sp>
      <p:sp>
        <p:nvSpPr>
          <p:cNvPr id="17" name="!!rp2"/>
          <p:cNvSpPr txBox="1"/>
          <p:nvPr/>
        </p:nvSpPr>
        <p:spPr>
          <a:xfrm>
            <a:off x="9273388" y="1417320"/>
            <a:ext cx="274320" cy="1097280"/>
          </a:xfrm>
          <a:prstGeom prst="rect">
            <a:avLst/>
          </a:prstGeom>
          <a:noFill/>
          <a:ln/>
        </p:spPr>
        <p:txBody>
          <a:bodyPr wrap="square" lIns="0" tIns="0" rIns="0" bIns="0" rtlCol="0" anchor="ctr"/>
          <a:lstStyle/>
          <a:p>
            <a:pPr algn="l" indent="0" marL="0">
              <a:buNone/>
            </a:pPr>
            <a:r>
              <a:rPr lang="en-US" sz="6000" dirty="0">
                <a:solidFill>
                  <a:schemeClr val="tx2"/>
                </a:solidFill>
                <a:latin typeface="Cambria" pitchFamily="34" charset="0"/>
                <a:ea typeface="Cambria" pitchFamily="34" charset="-122"/>
                <a:cs typeface="Cambria" pitchFamily="34" charset="-120"/>
              </a:rPr>
              <a:t>)</a:t>
            </a:r>
            <a:endParaRPr lang="en-US" sz="6000" dirty="0"/>
          </a:p>
        </p:txBody>
      </p:sp>
      <p:sp>
        <p:nvSpPr>
          <p:cNvPr id="18" name="!!c_c"/>
          <p:cNvSpPr txBox="1"/>
          <p:nvPr/>
        </p:nvSpPr>
        <p:spPr>
          <a:xfrm>
            <a:off x="264398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19" name="!!c_e"/>
          <p:cNvSpPr txBox="1"/>
          <p:nvPr/>
        </p:nvSpPr>
        <p:spPr>
          <a:xfrm>
            <a:off x="2643988" y="1417320"/>
            <a:ext cx="411480" cy="1097280"/>
          </a:xfrm>
          <a:prstGeom prst="rect">
            <a:avLst/>
          </a:prstGeom>
          <a:noFill/>
          <a:ln/>
        </p:spPr>
        <p:txBody>
          <a:bodyPr wrap="square" lIns="0" tIns="0" rIns="0" bIns="0" rtlCol="0" anchor="ctr"/>
          <a:lstStyle/>
          <a:p>
            <a:pPr algn="r" indent="0" marL="0">
              <a:buNone/>
            </a:pPr>
            <a:r>
              <a:rPr lang="en-US" sz="6000" dirty="0">
                <a:solidFill>
                  <a:schemeClr val="tx1"/>
                </a:solidFill>
                <a:latin typeface="Cambria" pitchFamily="34" charset="0"/>
                <a:ea typeface="Cambria" pitchFamily="34" charset="-122"/>
                <a:cs typeface="Cambria" pitchFamily="34" charset="-120"/>
              </a:rPr>
              <a:t>2</a:t>
            </a:r>
            <a:endParaRPr lang="en-US" sz="6000" dirty="0"/>
          </a:p>
        </p:txBody>
      </p:sp>
      <p:sp>
        <p:nvSpPr>
          <p:cNvPr id="20" name="!!c_d"/>
          <p:cNvSpPr txBox="1"/>
          <p:nvPr/>
        </p:nvSpPr>
        <p:spPr>
          <a:xfrm>
            <a:off x="7033108" y="1417320"/>
            <a:ext cx="411480" cy="1097280"/>
          </a:xfrm>
          <a:prstGeom prst="rect">
            <a:avLst/>
          </a:prstGeom>
          <a:noFill/>
          <a:ln/>
        </p:spPr>
        <p:txBody>
          <a:bodyPr wrap="square" lIns="0" tIns="0" rIns="0" bIns="0" rtlCol="0" anchor="ctr"/>
          <a:lstStyle/>
          <a:p>
            <a:pPr algn="r" indent="0" marL="0">
              <a:buNone/>
            </a:pPr>
            <a:r>
              <a:rPr lang="en-US" sz="6000" dirty="0">
                <a:solidFill>
                  <a:schemeClr val="accent2"/>
                </a:solidFill>
                <a:latin typeface="Cambria" pitchFamily="34" charset="0"/>
                <a:ea typeface="Cambria" pitchFamily="34" charset="-122"/>
                <a:cs typeface="Cambria" pitchFamily="34" charset="-120"/>
              </a:rPr>
              <a:t>3</a:t>
            </a:r>
            <a:endParaRPr lang="en-US" sz="6000" dirty="0"/>
          </a:p>
        </p:txBody>
      </p:sp>
      <p:sp>
        <p:nvSpPr>
          <p:cNvPr id="21" name="!!step0"/>
          <p:cNvSpPr txBox="1"/>
          <p:nvPr/>
        </p:nvSpPr>
        <p:spPr>
          <a:xfrm>
            <a:off x="97840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1   Original</a:t>
            </a:r>
            <a:endParaRPr lang="en-US" sz="1500" dirty="0"/>
          </a:p>
        </p:txBody>
      </p:sp>
      <p:sp>
        <p:nvSpPr>
          <p:cNvPr id="22" name="!!step1"/>
          <p:cNvSpPr txBox="1"/>
          <p:nvPr/>
        </p:nvSpPr>
        <p:spPr>
          <a:xfrm>
            <a:off x="4453128" y="2788920"/>
            <a:ext cx="3108960" cy="457200"/>
          </a:xfrm>
          <a:prstGeom prst="roundRect">
            <a:avLst>
              <a:gd name="adj" fmla="val 40000"/>
            </a:avLst>
          </a:prstGeom>
          <a:solidFill>
            <a:schemeClr val="bg2"/>
          </a:solidFill>
          <a:ln>
            <a:solidFill>
              <a:schemeClr val="bg2"/>
            </a:solidFill>
          </a:ln>
        </p:spPr>
        <p:txBody>
          <a:bodyPr wrap="square" lIns="0" tIns="0" rIns="0" bIns="0" rtlCol="0" anchor="ctr"/>
          <a:lstStyle/>
          <a:p>
            <a:pPr algn="ctr" indent="0" marL="0">
              <a:buNone/>
            </a:pPr>
            <a:r>
              <a:rPr lang="en-US" sz="1500" dirty="0">
                <a:solidFill>
                  <a:schemeClr val="tx2"/>
                </a:solidFill>
              </a:rPr>
              <a:t>2   Reorder: commutativity</a:t>
            </a:r>
            <a:endParaRPr lang="en-US" sz="1500" dirty="0"/>
          </a:p>
        </p:txBody>
      </p:sp>
      <p:sp>
        <p:nvSpPr>
          <p:cNvPr id="23" name="!!step2"/>
          <p:cNvSpPr txBox="1"/>
          <p:nvPr/>
        </p:nvSpPr>
        <p:spPr>
          <a:xfrm>
            <a:off x="7927848" y="2788920"/>
            <a:ext cx="3108960" cy="457200"/>
          </a:xfrm>
          <a:prstGeom prst="roundRect">
            <a:avLst>
              <a:gd name="adj" fmla="val 40000"/>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3   Factor: distributivity</a:t>
            </a:r>
            <a:endParaRPr lang="en-US" sz="1500" dirty="0"/>
          </a:p>
        </p:txBody>
      </p:sp>
      <p:sp>
        <p:nvSpPr>
          <p:cNvPr id="24" name="!!caption"/>
          <p:cNvSpPr txBox="1"/>
          <p:nvPr/>
        </p:nvSpPr>
        <p:spPr>
          <a:xfrm>
            <a:off x="978408" y="3474720"/>
            <a:ext cx="10241280" cy="457200"/>
          </a:xfrm>
          <a:prstGeom prst="rect">
            <a:avLst/>
          </a:prstGeom>
          <a:noFill/>
          <a:ln/>
        </p:spPr>
        <p:txBody>
          <a:bodyPr wrap="square" lIns="0" tIns="0" rIns="0" bIns="0" rtlCol="0" anchor="ctr"/>
          <a:lstStyle/>
          <a:p>
            <a:pPr algn="ctr" indent="0" marL="0">
              <a:buNone/>
            </a:pPr>
            <a:r>
              <a:rPr lang="en-US" sz="2000" dirty="0">
                <a:solidFill>
                  <a:schemeClr val="tx1"/>
                </a:solidFill>
              </a:rPr>
              <a:t>Pull the shared ×2 and ×3 out: 2 multiplications plus one uniform run of additions.</a:t>
            </a:r>
            <a:endParaRPr lang="en-US" sz="2000" dirty="0"/>
          </a:p>
        </p:txBody>
      </p:sp>
      <p:sp>
        <p:nvSpPr>
          <p:cNvPr id="25" name="Text 23"/>
          <p:cNvSpPr txBox="1"/>
          <p:nvPr/>
        </p:nvSpPr>
        <p:spPr>
          <a:xfrm>
            <a:off x="978408" y="4206240"/>
            <a:ext cx="1737360" cy="502920"/>
          </a:xfrm>
          <a:prstGeom prst="rect">
            <a:avLst/>
          </a:prstGeom>
          <a:noFill/>
          <a:ln/>
        </p:spPr>
        <p:txBody>
          <a:bodyPr wrap="square" lIns="0" tIns="0" rIns="0" bIns="0" rtlCol="0" anchor="ctr"/>
          <a:lstStyle/>
          <a:p>
            <a:pPr indent="0" marL="0">
              <a:buNone/>
            </a:pPr>
            <a:r>
              <a:rPr lang="en-US" sz="1100" b="1" spc="200" kern="0" dirty="0">
                <a:solidFill>
                  <a:schemeClr val="tx2"/>
                </a:solidFill>
              </a:rPr>
              <a:t>WORK, IN ORDER</a:t>
            </a:r>
            <a:endParaRPr lang="en-US" sz="1100" dirty="0"/>
          </a:p>
        </p:txBody>
      </p:sp>
      <p:sp>
        <p:nvSpPr>
          <p:cNvPr id="26" name="!!s1"/>
          <p:cNvSpPr txBox="1"/>
          <p:nvPr/>
        </p:nvSpPr>
        <p:spPr>
          <a:xfrm>
            <a:off x="274320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7" name="!!s2"/>
          <p:cNvSpPr txBox="1"/>
          <p:nvPr/>
        </p:nvSpPr>
        <p:spPr>
          <a:xfrm>
            <a:off x="347472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8" name="!!m_a"/>
          <p:cNvSpPr txBox="1"/>
          <p:nvPr/>
        </p:nvSpPr>
        <p:spPr>
          <a:xfrm>
            <a:off x="420624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9" name="!!s3"/>
          <p:cNvSpPr txBox="1"/>
          <p:nvPr/>
        </p:nvSpPr>
        <p:spPr>
          <a:xfrm>
            <a:off x="493776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0" name="!!m_b"/>
          <p:cNvSpPr txBox="1"/>
          <p:nvPr/>
        </p:nvSpPr>
        <p:spPr>
          <a:xfrm>
            <a:off x="566928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1" name="!!s4"/>
          <p:cNvSpPr txBox="1"/>
          <p:nvPr/>
        </p:nvSpPr>
        <p:spPr>
          <a:xfrm>
            <a:off x="6400800" y="4206240"/>
            <a:ext cx="640080" cy="502920"/>
          </a:xfrm>
          <a:prstGeom prst="roundRect">
            <a:avLst>
              <a:gd name="adj" fmla="val 10909"/>
            </a:avLst>
          </a:prstGeom>
          <a:solidFill>
            <a:schemeClr val="bg2"/>
          </a:solidFill>
          <a:ln>
            <a:solidFill>
              <a:schemeClr val="bg2"/>
            </a:solid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2" name="!!m_c"/>
          <p:cNvSpPr txBox="1"/>
          <p:nvPr/>
        </p:nvSpPr>
        <p:spPr>
          <a:xfrm>
            <a:off x="420624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33" name="!!m_e"/>
          <p:cNvSpPr txBox="1"/>
          <p:nvPr/>
        </p:nvSpPr>
        <p:spPr>
          <a:xfrm>
            <a:off x="4206240" y="4206240"/>
            <a:ext cx="640080" cy="502920"/>
          </a:xfrm>
          <a:prstGeom prst="roundRect">
            <a:avLst>
              <a:gd name="adj" fmla="val 10909"/>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34" name="!!m_d"/>
          <p:cNvSpPr txBox="1"/>
          <p:nvPr/>
        </p:nvSpPr>
        <p:spPr>
          <a:xfrm>
            <a:off x="5669280" y="4206240"/>
            <a:ext cx="640080" cy="502920"/>
          </a:xfrm>
          <a:prstGeom prst="roundRect">
            <a:avLst>
              <a:gd name="adj" fmla="val 10909"/>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5" name="!!opcount"/>
          <p:cNvSpPr txBox="1"/>
          <p:nvPr/>
        </p:nvSpPr>
        <p:spPr>
          <a:xfrm>
            <a:off x="9555480" y="4206240"/>
            <a:ext cx="1664208" cy="502920"/>
          </a:xfrm>
          <a:prstGeom prst="rect">
            <a:avLst/>
          </a:prstGeom>
          <a:noFill/>
          <a:ln/>
        </p:spPr>
        <p:txBody>
          <a:bodyPr wrap="square" lIns="0" tIns="0" rIns="0" bIns="0" rtlCol="0" anchor="ctr"/>
          <a:lstStyle/>
          <a:p>
            <a:pPr algn="r" indent="0" marL="0">
              <a:buNone/>
            </a:pPr>
            <a:r>
              <a:rPr lang="en-US" sz="1800" b="1" dirty="0">
                <a:solidFill>
                  <a:schemeClr val="tx1"/>
                </a:solidFill>
              </a:rPr>
              <a:t>6 ops · 2 ×</a:t>
            </a:r>
            <a:endParaRPr lang="en-US" sz="1800" dirty="0"/>
          </a:p>
        </p:txBody>
      </p:sp>
      <p:sp>
        <p:nvSpPr>
          <p:cNvPr id="36" name="!!map_bg"/>
          <p:cNvSpPr/>
          <p:nvPr/>
        </p:nvSpPr>
        <p:spPr>
          <a:xfrm>
            <a:off x="978408" y="4983480"/>
            <a:ext cx="10241280" cy="1097280"/>
          </a:xfrm>
          <a:prstGeom prst="roundRect">
            <a:avLst>
              <a:gd name="adj" fmla="val 10000"/>
            </a:avLst>
          </a:prstGeom>
          <a:solidFill>
            <a:schemeClr val="bg2"/>
          </a:solidFill>
          <a:ln w="12700">
            <a:solidFill>
              <a:schemeClr val="bg2"/>
            </a:solidFill>
            <a:prstDash val="solid"/>
          </a:ln>
        </p:spPr>
      </p:sp>
      <p:sp>
        <p:nvSpPr>
          <p:cNvPr id="37" name="!!map"/>
          <p:cNvSpPr txBox="1"/>
          <p:nvPr/>
        </p:nvSpPr>
        <p:spPr>
          <a:xfrm>
            <a:off x="1298448" y="4983480"/>
            <a:ext cx="9601200" cy="1097280"/>
          </a:xfrm>
          <a:prstGeom prst="rect">
            <a:avLst/>
          </a:prstGeom>
          <a:noFill/>
          <a:ln/>
        </p:spPr>
        <p:txBody>
          <a:bodyPr wrap="square" lIns="0" tIns="0" rIns="0" bIns="0" rtlCol="0" anchor="ctr"/>
          <a:lstStyle/>
          <a:p>
            <a:pPr indent="0" marL="0">
              <a:buNone/>
            </a:pPr>
            <a:r>
              <a:rPr lang="en-US" sz="1800" b="1" dirty="0">
                <a:solidFill>
                  <a:schemeClr val="tx1"/>
                </a:solidFill>
              </a:rPr>
              <a:t>simdjson makes the same move.  </a:t>
            </a:r>
            <a:pPr indent="0" marL="0">
              <a:buNone/>
            </a:pPr>
            <a:r>
              <a:rPr lang="en-US" sz="1800" dirty="0">
                <a:solidFill>
                  <a:schemeClr val="tx1"/>
                </a:solidFill>
              </a:rPr>
              <a:t>Put the cheap “is this byte structural?” test for every byte into one uniform pass, then do the expensive interpretation only where it's needed.</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Step 1: a classic one-pass parser</a:t>
            </a:r>
            <a:endParaRPr lang="en-US" sz="3200" dirty="0"/>
          </a:p>
        </p:txBody>
      </p:sp>
      <p:sp>
        <p:nvSpPr>
          <p:cNvPr id="3" name="code_bg"/>
          <p:cNvSpPr/>
          <p:nvPr/>
        </p:nvSpPr>
        <p:spPr>
          <a:xfrm>
            <a:off x="548640" y="1325880"/>
            <a:ext cx="7360920" cy="4315968"/>
          </a:xfrm>
          <a:prstGeom prst="roundRect">
            <a:avLst>
              <a:gd name="adj" fmla="val 2542"/>
            </a:avLst>
          </a:prstGeom>
          <a:solidFill>
            <a:schemeClr val="bg2"/>
          </a:solidFill>
          <a:ln w="12700">
            <a:solidFill>
              <a:schemeClr val="bg2"/>
            </a:solidFill>
            <a:prstDash val="solid"/>
          </a:ln>
        </p:spPr>
      </p:sp>
      <p:sp>
        <p:nvSpPr>
          <p:cNvPr id="4" name="code_hl15"/>
          <p:cNvSpPr/>
          <p:nvPr/>
        </p:nvSpPr>
        <p:spPr>
          <a:xfrm>
            <a:off x="603504" y="5212080"/>
            <a:ext cx="7251192" cy="246888"/>
          </a:xfrm>
          <a:prstGeom prst="rect">
            <a:avLst/>
          </a:prstGeom>
          <a:solidFill>
            <a:schemeClr val="accent5"/>
          </a:solidFill>
          <a:ln w="12700">
            <a:solidFill>
              <a:schemeClr val="accent5"/>
            </a:solidFill>
            <a:prstDash val="solid"/>
          </a:ln>
        </p:spPr>
      </p:sp>
      <p:sp>
        <p:nvSpPr>
          <p:cNvPr id="5" name="Text 3"/>
          <p:cNvSpPr txBox="1"/>
          <p:nvPr/>
        </p:nvSpPr>
        <p:spPr>
          <a:xfrm>
            <a:off x="603504" y="5212080"/>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l0"/>
          <p:cNvSpPr txBox="1"/>
          <p:nvPr/>
        </p:nvSpPr>
        <p:spPr>
          <a:xfrm>
            <a:off x="777240" y="1508760"/>
            <a:ext cx="6903720" cy="246888"/>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JsonObject, KeyValuePair, List: hand-written state machines</a:t>
            </a:r>
            <a:endParaRPr lang="en-US" sz="1300" dirty="0"/>
          </a:p>
        </p:txBody>
      </p:sp>
      <p:sp>
        <p:nvSpPr>
          <p:cNvPr id="7" name="code_l1"/>
          <p:cNvSpPr txBox="1"/>
          <p:nvPr/>
        </p:nvSpPr>
        <p:spPr>
          <a:xfrm>
            <a:off x="777240" y="1755648"/>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JsonObject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l2"/>
          <p:cNvSpPr txBox="1"/>
          <p:nvPr/>
        </p:nvSpPr>
        <p:spPr>
          <a:xfrm>
            <a:off x="777240" y="2002536"/>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KeyValuePair</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9" name="code_l3"/>
          <p:cNvSpPr txBox="1"/>
          <p:nvPr/>
        </p:nvSpPr>
        <p:spPr>
          <a:xfrm>
            <a:off x="777240" y="2249424"/>
            <a:ext cx="6903720" cy="246888"/>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enumerate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l4"/>
          <p:cNvSpPr txBox="1"/>
          <p:nvPr/>
        </p:nvSpPr>
        <p:spPr>
          <a:xfrm>
            <a:off x="777240" y="2496312"/>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if</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is_full</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1" name="code_l5"/>
          <p:cNvSpPr txBox="1"/>
          <p:nvPr/>
        </p:nvSpPr>
        <p:spPr>
          <a:xfrm>
            <a:off x="777240" y="2743200"/>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append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2" name="code_l6"/>
          <p:cNvSpPr txBox="1"/>
          <p:nvPr/>
        </p:nvSpPr>
        <p:spPr>
          <a:xfrm>
            <a:off x="777240" y="2990088"/>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KeyValuePair</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3" name="code_l7"/>
          <p:cNvSpPr txBox="1"/>
          <p:nvPr/>
        </p:nvSpPr>
        <p:spPr>
          <a:xfrm>
            <a:off x="777240" y="3236976"/>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match</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l8"/>
          <p:cNvSpPr txBox="1"/>
          <p:nvPr/>
        </p:nvSpPr>
        <p:spPr>
          <a:xfrm>
            <a:off x="777240" y="3483864"/>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open_object_scope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5" name="code_l9"/>
          <p:cNvSpPr txBox="1"/>
          <p:nvPr/>
        </p:nvSpPr>
        <p:spPr>
          <a:xfrm>
            <a:off x="777240" y="3730752"/>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close_object_scope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6" name="code_l10"/>
          <p:cNvSpPr txBox="1"/>
          <p:nvPr/>
        </p:nvSpPr>
        <p:spPr>
          <a:xfrm>
            <a:off x="777240" y="3977640"/>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handle_double_quote_string_scope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7" name="code_l11"/>
          <p:cNvSpPr txBox="1"/>
          <p:nvPr/>
        </p:nvSpPr>
        <p:spPr>
          <a:xfrm>
            <a:off x="777240" y="4224528"/>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register_colon</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8" name="code_l12"/>
          <p:cNvSpPr txBox="1"/>
          <p:nvPr/>
        </p:nvSpPr>
        <p:spPr>
          <a:xfrm>
            <a:off x="777240" y="4471416"/>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value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open_list_scope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9" name="code_l13"/>
          <p:cNvSpPr txBox="1"/>
          <p:nvPr/>
        </p:nvSpPr>
        <p:spPr>
          <a:xfrm>
            <a:off x="777240" y="4718304"/>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value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close_list_scope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0" name="code_l14"/>
          <p:cNvSpPr txBox="1"/>
          <p:nvPr/>
        </p:nvSpPr>
        <p:spPr>
          <a:xfrm>
            <a:off x="777240" y="4965192"/>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value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register_comma</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1" name="code_l15"/>
          <p:cNvSpPr txBox="1"/>
          <p:nvPr/>
        </p:nvSpPr>
        <p:spPr>
          <a:xfrm>
            <a:off x="777240" y="5212080"/>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content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kv</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feed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content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2" name="Text 20"/>
          <p:cNvSpPr txBox="1"/>
          <p:nvPr/>
        </p:nvSpPr>
        <p:spPr>
          <a:xfrm>
            <a:off x="8183880" y="1417320"/>
            <a:ext cx="3456432" cy="274320"/>
          </a:xfrm>
          <a:prstGeom prst="rect">
            <a:avLst/>
          </a:prstGeom>
          <a:noFill/>
          <a:ln/>
        </p:spPr>
        <p:txBody>
          <a:bodyPr wrap="square" lIns="0" tIns="0" rIns="0" bIns="0" rtlCol="0" anchor="ctr"/>
          <a:lstStyle/>
          <a:p>
            <a:pPr indent="0" marL="0">
              <a:buNone/>
            </a:pPr>
            <a:r>
              <a:rPr lang="en-US" sz="1200" b="1" spc="200" kern="0" dirty="0">
                <a:solidFill>
                  <a:schemeClr val="tx2"/>
                </a:solidFill>
              </a:rPr>
              <a:t>PROBLEM</a:t>
            </a:r>
            <a:endParaRPr lang="en-US" sz="1200" dirty="0"/>
          </a:p>
        </p:txBody>
      </p:sp>
      <p:sp>
        <p:nvSpPr>
          <p:cNvPr id="23" name="Text 21"/>
          <p:cNvSpPr txBox="1"/>
          <p:nvPr/>
        </p:nvSpPr>
        <p:spPr>
          <a:xfrm>
            <a:off x="8183880" y="1783080"/>
            <a:ext cx="3456432" cy="77724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Every byte goes through the interpreter</a:t>
            </a:r>
            <a:endParaRPr lang="en-US" sz="2000" dirty="0"/>
          </a:p>
        </p:txBody>
      </p:sp>
      <p:sp>
        <p:nvSpPr>
          <p:cNvPr id="24" name="Text 22"/>
          <p:cNvSpPr txBox="1"/>
          <p:nvPr/>
        </p:nvSpPr>
        <p:spPr>
          <a:xfrm>
            <a:off x="8183880" y="2651760"/>
            <a:ext cx="3456432" cy="2990088"/>
          </a:xfrm>
          <a:prstGeom prst="rect">
            <a:avLst/>
          </a:prstGeom>
          <a:noFill/>
          <a:ln/>
        </p:spPr>
        <p:txBody>
          <a:bodyPr wrap="square" lIns="0" tIns="0" rIns="0" bIns="0" rtlCol="0" anchor="t"/>
          <a:lstStyle/>
          <a:p>
            <a:pPr indent="0" marL="0">
              <a:buNone/>
            </a:pPr>
            <a:r>
              <a:rPr lang="en-US" sz="1600" dirty="0">
                <a:solidFill>
                  <a:schemeClr val="tx2"/>
                </a:solidFill>
              </a:rPr>
              <a:t>Finding structure and building objects are tangled together. Each character takes data-dependent branches through several state machines, so the predictor keeps guessing wrong.</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Step 2: record positions, build later</a:t>
            </a:r>
            <a:endParaRPr lang="en-US" sz="3200" dirty="0"/>
          </a:p>
        </p:txBody>
      </p:sp>
      <p:sp>
        <p:nvSpPr>
          <p:cNvPr id="3" name="code_bg"/>
          <p:cNvSpPr/>
          <p:nvPr/>
        </p:nvSpPr>
        <p:spPr>
          <a:xfrm>
            <a:off x="548640" y="1325880"/>
            <a:ext cx="7360920" cy="3657600"/>
          </a:xfrm>
          <a:prstGeom prst="roundRect">
            <a:avLst>
              <a:gd name="adj" fmla="val 3000"/>
            </a:avLst>
          </a:prstGeom>
          <a:solidFill>
            <a:schemeClr val="bg2"/>
          </a:solidFill>
          <a:ln w="12700">
            <a:solidFill>
              <a:schemeClr val="bg2"/>
            </a:solidFill>
            <a:prstDash val="solid"/>
          </a:ln>
        </p:spPr>
      </p:sp>
      <p:sp>
        <p:nvSpPr>
          <p:cNvPr id="4" name="code_hl0"/>
          <p:cNvSpPr/>
          <p:nvPr/>
        </p:nvSpPr>
        <p:spPr>
          <a:xfrm>
            <a:off x="603504" y="1508760"/>
            <a:ext cx="7251192" cy="274320"/>
          </a:xfrm>
          <a:prstGeom prst="rect">
            <a:avLst/>
          </a:prstGeom>
          <a:solidFill>
            <a:schemeClr val="accent5"/>
          </a:solidFill>
          <a:ln w="12700">
            <a:solidFill>
              <a:schemeClr val="accent5"/>
            </a:solidFill>
            <a:prstDash val="solid"/>
          </a:ln>
        </p:spPr>
      </p:sp>
      <p:sp>
        <p:nvSpPr>
          <p:cNvPr id="5" name="Text 3"/>
          <p:cNvSpPr txBox="1"/>
          <p:nvPr/>
        </p:nvSpPr>
        <p:spPr>
          <a:xfrm>
            <a:off x="603504" y="150876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hl3"/>
          <p:cNvSpPr/>
          <p:nvPr/>
        </p:nvSpPr>
        <p:spPr>
          <a:xfrm>
            <a:off x="603504" y="2331720"/>
            <a:ext cx="7251192" cy="274320"/>
          </a:xfrm>
          <a:prstGeom prst="rect">
            <a:avLst/>
          </a:prstGeom>
          <a:solidFill>
            <a:schemeClr val="accent5"/>
          </a:solidFill>
          <a:ln w="12700">
            <a:solidFill>
              <a:schemeClr val="accent5"/>
            </a:solidFill>
            <a:prstDash val="solid"/>
          </a:ln>
        </p:spPr>
      </p:sp>
      <p:sp>
        <p:nvSpPr>
          <p:cNvPr id="7" name="Text 5"/>
          <p:cNvSpPr txBox="1"/>
          <p:nvPr/>
        </p:nvSpPr>
        <p:spPr>
          <a:xfrm>
            <a:off x="603504" y="23317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hl4"/>
          <p:cNvSpPr/>
          <p:nvPr/>
        </p:nvSpPr>
        <p:spPr>
          <a:xfrm>
            <a:off x="603504" y="2606040"/>
            <a:ext cx="7251192" cy="274320"/>
          </a:xfrm>
          <a:prstGeom prst="rect">
            <a:avLst/>
          </a:prstGeom>
          <a:solidFill>
            <a:schemeClr val="accent5"/>
          </a:solidFill>
          <a:ln w="12700">
            <a:solidFill>
              <a:schemeClr val="accent5"/>
            </a:solidFill>
            <a:prstDash val="solid"/>
          </a:ln>
        </p:spPr>
      </p:sp>
      <p:sp>
        <p:nvSpPr>
          <p:cNvPr id="9" name="Text 7"/>
          <p:cNvSpPr txBox="1"/>
          <p:nvPr/>
        </p:nvSpPr>
        <p:spPr>
          <a:xfrm>
            <a:off x="603504" y="26060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hl5"/>
          <p:cNvSpPr/>
          <p:nvPr/>
        </p:nvSpPr>
        <p:spPr>
          <a:xfrm>
            <a:off x="603504" y="2880360"/>
            <a:ext cx="7251192" cy="274320"/>
          </a:xfrm>
          <a:prstGeom prst="rect">
            <a:avLst/>
          </a:prstGeom>
          <a:solidFill>
            <a:schemeClr val="accent5"/>
          </a:solidFill>
          <a:ln w="12700">
            <a:solidFill>
              <a:schemeClr val="accent5"/>
            </a:solidFill>
            <a:prstDash val="solid"/>
          </a:ln>
        </p:spPr>
      </p:sp>
      <p:sp>
        <p:nvSpPr>
          <p:cNvPr id="11" name="Text 9"/>
          <p:cNvSpPr txBox="1"/>
          <p:nvPr/>
        </p:nvSpPr>
        <p:spPr>
          <a:xfrm>
            <a:off x="603504" y="288036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2" name="code_hl6"/>
          <p:cNvSpPr/>
          <p:nvPr/>
        </p:nvSpPr>
        <p:spPr>
          <a:xfrm>
            <a:off x="603504" y="3154680"/>
            <a:ext cx="7251192" cy="274320"/>
          </a:xfrm>
          <a:prstGeom prst="rect">
            <a:avLst/>
          </a:prstGeom>
          <a:solidFill>
            <a:schemeClr val="accent5"/>
          </a:solidFill>
          <a:ln w="12700">
            <a:solidFill>
              <a:schemeClr val="accent5"/>
            </a:solidFill>
            <a:prstDash val="solid"/>
          </a:ln>
        </p:spPr>
      </p:sp>
      <p:sp>
        <p:nvSpPr>
          <p:cNvPr id="13" name="Text 11"/>
          <p:cNvSpPr txBox="1"/>
          <p:nvPr/>
        </p:nvSpPr>
        <p:spPr>
          <a:xfrm>
            <a:off x="603504" y="315468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hl7"/>
          <p:cNvSpPr/>
          <p:nvPr/>
        </p:nvSpPr>
        <p:spPr>
          <a:xfrm>
            <a:off x="603504" y="3429000"/>
            <a:ext cx="7251192" cy="274320"/>
          </a:xfrm>
          <a:prstGeom prst="rect">
            <a:avLst/>
          </a:prstGeom>
          <a:solidFill>
            <a:schemeClr val="accent5"/>
          </a:solidFill>
          <a:ln w="12700">
            <a:solidFill>
              <a:schemeClr val="accent5"/>
            </a:solidFill>
            <a:prstDash val="solid"/>
          </a:ln>
        </p:spPr>
      </p:sp>
      <p:sp>
        <p:nvSpPr>
          <p:cNvPr id="15" name="Text 13"/>
          <p:cNvSpPr txBox="1"/>
          <p:nvPr/>
        </p:nvSpPr>
        <p:spPr>
          <a:xfrm>
            <a:off x="603504" y="342900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6" name="code_hl8"/>
          <p:cNvSpPr/>
          <p:nvPr/>
        </p:nvSpPr>
        <p:spPr>
          <a:xfrm>
            <a:off x="603504" y="3703320"/>
            <a:ext cx="7251192" cy="274320"/>
          </a:xfrm>
          <a:prstGeom prst="rect">
            <a:avLst/>
          </a:prstGeom>
          <a:solidFill>
            <a:schemeClr val="accent5"/>
          </a:solidFill>
          <a:ln w="12700">
            <a:solidFill>
              <a:schemeClr val="accent5"/>
            </a:solidFill>
            <a:prstDash val="solid"/>
          </a:ln>
        </p:spPr>
      </p:sp>
      <p:sp>
        <p:nvSpPr>
          <p:cNvPr id="17" name="Text 15"/>
          <p:cNvSpPr txBox="1"/>
          <p:nvPr/>
        </p:nvSpPr>
        <p:spPr>
          <a:xfrm>
            <a:off x="603504" y="37033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8" name="code_hl9"/>
          <p:cNvSpPr/>
          <p:nvPr/>
        </p:nvSpPr>
        <p:spPr>
          <a:xfrm>
            <a:off x="603504" y="3977640"/>
            <a:ext cx="7251192" cy="274320"/>
          </a:xfrm>
          <a:prstGeom prst="rect">
            <a:avLst/>
          </a:prstGeom>
          <a:solidFill>
            <a:schemeClr val="accent5"/>
          </a:solidFill>
          <a:ln w="12700">
            <a:solidFill>
              <a:schemeClr val="accent5"/>
            </a:solidFill>
            <a:prstDash val="solid"/>
          </a:ln>
        </p:spPr>
      </p:sp>
      <p:sp>
        <p:nvSpPr>
          <p:cNvPr id="19" name="Text 17"/>
          <p:cNvSpPr txBox="1"/>
          <p:nvPr/>
        </p:nvSpPr>
        <p:spPr>
          <a:xfrm>
            <a:off x="603504" y="39776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0" name="code_hl10"/>
          <p:cNvSpPr/>
          <p:nvPr/>
        </p:nvSpPr>
        <p:spPr>
          <a:xfrm>
            <a:off x="603504" y="4251960"/>
            <a:ext cx="7251192" cy="274320"/>
          </a:xfrm>
          <a:prstGeom prst="rect">
            <a:avLst/>
          </a:prstGeom>
          <a:solidFill>
            <a:schemeClr val="accent5"/>
          </a:solidFill>
          <a:ln w="12700">
            <a:solidFill>
              <a:schemeClr val="accent5"/>
            </a:solidFill>
            <a:prstDash val="solid"/>
          </a:ln>
        </p:spPr>
      </p:sp>
      <p:sp>
        <p:nvSpPr>
          <p:cNvPr id="21" name="Text 19"/>
          <p:cNvSpPr txBox="1"/>
          <p:nvPr/>
        </p:nvSpPr>
        <p:spPr>
          <a:xfrm>
            <a:off x="603504" y="425196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2" name="code_hl11"/>
          <p:cNvSpPr/>
          <p:nvPr/>
        </p:nvSpPr>
        <p:spPr>
          <a:xfrm>
            <a:off x="603504" y="4526280"/>
            <a:ext cx="7251192" cy="274320"/>
          </a:xfrm>
          <a:prstGeom prst="rect">
            <a:avLst/>
          </a:prstGeom>
          <a:solidFill>
            <a:schemeClr val="accent5"/>
          </a:solidFill>
          <a:ln w="12700">
            <a:solidFill>
              <a:schemeClr val="accent5"/>
            </a:solidFill>
            <a:prstDash val="solid"/>
          </a:ln>
        </p:spPr>
      </p:sp>
      <p:sp>
        <p:nvSpPr>
          <p:cNvPr id="23" name="Text 21"/>
          <p:cNvSpPr txBox="1"/>
          <p:nvPr/>
        </p:nvSpPr>
        <p:spPr>
          <a:xfrm>
            <a:off x="603504" y="452628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4" name="code_l0"/>
          <p:cNvSpPr txBox="1"/>
          <p:nvPr/>
        </p:nvSpPr>
        <p:spPr>
          <a:xfrm>
            <a:off x="777240" y="150876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JsonObjectIndexer</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5" name="code_l1"/>
          <p:cNvSpPr txBox="1"/>
          <p:nvPr/>
        </p:nvSpPr>
        <p:spPr>
          <a:xfrm>
            <a:off x="777240" y="1783080"/>
            <a:ext cx="6903720" cy="274320"/>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enumerate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6" name="code_l2"/>
          <p:cNvSpPr txBox="1"/>
          <p:nvPr/>
        </p:nvSpPr>
        <p:spPr>
          <a:xfrm>
            <a:off x="777240" y="205740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match</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7" name="code_l3"/>
          <p:cNvSpPr txBox="1"/>
          <p:nvPr/>
        </p:nvSpPr>
        <p:spPr>
          <a:xfrm>
            <a:off x="777240" y="233172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open_object_scope_at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8" name="code_l4"/>
          <p:cNvSpPr txBox="1"/>
          <p:nvPr/>
        </p:nvSpPr>
        <p:spPr>
          <a:xfrm>
            <a:off x="777240" y="260604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close_object_scope_at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9" name="code_l5"/>
          <p:cNvSpPr txBox="1"/>
          <p:nvPr/>
        </p:nvSpPr>
        <p:spPr>
          <a:xfrm>
            <a:off x="777240" y="288036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handle_double_quote_string_scope_at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0" name="code_l6"/>
          <p:cNvSpPr txBox="1"/>
          <p:nvPr/>
        </p:nvSpPr>
        <p:spPr>
          <a:xfrm>
            <a:off x="777240" y="315468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register_colon</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1" name="code_l7"/>
          <p:cNvSpPr txBox="1"/>
          <p:nvPr/>
        </p:nvSpPr>
        <p:spPr>
          <a:xfrm>
            <a:off x="777240" y="342900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open_list_scope_at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2" name="code_l8"/>
          <p:cNvSpPr txBox="1"/>
          <p:nvPr/>
        </p:nvSpPr>
        <p:spPr>
          <a:xfrm>
            <a:off x="777240" y="370332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close_list_scope_at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3" name="code_l9"/>
          <p:cNvSpPr txBox="1"/>
          <p:nvPr/>
        </p:nvSpPr>
        <p:spPr>
          <a:xfrm>
            <a:off x="777240" y="397764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register_comma</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4" name="code_l10"/>
          <p:cNvSpPr txBox="1"/>
          <p:nvPr/>
        </p:nvSpPr>
        <p:spPr>
          <a:xfrm>
            <a:off x="777240" y="425196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_</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pass</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most characters land here</a:t>
            </a:r>
            <a:endParaRPr lang="en-US" sz="1300" dirty="0"/>
          </a:p>
        </p:txBody>
      </p:sp>
      <p:sp>
        <p:nvSpPr>
          <p:cNvPr id="35" name="code_l11"/>
          <p:cNvSpPr txBox="1"/>
          <p:nvPr/>
        </p:nvSpPr>
        <p:spPr>
          <a:xfrm>
            <a:off x="777240" y="452628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obj</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build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6" name="Text 34"/>
          <p:cNvSpPr txBox="1"/>
          <p:nvPr/>
        </p:nvSpPr>
        <p:spPr>
          <a:xfrm>
            <a:off x="8183880" y="1417320"/>
            <a:ext cx="3456432" cy="274320"/>
          </a:xfrm>
          <a:prstGeom prst="rect">
            <a:avLst/>
          </a:prstGeom>
          <a:noFill/>
          <a:ln/>
        </p:spPr>
        <p:txBody>
          <a:bodyPr wrap="square" lIns="0" tIns="0" rIns="0" bIns="0" rtlCol="0" anchor="ctr"/>
          <a:lstStyle/>
          <a:p>
            <a:pPr indent="0" marL="0">
              <a:buNone/>
            </a:pPr>
            <a:r>
              <a:rPr lang="en-US" sz="1200" b="1" spc="200" kern="0" dirty="0">
                <a:solidFill>
                  <a:schemeClr val="tx2"/>
                </a:solidFill>
              </a:rPr>
              <a:t>BETTER, BUT</a:t>
            </a:r>
            <a:endParaRPr lang="en-US" sz="1200" dirty="0"/>
          </a:p>
        </p:txBody>
      </p:sp>
      <p:sp>
        <p:nvSpPr>
          <p:cNvPr id="37" name="Text 35"/>
          <p:cNvSpPr txBox="1"/>
          <p:nvPr/>
        </p:nvSpPr>
        <p:spPr>
          <a:xfrm>
            <a:off x="8183880" y="1783080"/>
            <a:ext cx="3456432" cy="77724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Interpretation moved out of the loop</a:t>
            </a:r>
            <a:endParaRPr lang="en-US" sz="2000" dirty="0"/>
          </a:p>
        </p:txBody>
      </p:sp>
      <p:sp>
        <p:nvSpPr>
          <p:cNvPr id="38" name="Text 36"/>
          <p:cNvSpPr txBox="1"/>
          <p:nvPr/>
        </p:nvSpPr>
        <p:spPr>
          <a:xfrm>
            <a:off x="8183880" y="2651760"/>
            <a:ext cx="3456432" cy="2331720"/>
          </a:xfrm>
          <a:prstGeom prst="rect">
            <a:avLst/>
          </a:prstGeom>
          <a:noFill/>
          <a:ln/>
        </p:spPr>
        <p:txBody>
          <a:bodyPr wrap="square" lIns="0" tIns="0" rIns="0" bIns="0" rtlCol="0" anchor="t"/>
          <a:lstStyle/>
          <a:p>
            <a:pPr indent="0" marL="0">
              <a:buNone/>
            </a:pPr>
            <a:r>
              <a:rPr lang="en-US" sz="1600" dirty="0">
                <a:solidFill>
                  <a:schemeClr val="tx2"/>
                </a:solidFill>
              </a:rPr>
              <a:t>The loop now only records where things are; build() does the interpreting later. But most bytes hit case _, and we still visit every one, one at a time.</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Step 3: bail out early on ordinary bytes</a:t>
            </a:r>
            <a:endParaRPr lang="en-US" sz="3200" dirty="0"/>
          </a:p>
        </p:txBody>
      </p:sp>
      <p:sp>
        <p:nvSpPr>
          <p:cNvPr id="3" name="code_bg"/>
          <p:cNvSpPr/>
          <p:nvPr/>
        </p:nvSpPr>
        <p:spPr>
          <a:xfrm>
            <a:off x="548640" y="1325880"/>
            <a:ext cx="7360920" cy="4069080"/>
          </a:xfrm>
          <a:prstGeom prst="roundRect">
            <a:avLst>
              <a:gd name="adj" fmla="val 2697"/>
            </a:avLst>
          </a:prstGeom>
          <a:solidFill>
            <a:schemeClr val="bg2"/>
          </a:solidFill>
          <a:ln w="12700">
            <a:solidFill>
              <a:schemeClr val="bg2"/>
            </a:solidFill>
            <a:prstDash val="solid"/>
          </a:ln>
        </p:spPr>
      </p:sp>
      <p:sp>
        <p:nvSpPr>
          <p:cNvPr id="4" name="code_hl0"/>
          <p:cNvSpPr/>
          <p:nvPr/>
        </p:nvSpPr>
        <p:spPr>
          <a:xfrm>
            <a:off x="603504" y="1508760"/>
            <a:ext cx="7251192" cy="246888"/>
          </a:xfrm>
          <a:prstGeom prst="rect">
            <a:avLst/>
          </a:prstGeom>
          <a:solidFill>
            <a:schemeClr val="accent5"/>
          </a:solidFill>
          <a:ln w="12700">
            <a:solidFill>
              <a:schemeClr val="accent5"/>
            </a:solidFill>
            <a:prstDash val="solid"/>
          </a:ln>
        </p:spPr>
      </p:sp>
      <p:sp>
        <p:nvSpPr>
          <p:cNvPr id="5" name="Text 3"/>
          <p:cNvSpPr txBox="1"/>
          <p:nvPr/>
        </p:nvSpPr>
        <p:spPr>
          <a:xfrm>
            <a:off x="603504" y="1508760"/>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hl4"/>
          <p:cNvSpPr/>
          <p:nvPr/>
        </p:nvSpPr>
        <p:spPr>
          <a:xfrm>
            <a:off x="603504" y="2496312"/>
            <a:ext cx="7251192" cy="246888"/>
          </a:xfrm>
          <a:prstGeom prst="rect">
            <a:avLst/>
          </a:prstGeom>
          <a:solidFill>
            <a:schemeClr val="accent5"/>
          </a:solidFill>
          <a:ln w="12700">
            <a:solidFill>
              <a:schemeClr val="accent5"/>
            </a:solidFill>
            <a:prstDash val="solid"/>
          </a:ln>
        </p:spPr>
      </p:sp>
      <p:sp>
        <p:nvSpPr>
          <p:cNvPr id="7" name="Text 5"/>
          <p:cNvSpPr txBox="1"/>
          <p:nvPr/>
        </p:nvSpPr>
        <p:spPr>
          <a:xfrm>
            <a:off x="603504" y="2496312"/>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hl5"/>
          <p:cNvSpPr/>
          <p:nvPr/>
        </p:nvSpPr>
        <p:spPr>
          <a:xfrm>
            <a:off x="603504" y="2743200"/>
            <a:ext cx="7251192" cy="246888"/>
          </a:xfrm>
          <a:prstGeom prst="rect">
            <a:avLst/>
          </a:prstGeom>
          <a:solidFill>
            <a:schemeClr val="accent5"/>
          </a:solidFill>
          <a:ln w="12700">
            <a:solidFill>
              <a:schemeClr val="accent5"/>
            </a:solidFill>
            <a:prstDash val="solid"/>
          </a:ln>
        </p:spPr>
      </p:sp>
      <p:sp>
        <p:nvSpPr>
          <p:cNvPr id="9" name="Text 7"/>
          <p:cNvSpPr txBox="1"/>
          <p:nvPr/>
        </p:nvSpPr>
        <p:spPr>
          <a:xfrm>
            <a:off x="603504" y="2743200"/>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l0"/>
          <p:cNvSpPr txBox="1"/>
          <p:nvPr/>
        </p:nvSpPr>
        <p:spPr>
          <a:xfrm>
            <a:off x="777240" y="1508760"/>
            <a:ext cx="6903720" cy="246888"/>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STRUCTURAL</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3B8D3B"/>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1" name="code_l2"/>
          <p:cNvSpPr txBox="1"/>
          <p:nvPr/>
        </p:nvSpPr>
        <p:spPr>
          <a:xfrm>
            <a:off x="777240" y="2002536"/>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JsonObjectIndexer</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2" name="code_l3"/>
          <p:cNvSpPr txBox="1"/>
          <p:nvPr/>
        </p:nvSpPr>
        <p:spPr>
          <a:xfrm>
            <a:off x="777240" y="2249424"/>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for</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character</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in</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enumerate</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json_source_code</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3" name="code_l4"/>
          <p:cNvSpPr txBox="1"/>
          <p:nvPr/>
        </p:nvSpPr>
        <p:spPr>
          <a:xfrm>
            <a:off x="777240" y="2496312"/>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if</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not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STRUCTURAL</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l5"/>
          <p:cNvSpPr txBox="1"/>
          <p:nvPr/>
        </p:nvSpPr>
        <p:spPr>
          <a:xfrm>
            <a:off x="777240" y="2743200"/>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continue</a:t>
            </a:r>
            <a:endParaRPr lang="en-US" sz="1300" dirty="0"/>
          </a:p>
        </p:txBody>
      </p:sp>
      <p:sp>
        <p:nvSpPr>
          <p:cNvPr id="15" name="code_l6"/>
          <p:cNvSpPr txBox="1"/>
          <p:nvPr/>
        </p:nvSpPr>
        <p:spPr>
          <a:xfrm>
            <a:off x="777240" y="2990088"/>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match</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character</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6" name="code_l7"/>
          <p:cNvSpPr txBox="1"/>
          <p:nvPr/>
        </p:nvSpPr>
        <p:spPr>
          <a:xfrm>
            <a:off x="777240" y="3236976"/>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open_object_scope_at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7" name="code_l8"/>
          <p:cNvSpPr txBox="1"/>
          <p:nvPr/>
        </p:nvSpPr>
        <p:spPr>
          <a:xfrm>
            <a:off x="777240" y="3483864"/>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close_object_scope_at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8" name="code_l9"/>
          <p:cNvSpPr txBox="1"/>
          <p:nvPr/>
        </p:nvSpPr>
        <p:spPr>
          <a:xfrm>
            <a:off x="777240" y="3730752"/>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handle_double_quote_string_scope_at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19" name="code_l10"/>
          <p:cNvSpPr txBox="1"/>
          <p:nvPr/>
        </p:nvSpPr>
        <p:spPr>
          <a:xfrm>
            <a:off x="777240" y="3977640"/>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register_colon</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0" name="code_l11"/>
          <p:cNvSpPr txBox="1"/>
          <p:nvPr/>
        </p:nvSpPr>
        <p:spPr>
          <a:xfrm>
            <a:off x="777240" y="4224528"/>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open_list_scope_at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1" name="code_l12"/>
          <p:cNvSpPr txBox="1"/>
          <p:nvPr/>
        </p:nvSpPr>
        <p:spPr>
          <a:xfrm>
            <a:off x="777240" y="4471416"/>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close_list_scope_at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2" name="code_l13"/>
          <p:cNvSpPr txBox="1"/>
          <p:nvPr/>
        </p:nvSpPr>
        <p:spPr>
          <a:xfrm>
            <a:off x="777240" y="4718304"/>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register_comma</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3" name="code_l14"/>
          <p:cNvSpPr txBox="1"/>
          <p:nvPr/>
        </p:nvSpPr>
        <p:spPr>
          <a:xfrm>
            <a:off x="777240" y="4965192"/>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build</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json_source_code</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4" name="Text 22"/>
          <p:cNvSpPr txBox="1"/>
          <p:nvPr/>
        </p:nvSpPr>
        <p:spPr>
          <a:xfrm>
            <a:off x="8183880" y="1417320"/>
            <a:ext cx="3456432" cy="274320"/>
          </a:xfrm>
          <a:prstGeom prst="rect">
            <a:avLst/>
          </a:prstGeom>
          <a:noFill/>
          <a:ln/>
        </p:spPr>
        <p:txBody>
          <a:bodyPr wrap="square" lIns="0" tIns="0" rIns="0" bIns="0" rtlCol="0" anchor="ctr"/>
          <a:lstStyle/>
          <a:p>
            <a:pPr indent="0" marL="0">
              <a:buNone/>
            </a:pPr>
            <a:r>
              <a:rPr lang="en-US" sz="1200" b="1" spc="200" kern="0" dirty="0">
                <a:solidFill>
                  <a:schemeClr val="tx2"/>
                </a:solidFill>
              </a:rPr>
              <a:t>WAIT…</a:t>
            </a:r>
            <a:endParaRPr lang="en-US" sz="1200" dirty="0"/>
          </a:p>
        </p:txBody>
      </p:sp>
      <p:sp>
        <p:nvSpPr>
          <p:cNvPr id="25" name="Text 23"/>
          <p:cNvSpPr txBox="1"/>
          <p:nvPr/>
        </p:nvSpPr>
        <p:spPr>
          <a:xfrm>
            <a:off x="8183880" y="1783080"/>
            <a:ext cx="3456432" cy="77724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Same work, plus an extra test</a:t>
            </a:r>
            <a:endParaRPr lang="en-US" sz="2000" dirty="0"/>
          </a:p>
        </p:txBody>
      </p:sp>
      <p:sp>
        <p:nvSpPr>
          <p:cNvPr id="26" name="Text 24"/>
          <p:cNvSpPr txBox="1"/>
          <p:nvPr/>
        </p:nvSpPr>
        <p:spPr>
          <a:xfrm>
            <a:off x="8183880" y="2651760"/>
            <a:ext cx="3456432" cy="2743200"/>
          </a:xfrm>
          <a:prstGeom prst="rect">
            <a:avLst/>
          </a:prstGeom>
          <a:noFill/>
          <a:ln/>
        </p:spPr>
        <p:txBody>
          <a:bodyPr wrap="square" lIns="0" tIns="0" rIns="0" bIns="0" rtlCol="0" anchor="t"/>
          <a:lstStyle/>
          <a:p>
            <a:pPr indent="0" marL="0">
              <a:buNone/>
            </a:pPr>
            <a:r>
              <a:rPr lang="en-US" sz="1600" dirty="0">
                <a:solidFill>
                  <a:schemeClr val="tx2"/>
                </a:solidFill>
              </a:rPr>
              <a:t>This is actually a bit slower. But the shape changed: a tiny, uniform test guards rare, expensive work. That's the algebra's reorder step.</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Step 4: two passes, find then interpret</a:t>
            </a:r>
            <a:endParaRPr lang="en-US" sz="3200" dirty="0"/>
          </a:p>
        </p:txBody>
      </p:sp>
      <p:sp>
        <p:nvSpPr>
          <p:cNvPr id="3" name="code_bg"/>
          <p:cNvSpPr/>
          <p:nvPr/>
        </p:nvSpPr>
        <p:spPr>
          <a:xfrm>
            <a:off x="548640" y="1325880"/>
            <a:ext cx="7360920" cy="4069080"/>
          </a:xfrm>
          <a:prstGeom prst="roundRect">
            <a:avLst>
              <a:gd name="adj" fmla="val 2697"/>
            </a:avLst>
          </a:prstGeom>
          <a:solidFill>
            <a:schemeClr val="bg2"/>
          </a:solidFill>
          <a:ln w="12700">
            <a:solidFill>
              <a:schemeClr val="bg2"/>
            </a:solidFill>
            <a:prstDash val="solid"/>
          </a:ln>
        </p:spPr>
      </p:sp>
      <p:sp>
        <p:nvSpPr>
          <p:cNvPr id="4" name="code_hl2"/>
          <p:cNvSpPr/>
          <p:nvPr/>
        </p:nvSpPr>
        <p:spPr>
          <a:xfrm>
            <a:off x="603504" y="2002536"/>
            <a:ext cx="7251192" cy="246888"/>
          </a:xfrm>
          <a:prstGeom prst="rect">
            <a:avLst/>
          </a:prstGeom>
          <a:solidFill>
            <a:schemeClr val="accent5"/>
          </a:solidFill>
          <a:ln w="12700">
            <a:solidFill>
              <a:schemeClr val="accent5"/>
            </a:solidFill>
            <a:prstDash val="solid"/>
          </a:ln>
        </p:spPr>
      </p:sp>
      <p:sp>
        <p:nvSpPr>
          <p:cNvPr id="5" name="Text 3"/>
          <p:cNvSpPr txBox="1"/>
          <p:nvPr/>
        </p:nvSpPr>
        <p:spPr>
          <a:xfrm>
            <a:off x="603504" y="2002536"/>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hl3"/>
          <p:cNvSpPr/>
          <p:nvPr/>
        </p:nvSpPr>
        <p:spPr>
          <a:xfrm>
            <a:off x="603504" y="2249424"/>
            <a:ext cx="7251192" cy="246888"/>
          </a:xfrm>
          <a:prstGeom prst="rect">
            <a:avLst/>
          </a:prstGeom>
          <a:solidFill>
            <a:schemeClr val="accent5"/>
          </a:solidFill>
          <a:ln w="12700">
            <a:solidFill>
              <a:schemeClr val="accent5"/>
            </a:solidFill>
            <a:prstDash val="solid"/>
          </a:ln>
        </p:spPr>
      </p:sp>
      <p:sp>
        <p:nvSpPr>
          <p:cNvPr id="7" name="Text 5"/>
          <p:cNvSpPr txBox="1"/>
          <p:nvPr/>
        </p:nvSpPr>
        <p:spPr>
          <a:xfrm>
            <a:off x="603504" y="2249424"/>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hl4"/>
          <p:cNvSpPr/>
          <p:nvPr/>
        </p:nvSpPr>
        <p:spPr>
          <a:xfrm>
            <a:off x="603504" y="2496312"/>
            <a:ext cx="7251192" cy="246888"/>
          </a:xfrm>
          <a:prstGeom prst="rect">
            <a:avLst/>
          </a:prstGeom>
          <a:solidFill>
            <a:schemeClr val="accent5"/>
          </a:solidFill>
          <a:ln w="12700">
            <a:solidFill>
              <a:schemeClr val="accent5"/>
            </a:solidFill>
            <a:prstDash val="solid"/>
          </a:ln>
        </p:spPr>
      </p:sp>
      <p:sp>
        <p:nvSpPr>
          <p:cNvPr id="9" name="Text 7"/>
          <p:cNvSpPr txBox="1"/>
          <p:nvPr/>
        </p:nvSpPr>
        <p:spPr>
          <a:xfrm>
            <a:off x="603504" y="2496312"/>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hl5"/>
          <p:cNvSpPr/>
          <p:nvPr/>
        </p:nvSpPr>
        <p:spPr>
          <a:xfrm>
            <a:off x="603504" y="2743200"/>
            <a:ext cx="7251192" cy="246888"/>
          </a:xfrm>
          <a:prstGeom prst="rect">
            <a:avLst/>
          </a:prstGeom>
          <a:solidFill>
            <a:schemeClr val="accent5"/>
          </a:solidFill>
          <a:ln w="12700">
            <a:solidFill>
              <a:schemeClr val="accent5"/>
            </a:solidFill>
            <a:prstDash val="solid"/>
          </a:ln>
        </p:spPr>
      </p:sp>
      <p:sp>
        <p:nvSpPr>
          <p:cNvPr id="11" name="Text 9"/>
          <p:cNvSpPr txBox="1"/>
          <p:nvPr/>
        </p:nvSpPr>
        <p:spPr>
          <a:xfrm>
            <a:off x="603504" y="2743200"/>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2" name="code_hl6"/>
          <p:cNvSpPr/>
          <p:nvPr/>
        </p:nvSpPr>
        <p:spPr>
          <a:xfrm>
            <a:off x="603504" y="2990088"/>
            <a:ext cx="7251192" cy="246888"/>
          </a:xfrm>
          <a:prstGeom prst="rect">
            <a:avLst/>
          </a:prstGeom>
          <a:solidFill>
            <a:schemeClr val="accent5"/>
          </a:solidFill>
          <a:ln w="12700">
            <a:solidFill>
              <a:schemeClr val="accent5"/>
            </a:solidFill>
            <a:prstDash val="solid"/>
          </a:ln>
        </p:spPr>
      </p:sp>
      <p:sp>
        <p:nvSpPr>
          <p:cNvPr id="13" name="Text 11"/>
          <p:cNvSpPr txBox="1"/>
          <p:nvPr/>
        </p:nvSpPr>
        <p:spPr>
          <a:xfrm>
            <a:off x="603504" y="2990088"/>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hl8"/>
          <p:cNvSpPr/>
          <p:nvPr/>
        </p:nvSpPr>
        <p:spPr>
          <a:xfrm>
            <a:off x="603504" y="3483864"/>
            <a:ext cx="7251192" cy="246888"/>
          </a:xfrm>
          <a:prstGeom prst="rect">
            <a:avLst/>
          </a:prstGeom>
          <a:solidFill>
            <a:schemeClr val="accent5"/>
          </a:solidFill>
          <a:ln w="12700">
            <a:solidFill>
              <a:schemeClr val="accent5"/>
            </a:solidFill>
            <a:prstDash val="solid"/>
          </a:ln>
        </p:spPr>
      </p:sp>
      <p:sp>
        <p:nvSpPr>
          <p:cNvPr id="15" name="Text 13"/>
          <p:cNvSpPr txBox="1"/>
          <p:nvPr/>
        </p:nvSpPr>
        <p:spPr>
          <a:xfrm>
            <a:off x="603504" y="3483864"/>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6" name="code_hl10"/>
          <p:cNvSpPr/>
          <p:nvPr/>
        </p:nvSpPr>
        <p:spPr>
          <a:xfrm>
            <a:off x="603504" y="3977640"/>
            <a:ext cx="7251192" cy="246888"/>
          </a:xfrm>
          <a:prstGeom prst="rect">
            <a:avLst/>
          </a:prstGeom>
          <a:solidFill>
            <a:schemeClr val="accent5"/>
          </a:solidFill>
          <a:ln w="12700">
            <a:solidFill>
              <a:schemeClr val="accent5"/>
            </a:solidFill>
            <a:prstDash val="solid"/>
          </a:ln>
        </p:spPr>
      </p:sp>
      <p:sp>
        <p:nvSpPr>
          <p:cNvPr id="17" name="Text 15"/>
          <p:cNvSpPr txBox="1"/>
          <p:nvPr/>
        </p:nvSpPr>
        <p:spPr>
          <a:xfrm>
            <a:off x="603504" y="3977640"/>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8" name="code_hl11"/>
          <p:cNvSpPr/>
          <p:nvPr/>
        </p:nvSpPr>
        <p:spPr>
          <a:xfrm>
            <a:off x="603504" y="4224528"/>
            <a:ext cx="7251192" cy="246888"/>
          </a:xfrm>
          <a:prstGeom prst="rect">
            <a:avLst/>
          </a:prstGeom>
          <a:solidFill>
            <a:schemeClr val="accent5"/>
          </a:solidFill>
          <a:ln w="12700">
            <a:solidFill>
              <a:schemeClr val="accent5"/>
            </a:solidFill>
            <a:prstDash val="solid"/>
          </a:ln>
        </p:spPr>
      </p:sp>
      <p:sp>
        <p:nvSpPr>
          <p:cNvPr id="19" name="Text 17"/>
          <p:cNvSpPr txBox="1"/>
          <p:nvPr/>
        </p:nvSpPr>
        <p:spPr>
          <a:xfrm>
            <a:off x="603504" y="4224528"/>
            <a:ext cx="155448" cy="246888"/>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0" name="code_l0"/>
          <p:cNvSpPr txBox="1"/>
          <p:nvPr/>
        </p:nvSpPr>
        <p:spPr>
          <a:xfrm>
            <a:off x="777240" y="1508760"/>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STRUCTURAL</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1" name="code_l2"/>
          <p:cNvSpPr txBox="1"/>
          <p:nvPr/>
        </p:nvSpPr>
        <p:spPr>
          <a:xfrm>
            <a:off x="777240" y="2002536"/>
            <a:ext cx="6903720" cy="246888"/>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Pass 1: find. One tiny, uniform test per byte</a:t>
            </a:r>
            <a:endParaRPr lang="en-US" sz="1300" dirty="0"/>
          </a:p>
        </p:txBody>
      </p:sp>
      <p:sp>
        <p:nvSpPr>
          <p:cNvPr id="22" name="code_l3"/>
          <p:cNvSpPr txBox="1"/>
          <p:nvPr/>
        </p:nvSpPr>
        <p:spPr>
          <a:xfrm>
            <a:off x="777240" y="2249424"/>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indexer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3" name="code_l4"/>
          <p:cNvSpPr txBox="1"/>
          <p:nvPr/>
        </p:nvSpPr>
        <p:spPr>
          <a:xfrm>
            <a:off x="777240" y="2496312"/>
            <a:ext cx="6903720" cy="246888"/>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enumerate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4" name="code_l5"/>
          <p:cNvSpPr txBox="1"/>
          <p:nvPr/>
        </p:nvSpPr>
        <p:spPr>
          <a:xfrm>
            <a:off x="777240" y="2743200"/>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if</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STRUCTURAL</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5" name="code_l6"/>
          <p:cNvSpPr txBox="1"/>
          <p:nvPr/>
        </p:nvSpPr>
        <p:spPr>
          <a:xfrm>
            <a:off x="777240" y="2990088"/>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indexer</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append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6" name="code_l8"/>
          <p:cNvSpPr txBox="1"/>
          <p:nvPr/>
        </p:nvSpPr>
        <p:spPr>
          <a:xfrm>
            <a:off x="777240" y="3483864"/>
            <a:ext cx="6903720" cy="246888"/>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Pass 2: interpret. Only the structural characters</a:t>
            </a:r>
            <a:endParaRPr lang="en-US" sz="1300" dirty="0"/>
          </a:p>
        </p:txBody>
      </p:sp>
      <p:sp>
        <p:nvSpPr>
          <p:cNvPr id="27" name="code_l9"/>
          <p:cNvSpPr txBox="1"/>
          <p:nvPr/>
        </p:nvSpPr>
        <p:spPr>
          <a:xfrm>
            <a:off x="777240" y="3730752"/>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JsonObjectIndexer</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28" name="code_l10"/>
          <p:cNvSpPr txBox="1"/>
          <p:nvPr/>
        </p:nvSpPr>
        <p:spPr>
          <a:xfrm>
            <a:off x="777240" y="3977640"/>
            <a:ext cx="6903720" cy="246888"/>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indexer</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9" name="code_l11"/>
          <p:cNvSpPr txBox="1"/>
          <p:nvPr/>
        </p:nvSpPr>
        <p:spPr>
          <a:xfrm>
            <a:off x="777240" y="4224528"/>
            <a:ext cx="6903720" cy="246888"/>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match</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index</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0" name="code_l12"/>
          <p:cNvSpPr txBox="1"/>
          <p:nvPr/>
        </p:nvSpPr>
        <p:spPr>
          <a:xfrm>
            <a:off x="777240" y="4471416"/>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case</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open_object_scope_at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index</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31" name="code_l13"/>
          <p:cNvSpPr txBox="1"/>
          <p:nvPr/>
        </p:nvSpPr>
        <p:spPr>
          <a:xfrm>
            <a:off x="777240" y="4718304"/>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i="1" dirty="0">
                <a:solidFill>
                  <a:schemeClr val="accent6"/>
                </a:solidFill>
                <a:latin typeface="Courier New" pitchFamily="34" charset="0"/>
                <a:ea typeface="Courier New" pitchFamily="34" charset="-122"/>
                <a:cs typeface="Courier New" pitchFamily="34" charset="-120"/>
              </a:rPr>
              <a:t># the same 7 cases as before</a:t>
            </a:r>
            <a:endParaRPr lang="en-US" sz="1300" dirty="0"/>
          </a:p>
        </p:txBody>
      </p:sp>
      <p:sp>
        <p:nvSpPr>
          <p:cNvPr id="32" name="code_l14"/>
          <p:cNvSpPr txBox="1"/>
          <p:nvPr/>
        </p:nvSpPr>
        <p:spPr>
          <a:xfrm>
            <a:off x="777240" y="4965192"/>
            <a:ext cx="6903720" cy="246888"/>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obj</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build</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json_source_code</a:t>
            </a:r>
            <a:pPr indent="0" marL="0">
              <a:buNone/>
            </a:pPr>
            <a:r>
              <a:rPr lang="en-US" sz="1300" dirty="0">
                <a:solidFill>
                  <a:schemeClr val="accent6"/>
                </a:solidFill>
                <a:latin typeface="Courier New" pitchFamily="34" charset="0"/>
                <a:ea typeface="Courier New" pitchFamily="34" charset="-122"/>
                <a:cs typeface="Courier New" pitchFamily="34" charset="-120"/>
              </a:rPr>
              <a:t>)</a:t>
            </a:r>
            <a:endParaRPr lang="en-US" sz="1300" dirty="0"/>
          </a:p>
        </p:txBody>
      </p:sp>
      <p:sp>
        <p:nvSpPr>
          <p:cNvPr id="33" name="Text 31"/>
          <p:cNvSpPr txBox="1"/>
          <p:nvPr/>
        </p:nvSpPr>
        <p:spPr>
          <a:xfrm>
            <a:off x="8183880" y="1417320"/>
            <a:ext cx="3456432" cy="274320"/>
          </a:xfrm>
          <a:prstGeom prst="rect">
            <a:avLst/>
          </a:prstGeom>
          <a:noFill/>
          <a:ln/>
        </p:spPr>
        <p:txBody>
          <a:bodyPr wrap="square" lIns="0" tIns="0" rIns="0" bIns="0" rtlCol="0" anchor="ctr"/>
          <a:lstStyle/>
          <a:p>
            <a:pPr indent="0" marL="0">
              <a:buNone/>
            </a:pPr>
            <a:r>
              <a:rPr lang="en-US" sz="1200" b="1" spc="200" kern="0" dirty="0">
                <a:solidFill>
                  <a:schemeClr val="tx2"/>
                </a:solidFill>
              </a:rPr>
              <a:t>STRUCTURAL INDEXING</a:t>
            </a:r>
            <a:endParaRPr lang="en-US" sz="1200" dirty="0"/>
          </a:p>
        </p:txBody>
      </p:sp>
      <p:sp>
        <p:nvSpPr>
          <p:cNvPr id="34" name="Text 32"/>
          <p:cNvSpPr txBox="1"/>
          <p:nvPr/>
        </p:nvSpPr>
        <p:spPr>
          <a:xfrm>
            <a:off x="8183880" y="1783080"/>
            <a:ext cx="3456432" cy="77724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Factor the loop into two</a:t>
            </a:r>
            <a:endParaRPr lang="en-US" sz="2000" dirty="0"/>
          </a:p>
        </p:txBody>
      </p:sp>
      <p:sp>
        <p:nvSpPr>
          <p:cNvPr id="35" name="Text 33"/>
          <p:cNvSpPr txBox="1"/>
          <p:nvPr/>
        </p:nvSpPr>
        <p:spPr>
          <a:xfrm>
            <a:off x="8183880" y="2651760"/>
            <a:ext cx="3456432" cy="2743200"/>
          </a:xfrm>
          <a:prstGeom prst="rect">
            <a:avLst/>
          </a:prstGeom>
          <a:noFill/>
          <a:ln/>
        </p:spPr>
        <p:txBody>
          <a:bodyPr wrap="square" lIns="0" tIns="0" rIns="0" bIns="0" rtlCol="0" anchor="t"/>
          <a:lstStyle/>
          <a:p>
            <a:pPr indent="0" marL="0">
              <a:buNone/>
            </a:pPr>
            <a:r>
              <a:rPr lang="en-US" sz="1600" dirty="0">
                <a:solidFill>
                  <a:schemeClr val="tx2"/>
                </a:solidFill>
              </a:rPr>
              <a:t>Pass 1 is the same tiny test on every byte: predictable and batchable. Pass 2 jumps from structural character to structural character with a lightweight state machine and never visits the rest.</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data structure: a flat array of positions</a:t>
            </a:r>
            <a:endParaRPr lang="en-US" sz="3200" dirty="0"/>
          </a:p>
        </p:txBody>
      </p:sp>
      <p:sp>
        <p:nvSpPr>
          <p:cNvPr id="3" name="Text 1"/>
          <p:cNvSpPr txBox="1"/>
          <p:nvPr/>
        </p:nvSpPr>
        <p:spPr>
          <a:xfrm>
            <a:off x="548640" y="1325880"/>
            <a:ext cx="2743200" cy="274320"/>
          </a:xfrm>
          <a:prstGeom prst="rect">
            <a:avLst/>
          </a:prstGeom>
          <a:noFill/>
          <a:ln/>
        </p:spPr>
        <p:txBody>
          <a:bodyPr wrap="square" lIns="0" tIns="0" rIns="0" bIns="0" rtlCol="0" anchor="ctr"/>
          <a:lstStyle/>
          <a:p>
            <a:pPr indent="0" marL="0">
              <a:buNone/>
            </a:pPr>
            <a:r>
              <a:rPr lang="en-US" sz="1100" b="1" spc="200" kern="0" dirty="0">
                <a:solidFill>
                  <a:schemeClr val="tx2"/>
                </a:solidFill>
              </a:rPr>
              <a:t>BYTES</a:t>
            </a:r>
            <a:endParaRPr lang="en-US" sz="1100" dirty="0"/>
          </a:p>
        </p:txBody>
      </p:sp>
      <p:sp>
        <p:nvSpPr>
          <p:cNvPr id="4" name="tile0"/>
          <p:cNvSpPr txBox="1"/>
          <p:nvPr/>
        </p:nvSpPr>
        <p:spPr>
          <a:xfrm>
            <a:off x="71003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71003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0</a:t>
            </a:r>
            <a:endParaRPr lang="en-US" sz="900" dirty="0"/>
          </a:p>
        </p:txBody>
      </p:sp>
      <p:sp>
        <p:nvSpPr>
          <p:cNvPr id="6" name="tile1"/>
          <p:cNvSpPr txBox="1"/>
          <p:nvPr/>
        </p:nvSpPr>
        <p:spPr>
          <a:xfrm>
            <a:off x="993496"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7" name="Text 5"/>
          <p:cNvSpPr txBox="1"/>
          <p:nvPr/>
        </p:nvSpPr>
        <p:spPr>
          <a:xfrm>
            <a:off x="993496"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1</a:t>
            </a:r>
            <a:endParaRPr lang="en-US" sz="900" dirty="0"/>
          </a:p>
        </p:txBody>
      </p:sp>
      <p:sp>
        <p:nvSpPr>
          <p:cNvPr id="8" name="tile2"/>
          <p:cNvSpPr txBox="1"/>
          <p:nvPr/>
        </p:nvSpPr>
        <p:spPr>
          <a:xfrm>
            <a:off x="1276960"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9" name="Text 7"/>
          <p:cNvSpPr txBox="1"/>
          <p:nvPr/>
        </p:nvSpPr>
        <p:spPr>
          <a:xfrm>
            <a:off x="1276960"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2</a:t>
            </a:r>
            <a:endParaRPr lang="en-US" sz="900" dirty="0"/>
          </a:p>
        </p:txBody>
      </p:sp>
      <p:sp>
        <p:nvSpPr>
          <p:cNvPr id="10" name="tile3"/>
          <p:cNvSpPr txBox="1"/>
          <p:nvPr/>
        </p:nvSpPr>
        <p:spPr>
          <a:xfrm>
            <a:off x="1560424"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p</a:t>
            </a:r>
            <a:endParaRPr lang="en-US" sz="1400" dirty="0"/>
          </a:p>
        </p:txBody>
      </p:sp>
      <p:sp>
        <p:nvSpPr>
          <p:cNvPr id="11" name="Text 9"/>
          <p:cNvSpPr txBox="1"/>
          <p:nvPr/>
        </p:nvSpPr>
        <p:spPr>
          <a:xfrm>
            <a:off x="1560424"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3</a:t>
            </a:r>
            <a:endParaRPr lang="en-US" sz="900" dirty="0"/>
          </a:p>
        </p:txBody>
      </p:sp>
      <p:sp>
        <p:nvSpPr>
          <p:cNvPr id="12" name="tile4"/>
          <p:cNvSpPr txBox="1"/>
          <p:nvPr/>
        </p:nvSpPr>
        <p:spPr>
          <a:xfrm>
            <a:off x="1843888"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u</a:t>
            </a:r>
            <a:endParaRPr lang="en-US" sz="1400" dirty="0"/>
          </a:p>
        </p:txBody>
      </p:sp>
      <p:sp>
        <p:nvSpPr>
          <p:cNvPr id="13" name="Text 11"/>
          <p:cNvSpPr txBox="1"/>
          <p:nvPr/>
        </p:nvSpPr>
        <p:spPr>
          <a:xfrm>
            <a:off x="1843888"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4</a:t>
            </a:r>
            <a:endParaRPr lang="en-US" sz="900" dirty="0"/>
          </a:p>
        </p:txBody>
      </p:sp>
      <p:sp>
        <p:nvSpPr>
          <p:cNvPr id="14" name="tile5"/>
          <p:cNvSpPr txBox="1"/>
          <p:nvPr/>
        </p:nvSpPr>
        <p:spPr>
          <a:xfrm>
            <a:off x="212735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5" name="Text 13"/>
          <p:cNvSpPr txBox="1"/>
          <p:nvPr/>
        </p:nvSpPr>
        <p:spPr>
          <a:xfrm>
            <a:off x="212735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5</a:t>
            </a:r>
            <a:endParaRPr lang="en-US" sz="900" dirty="0"/>
          </a:p>
        </p:txBody>
      </p:sp>
      <p:sp>
        <p:nvSpPr>
          <p:cNvPr id="16" name="tile6"/>
          <p:cNvSpPr txBox="1"/>
          <p:nvPr/>
        </p:nvSpPr>
        <p:spPr>
          <a:xfrm>
            <a:off x="2410816"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7" name="Text 15"/>
          <p:cNvSpPr txBox="1"/>
          <p:nvPr/>
        </p:nvSpPr>
        <p:spPr>
          <a:xfrm>
            <a:off x="2410816"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6</a:t>
            </a:r>
            <a:endParaRPr lang="en-US" sz="900" dirty="0"/>
          </a:p>
        </p:txBody>
      </p:sp>
      <p:sp>
        <p:nvSpPr>
          <p:cNvPr id="18" name="tile7"/>
          <p:cNvSpPr txBox="1"/>
          <p:nvPr/>
        </p:nvSpPr>
        <p:spPr>
          <a:xfrm>
            <a:off x="2694280"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9" name="Text 17"/>
          <p:cNvSpPr txBox="1"/>
          <p:nvPr/>
        </p:nvSpPr>
        <p:spPr>
          <a:xfrm>
            <a:off x="2694280"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7</a:t>
            </a:r>
            <a:endParaRPr lang="en-US" sz="900" dirty="0"/>
          </a:p>
        </p:txBody>
      </p:sp>
      <p:sp>
        <p:nvSpPr>
          <p:cNvPr id="20" name="tile8"/>
          <p:cNvSpPr txBox="1"/>
          <p:nvPr/>
        </p:nvSpPr>
        <p:spPr>
          <a:xfrm>
            <a:off x="2977744"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r</a:t>
            </a:r>
            <a:endParaRPr lang="en-US" sz="1400" dirty="0"/>
          </a:p>
        </p:txBody>
      </p:sp>
      <p:sp>
        <p:nvSpPr>
          <p:cNvPr id="21" name="Text 19"/>
          <p:cNvSpPr txBox="1"/>
          <p:nvPr/>
        </p:nvSpPr>
        <p:spPr>
          <a:xfrm>
            <a:off x="2977744"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8</a:t>
            </a:r>
            <a:endParaRPr lang="en-US" sz="900" dirty="0"/>
          </a:p>
        </p:txBody>
      </p:sp>
      <p:sp>
        <p:nvSpPr>
          <p:cNvPr id="22" name="tile9"/>
          <p:cNvSpPr txBox="1"/>
          <p:nvPr/>
        </p:nvSpPr>
        <p:spPr>
          <a:xfrm>
            <a:off x="3261208"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23" name="Text 21"/>
          <p:cNvSpPr txBox="1"/>
          <p:nvPr/>
        </p:nvSpPr>
        <p:spPr>
          <a:xfrm>
            <a:off x="3261208"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9</a:t>
            </a:r>
            <a:endParaRPr lang="en-US" sz="900" dirty="0"/>
          </a:p>
        </p:txBody>
      </p:sp>
      <p:sp>
        <p:nvSpPr>
          <p:cNvPr id="24" name="tile10"/>
          <p:cNvSpPr txBox="1"/>
          <p:nvPr/>
        </p:nvSpPr>
        <p:spPr>
          <a:xfrm>
            <a:off x="3544672"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25" name="Text 23"/>
          <p:cNvSpPr txBox="1"/>
          <p:nvPr/>
        </p:nvSpPr>
        <p:spPr>
          <a:xfrm>
            <a:off x="3544672"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10</a:t>
            </a:r>
            <a:endParaRPr lang="en-US" sz="900" dirty="0"/>
          </a:p>
        </p:txBody>
      </p:sp>
      <p:sp>
        <p:nvSpPr>
          <p:cNvPr id="26" name="tile11"/>
          <p:cNvSpPr txBox="1"/>
          <p:nvPr/>
        </p:nvSpPr>
        <p:spPr>
          <a:xfrm>
            <a:off x="3828136"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27" name="Text 25"/>
          <p:cNvSpPr txBox="1"/>
          <p:nvPr/>
        </p:nvSpPr>
        <p:spPr>
          <a:xfrm>
            <a:off x="3828136"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11</a:t>
            </a:r>
            <a:endParaRPr lang="en-US" sz="900" dirty="0"/>
          </a:p>
        </p:txBody>
      </p:sp>
      <p:sp>
        <p:nvSpPr>
          <p:cNvPr id="28" name="tile12"/>
          <p:cNvSpPr txBox="1"/>
          <p:nvPr/>
        </p:nvSpPr>
        <p:spPr>
          <a:xfrm>
            <a:off x="4111600"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v</a:t>
            </a:r>
            <a:endParaRPr lang="en-US" sz="1400" dirty="0"/>
          </a:p>
        </p:txBody>
      </p:sp>
      <p:sp>
        <p:nvSpPr>
          <p:cNvPr id="29" name="Text 27"/>
          <p:cNvSpPr txBox="1"/>
          <p:nvPr/>
        </p:nvSpPr>
        <p:spPr>
          <a:xfrm>
            <a:off x="4111600"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12</a:t>
            </a:r>
            <a:endParaRPr lang="en-US" sz="900" dirty="0"/>
          </a:p>
        </p:txBody>
      </p:sp>
      <p:sp>
        <p:nvSpPr>
          <p:cNvPr id="30" name="tile13"/>
          <p:cNvSpPr txBox="1"/>
          <p:nvPr/>
        </p:nvSpPr>
        <p:spPr>
          <a:xfrm>
            <a:off x="4395064"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1" name="Text 29"/>
          <p:cNvSpPr txBox="1"/>
          <p:nvPr/>
        </p:nvSpPr>
        <p:spPr>
          <a:xfrm>
            <a:off x="4395064"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13</a:t>
            </a:r>
            <a:endParaRPr lang="en-US" sz="900" dirty="0"/>
          </a:p>
        </p:txBody>
      </p:sp>
      <p:sp>
        <p:nvSpPr>
          <p:cNvPr id="32" name="tile14"/>
          <p:cNvSpPr txBox="1"/>
          <p:nvPr/>
        </p:nvSpPr>
        <p:spPr>
          <a:xfrm>
            <a:off x="4678528"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3" name="Text 31"/>
          <p:cNvSpPr txBox="1"/>
          <p:nvPr/>
        </p:nvSpPr>
        <p:spPr>
          <a:xfrm>
            <a:off x="4678528"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14</a:t>
            </a:r>
            <a:endParaRPr lang="en-US" sz="900" dirty="0"/>
          </a:p>
        </p:txBody>
      </p:sp>
      <p:sp>
        <p:nvSpPr>
          <p:cNvPr id="34" name="tile15"/>
          <p:cNvSpPr txBox="1"/>
          <p:nvPr/>
        </p:nvSpPr>
        <p:spPr>
          <a:xfrm>
            <a:off x="496199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5" name="Text 33"/>
          <p:cNvSpPr txBox="1"/>
          <p:nvPr/>
        </p:nvSpPr>
        <p:spPr>
          <a:xfrm>
            <a:off x="496199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15</a:t>
            </a:r>
            <a:endParaRPr lang="en-US" sz="900" dirty="0"/>
          </a:p>
        </p:txBody>
      </p:sp>
      <p:sp>
        <p:nvSpPr>
          <p:cNvPr id="36" name="tile16"/>
          <p:cNvSpPr txBox="1"/>
          <p:nvPr/>
        </p:nvSpPr>
        <p:spPr>
          <a:xfrm>
            <a:off x="5245456"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37" name="Text 35"/>
          <p:cNvSpPr txBox="1"/>
          <p:nvPr/>
        </p:nvSpPr>
        <p:spPr>
          <a:xfrm>
            <a:off x="5245456"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16</a:t>
            </a:r>
            <a:endParaRPr lang="en-US" sz="900" dirty="0"/>
          </a:p>
        </p:txBody>
      </p:sp>
      <p:sp>
        <p:nvSpPr>
          <p:cNvPr id="38" name="tile17"/>
          <p:cNvSpPr txBox="1"/>
          <p:nvPr/>
        </p:nvSpPr>
        <p:spPr>
          <a:xfrm>
            <a:off x="5528920"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39" name="Text 37"/>
          <p:cNvSpPr txBox="1"/>
          <p:nvPr/>
        </p:nvSpPr>
        <p:spPr>
          <a:xfrm>
            <a:off x="5528920"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17</a:t>
            </a:r>
            <a:endParaRPr lang="en-US" sz="900" dirty="0"/>
          </a:p>
        </p:txBody>
      </p:sp>
      <p:sp>
        <p:nvSpPr>
          <p:cNvPr id="40" name="tile18"/>
          <p:cNvSpPr txBox="1"/>
          <p:nvPr/>
        </p:nvSpPr>
        <p:spPr>
          <a:xfrm>
            <a:off x="5812384"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g</a:t>
            </a:r>
            <a:endParaRPr lang="en-US" sz="1400" dirty="0"/>
          </a:p>
        </p:txBody>
      </p:sp>
      <p:sp>
        <p:nvSpPr>
          <p:cNvPr id="41" name="Text 39"/>
          <p:cNvSpPr txBox="1"/>
          <p:nvPr/>
        </p:nvSpPr>
        <p:spPr>
          <a:xfrm>
            <a:off x="5812384"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18</a:t>
            </a:r>
            <a:endParaRPr lang="en-US" sz="900" dirty="0"/>
          </a:p>
        </p:txBody>
      </p:sp>
      <p:sp>
        <p:nvSpPr>
          <p:cNvPr id="42" name="tile19"/>
          <p:cNvSpPr txBox="1"/>
          <p:nvPr/>
        </p:nvSpPr>
        <p:spPr>
          <a:xfrm>
            <a:off x="6095848"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43" name="Text 41"/>
          <p:cNvSpPr txBox="1"/>
          <p:nvPr/>
        </p:nvSpPr>
        <p:spPr>
          <a:xfrm>
            <a:off x="6095848"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19</a:t>
            </a:r>
            <a:endParaRPr lang="en-US" sz="900" dirty="0"/>
          </a:p>
        </p:txBody>
      </p:sp>
      <p:sp>
        <p:nvSpPr>
          <p:cNvPr id="44" name="tile20"/>
          <p:cNvSpPr txBox="1"/>
          <p:nvPr/>
        </p:nvSpPr>
        <p:spPr>
          <a:xfrm>
            <a:off x="637931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5" name="Text 43"/>
          <p:cNvSpPr txBox="1"/>
          <p:nvPr/>
        </p:nvSpPr>
        <p:spPr>
          <a:xfrm>
            <a:off x="637931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20</a:t>
            </a:r>
            <a:endParaRPr lang="en-US" sz="900" dirty="0"/>
          </a:p>
        </p:txBody>
      </p:sp>
      <p:sp>
        <p:nvSpPr>
          <p:cNvPr id="46" name="tile21"/>
          <p:cNvSpPr txBox="1"/>
          <p:nvPr/>
        </p:nvSpPr>
        <p:spPr>
          <a:xfrm>
            <a:off x="6662776"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7" name="Text 45"/>
          <p:cNvSpPr txBox="1"/>
          <p:nvPr/>
        </p:nvSpPr>
        <p:spPr>
          <a:xfrm>
            <a:off x="6662776"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21</a:t>
            </a:r>
            <a:endParaRPr lang="en-US" sz="900" dirty="0"/>
          </a:p>
        </p:txBody>
      </p:sp>
      <p:sp>
        <p:nvSpPr>
          <p:cNvPr id="48" name="tile22"/>
          <p:cNvSpPr txBox="1"/>
          <p:nvPr/>
        </p:nvSpPr>
        <p:spPr>
          <a:xfrm>
            <a:off x="6946240"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9" name="Text 47"/>
          <p:cNvSpPr txBox="1"/>
          <p:nvPr/>
        </p:nvSpPr>
        <p:spPr>
          <a:xfrm>
            <a:off x="6946240"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22</a:t>
            </a:r>
            <a:endParaRPr lang="en-US" sz="900" dirty="0"/>
          </a:p>
        </p:txBody>
      </p:sp>
      <p:sp>
        <p:nvSpPr>
          <p:cNvPr id="50" name="tile23"/>
          <p:cNvSpPr txBox="1"/>
          <p:nvPr/>
        </p:nvSpPr>
        <p:spPr>
          <a:xfrm>
            <a:off x="7229704"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1" name="Text 49"/>
          <p:cNvSpPr txBox="1"/>
          <p:nvPr/>
        </p:nvSpPr>
        <p:spPr>
          <a:xfrm>
            <a:off x="7229704"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23</a:t>
            </a:r>
            <a:endParaRPr lang="en-US" sz="900" dirty="0"/>
          </a:p>
        </p:txBody>
      </p:sp>
      <p:sp>
        <p:nvSpPr>
          <p:cNvPr id="52" name="tile24"/>
          <p:cNvSpPr txBox="1"/>
          <p:nvPr/>
        </p:nvSpPr>
        <p:spPr>
          <a:xfrm>
            <a:off x="7513168"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f</a:t>
            </a:r>
            <a:endParaRPr lang="en-US" sz="1400" dirty="0"/>
          </a:p>
        </p:txBody>
      </p:sp>
      <p:sp>
        <p:nvSpPr>
          <p:cNvPr id="53" name="Text 51"/>
          <p:cNvSpPr txBox="1"/>
          <p:nvPr/>
        </p:nvSpPr>
        <p:spPr>
          <a:xfrm>
            <a:off x="7513168"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24</a:t>
            </a:r>
            <a:endParaRPr lang="en-US" sz="900" dirty="0"/>
          </a:p>
        </p:txBody>
      </p:sp>
      <p:sp>
        <p:nvSpPr>
          <p:cNvPr id="54" name="tile25"/>
          <p:cNvSpPr txBox="1"/>
          <p:nvPr/>
        </p:nvSpPr>
        <p:spPr>
          <a:xfrm>
            <a:off x="7796632"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55" name="Text 53"/>
          <p:cNvSpPr txBox="1"/>
          <p:nvPr/>
        </p:nvSpPr>
        <p:spPr>
          <a:xfrm>
            <a:off x="7796632"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25</a:t>
            </a:r>
            <a:endParaRPr lang="en-US" sz="900" dirty="0"/>
          </a:p>
        </p:txBody>
      </p:sp>
      <p:sp>
        <p:nvSpPr>
          <p:cNvPr id="56" name="tile26"/>
          <p:cNvSpPr txBox="1"/>
          <p:nvPr/>
        </p:nvSpPr>
        <p:spPr>
          <a:xfrm>
            <a:off x="8080096"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57" name="Text 55"/>
          <p:cNvSpPr txBox="1"/>
          <p:nvPr/>
        </p:nvSpPr>
        <p:spPr>
          <a:xfrm>
            <a:off x="8080096"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26</a:t>
            </a:r>
            <a:endParaRPr lang="en-US" sz="900" dirty="0"/>
          </a:p>
        </p:txBody>
      </p:sp>
      <p:sp>
        <p:nvSpPr>
          <p:cNvPr id="58" name="tile27"/>
          <p:cNvSpPr txBox="1"/>
          <p:nvPr/>
        </p:nvSpPr>
        <p:spPr>
          <a:xfrm>
            <a:off x="8363560"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59" name="Text 57"/>
          <p:cNvSpPr txBox="1"/>
          <p:nvPr/>
        </p:nvSpPr>
        <p:spPr>
          <a:xfrm>
            <a:off x="8363560"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27</a:t>
            </a:r>
            <a:endParaRPr lang="en-US" sz="900" dirty="0"/>
          </a:p>
        </p:txBody>
      </p:sp>
      <p:sp>
        <p:nvSpPr>
          <p:cNvPr id="60" name="tile28"/>
          <p:cNvSpPr txBox="1"/>
          <p:nvPr/>
        </p:nvSpPr>
        <p:spPr>
          <a:xfrm>
            <a:off x="8647024"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1" name="Text 59"/>
          <p:cNvSpPr txBox="1"/>
          <p:nvPr/>
        </p:nvSpPr>
        <p:spPr>
          <a:xfrm>
            <a:off x="8647024"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28</a:t>
            </a:r>
            <a:endParaRPr lang="en-US" sz="900" dirty="0"/>
          </a:p>
        </p:txBody>
      </p:sp>
      <p:sp>
        <p:nvSpPr>
          <p:cNvPr id="62" name="tile29"/>
          <p:cNvSpPr txBox="1"/>
          <p:nvPr/>
        </p:nvSpPr>
        <p:spPr>
          <a:xfrm>
            <a:off x="8930488"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3" name="Text 61"/>
          <p:cNvSpPr txBox="1"/>
          <p:nvPr/>
        </p:nvSpPr>
        <p:spPr>
          <a:xfrm>
            <a:off x="8930488"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29</a:t>
            </a:r>
            <a:endParaRPr lang="en-US" sz="900" dirty="0"/>
          </a:p>
        </p:txBody>
      </p:sp>
      <p:sp>
        <p:nvSpPr>
          <p:cNvPr id="64" name="tile30"/>
          <p:cNvSpPr txBox="1"/>
          <p:nvPr/>
        </p:nvSpPr>
        <p:spPr>
          <a:xfrm>
            <a:off x="921395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5" name="Text 63"/>
          <p:cNvSpPr txBox="1"/>
          <p:nvPr/>
        </p:nvSpPr>
        <p:spPr>
          <a:xfrm>
            <a:off x="921395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30</a:t>
            </a:r>
            <a:endParaRPr lang="en-US" sz="900" dirty="0"/>
          </a:p>
        </p:txBody>
      </p:sp>
      <p:sp>
        <p:nvSpPr>
          <p:cNvPr id="66" name="tile31"/>
          <p:cNvSpPr txBox="1"/>
          <p:nvPr/>
        </p:nvSpPr>
        <p:spPr>
          <a:xfrm>
            <a:off x="9497416"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67" name="Text 65"/>
          <p:cNvSpPr txBox="1"/>
          <p:nvPr/>
        </p:nvSpPr>
        <p:spPr>
          <a:xfrm>
            <a:off x="9497416"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31</a:t>
            </a:r>
            <a:endParaRPr lang="en-US" sz="900" dirty="0"/>
          </a:p>
        </p:txBody>
      </p:sp>
      <p:sp>
        <p:nvSpPr>
          <p:cNvPr id="68" name="tile32"/>
          <p:cNvSpPr txBox="1"/>
          <p:nvPr/>
        </p:nvSpPr>
        <p:spPr>
          <a:xfrm>
            <a:off x="9780880"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69" name="Text 67"/>
          <p:cNvSpPr txBox="1"/>
          <p:nvPr/>
        </p:nvSpPr>
        <p:spPr>
          <a:xfrm>
            <a:off x="9780880"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32</a:t>
            </a:r>
            <a:endParaRPr lang="en-US" sz="900" dirty="0"/>
          </a:p>
        </p:txBody>
      </p:sp>
      <p:sp>
        <p:nvSpPr>
          <p:cNvPr id="70" name="tile33"/>
          <p:cNvSpPr txBox="1"/>
          <p:nvPr/>
        </p:nvSpPr>
        <p:spPr>
          <a:xfrm>
            <a:off x="10064344"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m</a:t>
            </a:r>
            <a:endParaRPr lang="en-US" sz="1400" dirty="0"/>
          </a:p>
        </p:txBody>
      </p:sp>
      <p:sp>
        <p:nvSpPr>
          <p:cNvPr id="71" name="Text 69"/>
          <p:cNvSpPr txBox="1"/>
          <p:nvPr/>
        </p:nvSpPr>
        <p:spPr>
          <a:xfrm>
            <a:off x="10064344"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33</a:t>
            </a:r>
            <a:endParaRPr lang="en-US" sz="900" dirty="0"/>
          </a:p>
        </p:txBody>
      </p:sp>
      <p:sp>
        <p:nvSpPr>
          <p:cNvPr id="72" name="tile34"/>
          <p:cNvSpPr txBox="1"/>
          <p:nvPr/>
        </p:nvSpPr>
        <p:spPr>
          <a:xfrm>
            <a:off x="10347808" y="1645920"/>
            <a:ext cx="246888" cy="320040"/>
          </a:xfrm>
          <a:prstGeom prst="roundRect">
            <a:avLst>
              <a:gd name="adj" fmla="val 18519"/>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d</a:t>
            </a:r>
            <a:endParaRPr lang="en-US" sz="1400" dirty="0"/>
          </a:p>
        </p:txBody>
      </p:sp>
      <p:sp>
        <p:nvSpPr>
          <p:cNvPr id="73" name="Text 71"/>
          <p:cNvSpPr txBox="1"/>
          <p:nvPr/>
        </p:nvSpPr>
        <p:spPr>
          <a:xfrm>
            <a:off x="10347808" y="2020824"/>
            <a:ext cx="246888" cy="201168"/>
          </a:xfrm>
          <a:prstGeom prst="rect">
            <a:avLst/>
          </a:prstGeom>
          <a:noFill/>
          <a:ln/>
        </p:spPr>
        <p:txBody>
          <a:bodyPr wrap="square" lIns="0" tIns="0" rIns="0" bIns="0" rtlCol="0" anchor="ctr"/>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34</a:t>
            </a:r>
            <a:endParaRPr lang="en-US" sz="900" dirty="0"/>
          </a:p>
        </p:txBody>
      </p:sp>
      <p:sp>
        <p:nvSpPr>
          <p:cNvPr id="74" name="tile35"/>
          <p:cNvSpPr txBox="1"/>
          <p:nvPr/>
        </p:nvSpPr>
        <p:spPr>
          <a:xfrm>
            <a:off x="10631272"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75" name="Text 73"/>
          <p:cNvSpPr txBox="1"/>
          <p:nvPr/>
        </p:nvSpPr>
        <p:spPr>
          <a:xfrm>
            <a:off x="10631272"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35</a:t>
            </a:r>
            <a:endParaRPr lang="en-US" sz="900" dirty="0"/>
          </a:p>
        </p:txBody>
      </p:sp>
      <p:sp>
        <p:nvSpPr>
          <p:cNvPr id="76" name="tile36"/>
          <p:cNvSpPr txBox="1"/>
          <p:nvPr/>
        </p:nvSpPr>
        <p:spPr>
          <a:xfrm>
            <a:off x="10914736"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77" name="Text 75"/>
          <p:cNvSpPr txBox="1"/>
          <p:nvPr/>
        </p:nvSpPr>
        <p:spPr>
          <a:xfrm>
            <a:off x="10914736"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36</a:t>
            </a:r>
            <a:endParaRPr lang="en-US" sz="900" dirty="0"/>
          </a:p>
        </p:txBody>
      </p:sp>
      <p:sp>
        <p:nvSpPr>
          <p:cNvPr id="78" name="tile37"/>
          <p:cNvSpPr txBox="1"/>
          <p:nvPr/>
        </p:nvSpPr>
        <p:spPr>
          <a:xfrm>
            <a:off x="11198200" y="1645920"/>
            <a:ext cx="246888" cy="320040"/>
          </a:xfrm>
          <a:prstGeom prst="roundRect">
            <a:avLst>
              <a:gd name="adj" fmla="val 18519"/>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79" name="Text 77"/>
          <p:cNvSpPr txBox="1"/>
          <p:nvPr/>
        </p:nvSpPr>
        <p:spPr>
          <a:xfrm>
            <a:off x="11198200" y="2020824"/>
            <a:ext cx="246888" cy="20116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37</a:t>
            </a:r>
            <a:endParaRPr lang="en-US" sz="900" dirty="0"/>
          </a:p>
        </p:txBody>
      </p:sp>
      <p:sp>
        <p:nvSpPr>
          <p:cNvPr id="80" name="Text 78"/>
          <p:cNvSpPr txBox="1"/>
          <p:nvPr/>
        </p:nvSpPr>
        <p:spPr>
          <a:xfrm>
            <a:off x="548640" y="2423160"/>
            <a:ext cx="4572000" cy="274320"/>
          </a:xfrm>
          <a:prstGeom prst="rect">
            <a:avLst/>
          </a:prstGeom>
          <a:noFill/>
          <a:ln/>
        </p:spPr>
        <p:txBody>
          <a:bodyPr wrap="square" lIns="0" tIns="0" rIns="0" bIns="0" rtlCol="0" anchor="ctr"/>
          <a:lstStyle/>
          <a:p>
            <a:pPr indent="0" marL="0">
              <a:buNone/>
            </a:pPr>
            <a:r>
              <a:rPr lang="en-US" sz="1100" b="1" spc="200" kern="0" dirty="0">
                <a:solidFill>
                  <a:schemeClr val="tx2"/>
                </a:solidFill>
              </a:rPr>
              <a:t>IS STRUCTURAL?  (PASS 1)</a:t>
            </a:r>
            <a:endParaRPr lang="en-US" sz="1100" dirty="0"/>
          </a:p>
        </p:txBody>
      </p:sp>
      <p:sp>
        <p:nvSpPr>
          <p:cNvPr id="81" name="Text 79"/>
          <p:cNvSpPr txBox="1"/>
          <p:nvPr/>
        </p:nvSpPr>
        <p:spPr>
          <a:xfrm>
            <a:off x="71003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82" name="Text 80"/>
          <p:cNvSpPr txBox="1"/>
          <p:nvPr/>
        </p:nvSpPr>
        <p:spPr>
          <a:xfrm>
            <a:off x="993496"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83" name="Text 81"/>
          <p:cNvSpPr txBox="1"/>
          <p:nvPr/>
        </p:nvSpPr>
        <p:spPr>
          <a:xfrm>
            <a:off x="1276960"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84" name="Text 82"/>
          <p:cNvSpPr txBox="1"/>
          <p:nvPr/>
        </p:nvSpPr>
        <p:spPr>
          <a:xfrm>
            <a:off x="1560424"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85" name="Text 83"/>
          <p:cNvSpPr txBox="1"/>
          <p:nvPr/>
        </p:nvSpPr>
        <p:spPr>
          <a:xfrm>
            <a:off x="1843888"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86" name="Text 84"/>
          <p:cNvSpPr txBox="1"/>
          <p:nvPr/>
        </p:nvSpPr>
        <p:spPr>
          <a:xfrm>
            <a:off x="212735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87" name="Text 85"/>
          <p:cNvSpPr txBox="1"/>
          <p:nvPr/>
        </p:nvSpPr>
        <p:spPr>
          <a:xfrm>
            <a:off x="2410816"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88" name="Text 86"/>
          <p:cNvSpPr txBox="1"/>
          <p:nvPr/>
        </p:nvSpPr>
        <p:spPr>
          <a:xfrm>
            <a:off x="2694280"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89" name="Text 87"/>
          <p:cNvSpPr txBox="1"/>
          <p:nvPr/>
        </p:nvSpPr>
        <p:spPr>
          <a:xfrm>
            <a:off x="2977744"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0" name="Text 88"/>
          <p:cNvSpPr txBox="1"/>
          <p:nvPr/>
        </p:nvSpPr>
        <p:spPr>
          <a:xfrm>
            <a:off x="3261208"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1" name="Text 89"/>
          <p:cNvSpPr txBox="1"/>
          <p:nvPr/>
        </p:nvSpPr>
        <p:spPr>
          <a:xfrm>
            <a:off x="3544672"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2" name="Text 90"/>
          <p:cNvSpPr txBox="1"/>
          <p:nvPr/>
        </p:nvSpPr>
        <p:spPr>
          <a:xfrm>
            <a:off x="3828136"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3" name="Text 91"/>
          <p:cNvSpPr txBox="1"/>
          <p:nvPr/>
        </p:nvSpPr>
        <p:spPr>
          <a:xfrm>
            <a:off x="4111600"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4" name="Text 92"/>
          <p:cNvSpPr txBox="1"/>
          <p:nvPr/>
        </p:nvSpPr>
        <p:spPr>
          <a:xfrm>
            <a:off x="4395064"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95" name="Text 93"/>
          <p:cNvSpPr txBox="1"/>
          <p:nvPr/>
        </p:nvSpPr>
        <p:spPr>
          <a:xfrm>
            <a:off x="4678528"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96" name="Text 94"/>
          <p:cNvSpPr txBox="1"/>
          <p:nvPr/>
        </p:nvSpPr>
        <p:spPr>
          <a:xfrm>
            <a:off x="496199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97" name="Text 95"/>
          <p:cNvSpPr txBox="1"/>
          <p:nvPr/>
        </p:nvSpPr>
        <p:spPr>
          <a:xfrm>
            <a:off x="5245456"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8" name="Text 96"/>
          <p:cNvSpPr txBox="1"/>
          <p:nvPr/>
        </p:nvSpPr>
        <p:spPr>
          <a:xfrm>
            <a:off x="5528920"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99" name="Text 97"/>
          <p:cNvSpPr txBox="1"/>
          <p:nvPr/>
        </p:nvSpPr>
        <p:spPr>
          <a:xfrm>
            <a:off x="5812384"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0" name="Text 98"/>
          <p:cNvSpPr txBox="1"/>
          <p:nvPr/>
        </p:nvSpPr>
        <p:spPr>
          <a:xfrm>
            <a:off x="6095848"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1" name="Text 99"/>
          <p:cNvSpPr txBox="1"/>
          <p:nvPr/>
        </p:nvSpPr>
        <p:spPr>
          <a:xfrm>
            <a:off x="637931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02" name="Text 100"/>
          <p:cNvSpPr txBox="1"/>
          <p:nvPr/>
        </p:nvSpPr>
        <p:spPr>
          <a:xfrm>
            <a:off x="6662776"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03" name="Text 101"/>
          <p:cNvSpPr txBox="1"/>
          <p:nvPr/>
        </p:nvSpPr>
        <p:spPr>
          <a:xfrm>
            <a:off x="6946240"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04" name="Text 102"/>
          <p:cNvSpPr txBox="1"/>
          <p:nvPr/>
        </p:nvSpPr>
        <p:spPr>
          <a:xfrm>
            <a:off x="7229704"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05" name="Text 103"/>
          <p:cNvSpPr txBox="1"/>
          <p:nvPr/>
        </p:nvSpPr>
        <p:spPr>
          <a:xfrm>
            <a:off x="7513168"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6" name="Text 104"/>
          <p:cNvSpPr txBox="1"/>
          <p:nvPr/>
        </p:nvSpPr>
        <p:spPr>
          <a:xfrm>
            <a:off x="7796632"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7" name="Text 105"/>
          <p:cNvSpPr txBox="1"/>
          <p:nvPr/>
        </p:nvSpPr>
        <p:spPr>
          <a:xfrm>
            <a:off x="8080096"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8" name="Text 106"/>
          <p:cNvSpPr txBox="1"/>
          <p:nvPr/>
        </p:nvSpPr>
        <p:spPr>
          <a:xfrm>
            <a:off x="8363560"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09" name="Text 107"/>
          <p:cNvSpPr txBox="1"/>
          <p:nvPr/>
        </p:nvSpPr>
        <p:spPr>
          <a:xfrm>
            <a:off x="8647024"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0" name="Text 108"/>
          <p:cNvSpPr txBox="1"/>
          <p:nvPr/>
        </p:nvSpPr>
        <p:spPr>
          <a:xfrm>
            <a:off x="8930488"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1" name="Text 109"/>
          <p:cNvSpPr txBox="1"/>
          <p:nvPr/>
        </p:nvSpPr>
        <p:spPr>
          <a:xfrm>
            <a:off x="921395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2" name="Text 110"/>
          <p:cNvSpPr txBox="1"/>
          <p:nvPr/>
        </p:nvSpPr>
        <p:spPr>
          <a:xfrm>
            <a:off x="9497416"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13" name="Text 111"/>
          <p:cNvSpPr txBox="1"/>
          <p:nvPr/>
        </p:nvSpPr>
        <p:spPr>
          <a:xfrm>
            <a:off x="9780880"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14" name="Text 112"/>
          <p:cNvSpPr txBox="1"/>
          <p:nvPr/>
        </p:nvSpPr>
        <p:spPr>
          <a:xfrm>
            <a:off x="10064344"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15" name="Text 113"/>
          <p:cNvSpPr txBox="1"/>
          <p:nvPr/>
        </p:nvSpPr>
        <p:spPr>
          <a:xfrm>
            <a:off x="10347808" y="2743200"/>
            <a:ext cx="246888" cy="320040"/>
          </a:xfrm>
          <a:prstGeom prst="rect">
            <a:avLst/>
          </a:prstGeom>
          <a:noFill/>
          <a:ln/>
        </p:spPr>
        <p:txBody>
          <a:bodyPr wrap="square" lIns="0" tIns="0" rIns="0" bIns="0" rtlCol="0" anchor="ctr"/>
          <a:lstStyle/>
          <a:p>
            <a:pPr algn="ctr" indent="0" marL="0">
              <a:buNone/>
            </a:pPr>
            <a:r>
              <a:rPr lang="en-US" sz="1400" dirty="0">
                <a:solidFill>
                  <a:schemeClr val="accent6"/>
                </a:solidFill>
                <a:latin typeface="Courier New" pitchFamily="34" charset="0"/>
                <a:ea typeface="Courier New" pitchFamily="34" charset="-122"/>
                <a:cs typeface="Courier New" pitchFamily="34" charset="-120"/>
              </a:rPr>
              <a:t>0</a:t>
            </a:r>
            <a:endParaRPr lang="en-US" sz="1400" dirty="0"/>
          </a:p>
        </p:txBody>
      </p:sp>
      <p:sp>
        <p:nvSpPr>
          <p:cNvPr id="116" name="Text 114"/>
          <p:cNvSpPr txBox="1"/>
          <p:nvPr/>
        </p:nvSpPr>
        <p:spPr>
          <a:xfrm>
            <a:off x="10631272"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7" name="Text 115"/>
          <p:cNvSpPr txBox="1"/>
          <p:nvPr/>
        </p:nvSpPr>
        <p:spPr>
          <a:xfrm>
            <a:off x="10914736"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8" name="Text 116"/>
          <p:cNvSpPr txBox="1"/>
          <p:nvPr/>
        </p:nvSpPr>
        <p:spPr>
          <a:xfrm>
            <a:off x="11198200" y="2743200"/>
            <a:ext cx="246888" cy="320040"/>
          </a:xfrm>
          <a:prstGeom prst="rect">
            <a:avLst/>
          </a:prstGeom>
          <a:noFill/>
          <a:ln/>
        </p:spPr>
        <p:txBody>
          <a:bodyPr wrap="square" lIns="0" tIns="0" rIns="0" bIns="0" rtlCol="0" anchor="ctr"/>
          <a:lstStyle/>
          <a:p>
            <a:pPr algn="ctr" indent="0" marL="0">
              <a:buNone/>
            </a:pPr>
            <a:r>
              <a:rPr lang="en-US" sz="1400" b="1" dirty="0">
                <a:solidFill>
                  <a:schemeClr val="tx1"/>
                </a:solidFill>
                <a:latin typeface="Courier New" pitchFamily="34" charset="0"/>
                <a:ea typeface="Courier New" pitchFamily="34" charset="-122"/>
                <a:cs typeface="Courier New" pitchFamily="34" charset="-120"/>
              </a:rPr>
              <a:t>1</a:t>
            </a:r>
            <a:endParaRPr lang="en-US" sz="1400" dirty="0"/>
          </a:p>
        </p:txBody>
      </p:sp>
      <p:sp>
        <p:nvSpPr>
          <p:cNvPr id="119" name="idx_bg"/>
          <p:cNvSpPr/>
          <p:nvPr/>
        </p:nvSpPr>
        <p:spPr>
          <a:xfrm>
            <a:off x="548640" y="3291840"/>
            <a:ext cx="11091672" cy="594360"/>
          </a:xfrm>
          <a:prstGeom prst="roundRect">
            <a:avLst>
              <a:gd name="adj" fmla="val 18462"/>
            </a:avLst>
          </a:prstGeom>
          <a:solidFill>
            <a:schemeClr val="bg2"/>
          </a:solidFill>
          <a:ln w="12700">
            <a:solidFill>
              <a:schemeClr val="bg2"/>
            </a:solidFill>
            <a:prstDash val="solid"/>
          </a:ln>
        </p:spPr>
      </p:sp>
      <p:sp>
        <p:nvSpPr>
          <p:cNvPr id="120" name="Text 118"/>
          <p:cNvSpPr txBox="1"/>
          <p:nvPr/>
        </p:nvSpPr>
        <p:spPr>
          <a:xfrm>
            <a:off x="822960" y="3291840"/>
            <a:ext cx="10607040" cy="594360"/>
          </a:xfrm>
          <a:prstGeom prst="rect">
            <a:avLst/>
          </a:prstGeom>
          <a:noFill/>
          <a:ln/>
        </p:spPr>
        <p:txBody>
          <a:bodyPr wrap="square" lIns="0" tIns="0" rIns="0" bIns="0" rtlCol="0" anchor="ctr"/>
          <a:lstStyle/>
          <a:p>
            <a:pPr indent="0" marL="0">
              <a:buNone/>
            </a:pPr>
            <a:r>
              <a:rPr lang="en-US" sz="1600" dirty="0">
                <a:solidFill>
                  <a:schemeClr val="tx1"/>
                </a:solidFill>
                <a:latin typeface="Courier New" pitchFamily="34" charset="0"/>
                <a:ea typeface="Courier New" pitchFamily="34" charset="-122"/>
                <a:cs typeface="Courier New" pitchFamily="34" charset="-120"/>
              </a:rPr>
              <a:t>indexer = </a:t>
            </a:r>
            <a:pPr indent="0" marL="0">
              <a:buNone/>
            </a:pPr>
            <a:r>
              <a:rPr lang="en-US" sz="1600" b="1" dirty="0">
                <a:solidFill>
                  <a:schemeClr val="tx1"/>
                </a:solidFill>
                <a:latin typeface="Courier New" pitchFamily="34" charset="0"/>
                <a:ea typeface="Courier New" pitchFamily="34" charset="-122"/>
                <a:cs typeface="Courier New" pitchFamily="34" charset="-120"/>
              </a:rPr>
              <a:t>[0, 1, 5, 6, 7, 13, 14, 15, 20, 21, 22, 23, 28, 29, 30, 35, 36, 37]</a:t>
            </a:r>
            <a:endParaRPr lang="en-US" sz="1600" dirty="0"/>
          </a:p>
        </p:txBody>
      </p:sp>
      <p:sp>
        <p:nvSpPr>
          <p:cNvPr id="121" name="Text 119"/>
          <p:cNvSpPr txBox="1"/>
          <p:nvPr/>
        </p:nvSpPr>
        <p:spPr>
          <a:xfrm>
            <a:off x="548640" y="4389120"/>
            <a:ext cx="3240024"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No tree, no state</a:t>
            </a:r>
            <a:endParaRPr lang="en-US" sz="1800" dirty="0"/>
          </a:p>
        </p:txBody>
      </p:sp>
      <p:sp>
        <p:nvSpPr>
          <p:cNvPr id="122" name="Text 120"/>
          <p:cNvSpPr txBox="1"/>
          <p:nvPr/>
        </p:nvSpPr>
        <p:spPr>
          <a:xfrm>
            <a:off x="548640" y="4846320"/>
            <a:ext cx="3240024" cy="1143000"/>
          </a:xfrm>
          <a:prstGeom prst="rect">
            <a:avLst/>
          </a:prstGeom>
          <a:noFill/>
          <a:ln/>
        </p:spPr>
        <p:txBody>
          <a:bodyPr wrap="square" lIns="0" tIns="0" rIns="0" bIns="0" rtlCol="0" anchor="t"/>
          <a:lstStyle/>
          <a:p>
            <a:pPr indent="0" marL="0">
              <a:buNone/>
            </a:pPr>
            <a:r>
              <a:rPr lang="en-US" sz="1500" dirty="0">
                <a:solidFill>
                  <a:schemeClr val="tx2"/>
                </a:solidFill>
              </a:rPr>
              <a:t>Just integers in order. Pass 2 walks it like a to-do list.</a:t>
            </a:r>
            <a:endParaRPr lang="en-US" sz="1500" dirty="0"/>
          </a:p>
        </p:txBody>
      </p:sp>
      <p:sp>
        <p:nvSpPr>
          <p:cNvPr id="123" name="Text 121"/>
          <p:cNvSpPr txBox="1"/>
          <p:nvPr/>
        </p:nvSpPr>
        <p:spPr>
          <a:xfrm>
            <a:off x="4337304" y="4389120"/>
            <a:ext cx="3240024"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Pass 1 is a batch job</a:t>
            </a:r>
            <a:endParaRPr lang="en-US" sz="1800" dirty="0"/>
          </a:p>
        </p:txBody>
      </p:sp>
      <p:sp>
        <p:nvSpPr>
          <p:cNvPr id="124" name="Text 122"/>
          <p:cNvSpPr txBox="1"/>
          <p:nvPr/>
        </p:nvSpPr>
        <p:spPr>
          <a:xfrm>
            <a:off x="4337304" y="4846320"/>
            <a:ext cx="3240024" cy="1143000"/>
          </a:xfrm>
          <a:prstGeom prst="rect">
            <a:avLst/>
          </a:prstGeom>
          <a:noFill/>
          <a:ln/>
        </p:spPr>
        <p:txBody>
          <a:bodyPr wrap="square" lIns="0" tIns="0" rIns="0" bIns="0" rtlCol="0" anchor="t"/>
          <a:lstStyle/>
          <a:p>
            <a:pPr indent="0" marL="0">
              <a:buNone/>
            </a:pPr>
            <a:r>
              <a:rPr lang="en-US" sz="1500" dirty="0">
                <a:solidFill>
                  <a:schemeClr val="tx2"/>
                </a:solidFill>
              </a:rPr>
              <a:t>The same short test on every byte, with no state carried from one byte to the next. Iterations overlap, and SIMD can take 64 bytes at once.</a:t>
            </a:r>
            <a:endParaRPr lang="en-US" sz="1500" dirty="0"/>
          </a:p>
        </p:txBody>
      </p:sp>
      <p:sp>
        <p:nvSpPr>
          <p:cNvPr id="125" name="Text 123"/>
          <p:cNvSpPr txBox="1"/>
          <p:nvPr/>
        </p:nvSpPr>
        <p:spPr>
          <a:xfrm>
            <a:off x="8125968" y="4389120"/>
            <a:ext cx="3240024"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Pass 2 skips the noise</a:t>
            </a:r>
            <a:endParaRPr lang="en-US" sz="1800" dirty="0"/>
          </a:p>
        </p:txBody>
      </p:sp>
      <p:sp>
        <p:nvSpPr>
          <p:cNvPr id="126" name="Text 124"/>
          <p:cNvSpPr txBox="1"/>
          <p:nvPr/>
        </p:nvSpPr>
        <p:spPr>
          <a:xfrm>
            <a:off x="8125968" y="4846320"/>
            <a:ext cx="3240024" cy="1143000"/>
          </a:xfrm>
          <a:prstGeom prst="rect">
            <a:avLst/>
          </a:prstGeom>
          <a:noFill/>
          <a:ln/>
        </p:spPr>
        <p:txBody>
          <a:bodyPr wrap="square" lIns="0" tIns="0" rIns="0" bIns="0" rtlCol="0" anchor="t"/>
          <a:lstStyle/>
          <a:p>
            <a:pPr indent="0" marL="0">
              <a:buNone/>
            </a:pPr>
            <a:r>
              <a:rPr lang="en-US" sz="1500" dirty="0">
                <a:solidFill>
                  <a:schemeClr val="tx2"/>
                </a:solidFill>
              </a:rPr>
              <a:t>Here it touches 18 of 38 bytes. In real documents, long strings and numbers make the gap much larger.</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Bonus: pass 1, 64 bytes at a time</a:t>
            </a:r>
            <a:endParaRPr lang="en-US" sz="3200" dirty="0"/>
          </a:p>
        </p:txBody>
      </p:sp>
      <p:sp>
        <p:nvSpPr>
          <p:cNvPr id="3" name="code_bg"/>
          <p:cNvSpPr/>
          <p:nvPr/>
        </p:nvSpPr>
        <p:spPr>
          <a:xfrm>
            <a:off x="548640" y="1325880"/>
            <a:ext cx="7360920" cy="4480560"/>
          </a:xfrm>
          <a:prstGeom prst="roundRect">
            <a:avLst>
              <a:gd name="adj" fmla="val 2449"/>
            </a:avLst>
          </a:prstGeom>
          <a:solidFill>
            <a:schemeClr val="bg2"/>
          </a:solidFill>
          <a:ln w="12700">
            <a:solidFill>
              <a:schemeClr val="bg2"/>
            </a:solidFill>
            <a:prstDash val="solid"/>
          </a:ln>
        </p:spPr>
      </p:sp>
      <p:sp>
        <p:nvSpPr>
          <p:cNvPr id="4" name="code_hl6"/>
          <p:cNvSpPr/>
          <p:nvPr/>
        </p:nvSpPr>
        <p:spPr>
          <a:xfrm>
            <a:off x="603504" y="3154680"/>
            <a:ext cx="7251192" cy="274320"/>
          </a:xfrm>
          <a:prstGeom prst="rect">
            <a:avLst/>
          </a:prstGeom>
          <a:solidFill>
            <a:schemeClr val="accent5"/>
          </a:solidFill>
          <a:ln w="12700">
            <a:solidFill>
              <a:schemeClr val="accent5"/>
            </a:solidFill>
            <a:prstDash val="solid"/>
          </a:ln>
        </p:spPr>
      </p:sp>
      <p:sp>
        <p:nvSpPr>
          <p:cNvPr id="5" name="Text 3"/>
          <p:cNvSpPr txBox="1"/>
          <p:nvPr/>
        </p:nvSpPr>
        <p:spPr>
          <a:xfrm>
            <a:off x="603504" y="315468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hl7"/>
          <p:cNvSpPr/>
          <p:nvPr/>
        </p:nvSpPr>
        <p:spPr>
          <a:xfrm>
            <a:off x="603504" y="3429000"/>
            <a:ext cx="7251192" cy="274320"/>
          </a:xfrm>
          <a:prstGeom prst="rect">
            <a:avLst/>
          </a:prstGeom>
          <a:solidFill>
            <a:schemeClr val="accent5"/>
          </a:solidFill>
          <a:ln w="12700">
            <a:solidFill>
              <a:schemeClr val="accent5"/>
            </a:solidFill>
            <a:prstDash val="solid"/>
          </a:ln>
        </p:spPr>
      </p:sp>
      <p:sp>
        <p:nvSpPr>
          <p:cNvPr id="7" name="Text 5"/>
          <p:cNvSpPr txBox="1"/>
          <p:nvPr/>
        </p:nvSpPr>
        <p:spPr>
          <a:xfrm>
            <a:off x="603504" y="342900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hl8"/>
          <p:cNvSpPr/>
          <p:nvPr/>
        </p:nvSpPr>
        <p:spPr>
          <a:xfrm>
            <a:off x="603504" y="3703320"/>
            <a:ext cx="7251192" cy="274320"/>
          </a:xfrm>
          <a:prstGeom prst="rect">
            <a:avLst/>
          </a:prstGeom>
          <a:solidFill>
            <a:schemeClr val="accent5"/>
          </a:solidFill>
          <a:ln w="12700">
            <a:solidFill>
              <a:schemeClr val="accent5"/>
            </a:solidFill>
            <a:prstDash val="solid"/>
          </a:ln>
        </p:spPr>
      </p:sp>
      <p:sp>
        <p:nvSpPr>
          <p:cNvPr id="9" name="Text 7"/>
          <p:cNvSpPr txBox="1"/>
          <p:nvPr/>
        </p:nvSpPr>
        <p:spPr>
          <a:xfrm>
            <a:off x="603504" y="37033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hl9"/>
          <p:cNvSpPr/>
          <p:nvPr/>
        </p:nvSpPr>
        <p:spPr>
          <a:xfrm>
            <a:off x="603504" y="3977640"/>
            <a:ext cx="7251192" cy="274320"/>
          </a:xfrm>
          <a:prstGeom prst="rect">
            <a:avLst/>
          </a:prstGeom>
          <a:solidFill>
            <a:schemeClr val="accent5"/>
          </a:solidFill>
          <a:ln w="12700">
            <a:solidFill>
              <a:schemeClr val="accent5"/>
            </a:solidFill>
            <a:prstDash val="solid"/>
          </a:ln>
        </p:spPr>
      </p:sp>
      <p:sp>
        <p:nvSpPr>
          <p:cNvPr id="11" name="Text 9"/>
          <p:cNvSpPr txBox="1"/>
          <p:nvPr/>
        </p:nvSpPr>
        <p:spPr>
          <a:xfrm>
            <a:off x="603504" y="39776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2" name="code_hl11"/>
          <p:cNvSpPr/>
          <p:nvPr/>
        </p:nvSpPr>
        <p:spPr>
          <a:xfrm>
            <a:off x="603504" y="4526280"/>
            <a:ext cx="7251192" cy="274320"/>
          </a:xfrm>
          <a:prstGeom prst="rect">
            <a:avLst/>
          </a:prstGeom>
          <a:solidFill>
            <a:schemeClr val="accent5"/>
          </a:solidFill>
          <a:ln w="12700">
            <a:solidFill>
              <a:schemeClr val="accent5"/>
            </a:solidFill>
            <a:prstDash val="solid"/>
          </a:ln>
        </p:spPr>
      </p:sp>
      <p:sp>
        <p:nvSpPr>
          <p:cNvPr id="13" name="Text 11"/>
          <p:cNvSpPr txBox="1"/>
          <p:nvPr/>
        </p:nvSpPr>
        <p:spPr>
          <a:xfrm>
            <a:off x="603504" y="452628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hl12"/>
          <p:cNvSpPr/>
          <p:nvPr/>
        </p:nvSpPr>
        <p:spPr>
          <a:xfrm>
            <a:off x="603504" y="4800600"/>
            <a:ext cx="7251192" cy="274320"/>
          </a:xfrm>
          <a:prstGeom prst="rect">
            <a:avLst/>
          </a:prstGeom>
          <a:solidFill>
            <a:schemeClr val="accent5"/>
          </a:solidFill>
          <a:ln w="12700">
            <a:solidFill>
              <a:schemeClr val="accent5"/>
            </a:solidFill>
            <a:prstDash val="solid"/>
          </a:ln>
        </p:spPr>
      </p:sp>
      <p:sp>
        <p:nvSpPr>
          <p:cNvPr id="15" name="Text 13"/>
          <p:cNvSpPr txBox="1"/>
          <p:nvPr/>
        </p:nvSpPr>
        <p:spPr>
          <a:xfrm>
            <a:off x="603504" y="480060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6" name="code_hl13"/>
          <p:cNvSpPr/>
          <p:nvPr/>
        </p:nvSpPr>
        <p:spPr>
          <a:xfrm>
            <a:off x="603504" y="5074920"/>
            <a:ext cx="7251192" cy="274320"/>
          </a:xfrm>
          <a:prstGeom prst="rect">
            <a:avLst/>
          </a:prstGeom>
          <a:solidFill>
            <a:schemeClr val="accent5"/>
          </a:solidFill>
          <a:ln w="12700">
            <a:solidFill>
              <a:schemeClr val="accent5"/>
            </a:solidFill>
            <a:prstDash val="solid"/>
          </a:ln>
        </p:spPr>
      </p:sp>
      <p:sp>
        <p:nvSpPr>
          <p:cNvPr id="17" name="Text 15"/>
          <p:cNvSpPr txBox="1"/>
          <p:nvPr/>
        </p:nvSpPr>
        <p:spPr>
          <a:xfrm>
            <a:off x="603504" y="50749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8" name="code_hl14"/>
          <p:cNvSpPr/>
          <p:nvPr/>
        </p:nvSpPr>
        <p:spPr>
          <a:xfrm>
            <a:off x="603504" y="5349240"/>
            <a:ext cx="7251192" cy="274320"/>
          </a:xfrm>
          <a:prstGeom prst="rect">
            <a:avLst/>
          </a:prstGeom>
          <a:solidFill>
            <a:schemeClr val="accent5"/>
          </a:solidFill>
          <a:ln w="12700">
            <a:solidFill>
              <a:schemeClr val="accent5"/>
            </a:solidFill>
            <a:prstDash val="solid"/>
          </a:ln>
        </p:spPr>
      </p:sp>
      <p:sp>
        <p:nvSpPr>
          <p:cNvPr id="19" name="Text 17"/>
          <p:cNvSpPr txBox="1"/>
          <p:nvPr/>
        </p:nvSpPr>
        <p:spPr>
          <a:xfrm>
            <a:off x="603504" y="53492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0" name="code_l0"/>
          <p:cNvSpPr txBox="1"/>
          <p:nvPr/>
        </p:nvSpPr>
        <p:spPr>
          <a:xfrm>
            <a:off x="777240" y="1508760"/>
            <a:ext cx="6903720" cy="274320"/>
          </a:xfrm>
          <a:prstGeom prst="rect">
            <a:avLst/>
          </a:prstGeom>
          <a:noFill/>
          <a:ln/>
        </p:spPr>
        <p:txBody>
          <a:bodyPr wrap="non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def</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ctz</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m</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return</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m</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&amp;</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m</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bit_length</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dirty="0">
                <a:solidFill>
                  <a:schemeClr val="accent6"/>
                </a:solidFill>
                <a:latin typeface="Courier New" pitchFamily="34" charset="0"/>
                <a:ea typeface="Courier New" pitchFamily="34" charset="-122"/>
                <a:cs typeface="Courier New" pitchFamily="34" charset="-120"/>
              </a:rPr>
              <a:t>1</a:t>
            </a:r>
            <a:pPr indent="0" marL="0">
              <a:buNone/>
            </a:pPr>
            <a:r>
              <a:rPr lang="en-US" sz="1300" dirty="0">
                <a:solidFill>
                  <a:schemeClr val="accent6"/>
                </a:solidFill>
                <a:latin typeface="Courier New" pitchFamily="34" charset="0"/>
                <a:ea typeface="Courier New" pitchFamily="34" charset="-122"/>
                <a:cs typeface="Courier New" pitchFamily="34" charset="-120"/>
              </a:rPr>
              <a:t>   </a:t>
            </a:r>
            <a:pPr indent="0" marL="0">
              <a:buNone/>
            </a:pPr>
            <a:r>
              <a:rPr lang="en-US" sz="1300" i="1" dirty="0">
                <a:solidFill>
                  <a:schemeClr val="accent6"/>
                </a:solidFill>
                <a:latin typeface="Courier New" pitchFamily="34" charset="0"/>
                <a:ea typeface="Courier New" pitchFamily="34" charset="-122"/>
                <a:cs typeface="Courier New" pitchFamily="34" charset="-120"/>
              </a:rPr>
              <a:t># trailing zeros</a:t>
            </a:r>
            <a:endParaRPr lang="en-US" sz="1300" dirty="0"/>
          </a:p>
        </p:txBody>
      </p:sp>
      <p:sp>
        <p:nvSpPr>
          <p:cNvPr id="21" name="code_l2"/>
          <p:cNvSpPr txBox="1"/>
          <p:nvPr/>
        </p:nvSpPr>
        <p:spPr>
          <a:xfrm>
            <a:off x="777240" y="205740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indexer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2" name="code_l3"/>
          <p:cNvSpPr txBox="1"/>
          <p:nvPr/>
        </p:nvSpPr>
        <p:spPr>
          <a:xfrm>
            <a:off x="777240" y="2331720"/>
            <a:ext cx="6903720" cy="274320"/>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base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range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len</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64</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3" name="code_l4"/>
          <p:cNvSpPr txBox="1"/>
          <p:nvPr/>
        </p:nvSpPr>
        <p:spPr>
          <a:xfrm>
            <a:off x="777240" y="260604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block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json_source_code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base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64</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4" name="code_l6"/>
          <p:cNvSpPr txBox="1"/>
          <p:nvPr/>
        </p:nvSpPr>
        <p:spPr>
          <a:xfrm>
            <a:off x="777240" y="315468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1. Classify: one bit per byte, a 64-bit register</a:t>
            </a:r>
            <a:endParaRPr lang="en-US" sz="1300" dirty="0"/>
          </a:p>
        </p:txBody>
      </p:sp>
      <p:sp>
        <p:nvSpPr>
          <p:cNvPr id="25" name="code_l7"/>
          <p:cNvSpPr txBox="1"/>
          <p:nvPr/>
        </p:nvSpPr>
        <p:spPr>
          <a:xfrm>
            <a:off x="777240" y="342900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0</a:t>
            </a:r>
            <a:endParaRPr lang="en-US" sz="1300" dirty="0"/>
          </a:p>
        </p:txBody>
      </p:sp>
      <p:sp>
        <p:nvSpPr>
          <p:cNvPr id="26" name="code_l8"/>
          <p:cNvSpPr txBox="1"/>
          <p:nvPr/>
        </p:nvSpPr>
        <p:spPr>
          <a:xfrm>
            <a:off x="777240" y="370332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for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enumerate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block</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SIMD: no loop</a:t>
            </a:r>
            <a:endParaRPr lang="en-US" sz="1300" dirty="0"/>
          </a:p>
        </p:txBody>
      </p:sp>
      <p:sp>
        <p:nvSpPr>
          <p:cNvPr id="27" name="code_l9"/>
          <p:cNvSpPr txBox="1"/>
          <p:nvPr/>
        </p:nvSpPr>
        <p:spPr>
          <a:xfrm>
            <a:off x="777240" y="397764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character</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in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STRUCTURAL</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&lt;</a:t>
            </a:r>
            <a:pPr indent="0" marL="0">
              <a:buNone/>
            </a:pPr>
            <a:r>
              <a:rPr lang="en-US" sz="1300" dirty="0">
                <a:solidFill>
                  <a:schemeClr val="tx1"/>
                </a:solidFill>
                <a:latin typeface="Courier New" pitchFamily="34" charset="0"/>
                <a:ea typeface="Courier New" pitchFamily="34" charset="-122"/>
                <a:cs typeface="Courier New" pitchFamily="34" charset="-120"/>
              </a:rPr>
              <a:t>&lt;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a:t>
            </a:r>
            <a:endParaRPr lang="en-US" sz="1300" dirty="0"/>
          </a:p>
        </p:txBody>
      </p:sp>
      <p:sp>
        <p:nvSpPr>
          <p:cNvPr id="28" name="code_l11"/>
          <p:cNvSpPr txBox="1"/>
          <p:nvPr/>
        </p:nvSpPr>
        <p:spPr>
          <a:xfrm>
            <a:off x="777240" y="452628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2. Extract: one step per structural character</a:t>
            </a:r>
            <a:endParaRPr lang="en-US" sz="1300" dirty="0"/>
          </a:p>
        </p:txBody>
      </p:sp>
      <p:sp>
        <p:nvSpPr>
          <p:cNvPr id="29" name="code_l12"/>
          <p:cNvSpPr txBox="1"/>
          <p:nvPr/>
        </p:nvSpPr>
        <p:spPr>
          <a:xfrm>
            <a:off x="777240" y="480060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while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0</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0" name="code_l13"/>
          <p:cNvSpPr txBox="1"/>
          <p:nvPr/>
        </p:nvSpPr>
        <p:spPr>
          <a:xfrm>
            <a:off x="777240" y="507492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indexer</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2F6BD8"/>
                </a:solidFill>
                <a:latin typeface="Courier New" pitchFamily="34" charset="0"/>
                <a:ea typeface="Courier New" pitchFamily="34" charset="-122"/>
                <a:cs typeface="Courier New" pitchFamily="34" charset="-120"/>
              </a:rPr>
              <a:t>append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base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ctz</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31" name="code_l14"/>
          <p:cNvSpPr txBox="1"/>
          <p:nvPr/>
        </p:nvSpPr>
        <p:spPr>
          <a:xfrm>
            <a:off x="777240" y="5349240"/>
            <a:ext cx="690372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&amp;</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mask</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1</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clear the lowest 1 bit</a:t>
            </a:r>
            <a:endParaRPr lang="en-US" sz="1300" dirty="0"/>
          </a:p>
        </p:txBody>
      </p:sp>
      <p:sp>
        <p:nvSpPr>
          <p:cNvPr id="32" name="Text 30"/>
          <p:cNvSpPr txBox="1"/>
          <p:nvPr/>
        </p:nvSpPr>
        <p:spPr>
          <a:xfrm>
            <a:off x="8183880" y="132588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33" name="Text 31"/>
          <p:cNvSpPr txBox="1"/>
          <p:nvPr/>
        </p:nvSpPr>
        <p:spPr>
          <a:xfrm>
            <a:off x="8823960" y="1307592"/>
            <a:ext cx="2816352"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64 bytes → 64 bits</a:t>
            </a:r>
            <a:endParaRPr lang="en-US" sz="1700" dirty="0"/>
          </a:p>
        </p:txBody>
      </p:sp>
      <p:sp>
        <p:nvSpPr>
          <p:cNvPr id="34" name="Text 32"/>
          <p:cNvSpPr txBox="1"/>
          <p:nvPr/>
        </p:nvSpPr>
        <p:spPr>
          <a:xfrm>
            <a:off x="8823960" y="1783080"/>
            <a:ext cx="2816352" cy="1005840"/>
          </a:xfrm>
          <a:prstGeom prst="rect">
            <a:avLst/>
          </a:prstGeom>
          <a:noFill/>
          <a:ln/>
        </p:spPr>
        <p:txBody>
          <a:bodyPr wrap="square" lIns="0" tIns="0" rIns="0" bIns="0" rtlCol="0" anchor="t"/>
          <a:lstStyle/>
          <a:p>
            <a:pPr indent="0" marL="0">
              <a:buNone/>
            </a:pPr>
            <a:r>
              <a:rPr lang="en-US" sz="1400" dirty="0">
                <a:solidFill>
                  <a:schemeClr val="tx2"/>
                </a:solidFill>
              </a:rPr>
              <a:t>The inner for is really a few SIMD compares (or one RVV mask register). Every byte is independent and there are no branches.</a:t>
            </a:r>
            <a:endParaRPr lang="en-US" sz="1400" dirty="0"/>
          </a:p>
        </p:txBody>
      </p:sp>
      <p:sp>
        <p:nvSpPr>
          <p:cNvPr id="35" name="Text 33"/>
          <p:cNvSpPr txBox="1"/>
          <p:nvPr/>
        </p:nvSpPr>
        <p:spPr>
          <a:xfrm>
            <a:off x="8183880" y="288036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2</a:t>
            </a:r>
            <a:endParaRPr lang="en-US" sz="2000" dirty="0"/>
          </a:p>
        </p:txBody>
      </p:sp>
      <p:sp>
        <p:nvSpPr>
          <p:cNvPr id="36" name="Text 34"/>
          <p:cNvSpPr txBox="1"/>
          <p:nvPr/>
        </p:nvSpPr>
        <p:spPr>
          <a:xfrm>
            <a:off x="8823960" y="2862072"/>
            <a:ext cx="2816352"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Bits → positions</a:t>
            </a:r>
            <a:endParaRPr lang="en-US" sz="1700" dirty="0"/>
          </a:p>
        </p:txBody>
      </p:sp>
      <p:sp>
        <p:nvSpPr>
          <p:cNvPr id="37" name="Text 35"/>
          <p:cNvSpPr txBox="1"/>
          <p:nvPr/>
        </p:nvSpPr>
        <p:spPr>
          <a:xfrm>
            <a:off x="8823960" y="3337560"/>
            <a:ext cx="2816352" cy="1005840"/>
          </a:xfrm>
          <a:prstGeom prst="rect">
            <a:avLst/>
          </a:prstGeom>
          <a:noFill/>
          <a:ln/>
        </p:spPr>
        <p:txBody>
          <a:bodyPr wrap="square" lIns="0" tIns="0" rIns="0" bIns="0" rtlCol="0" anchor="t"/>
          <a:lstStyle/>
          <a:p>
            <a:pPr indent="0" marL="0">
              <a:buNone/>
            </a:pPr>
            <a:r>
              <a:rPr lang="en-US" sz="1400" dirty="0">
                <a:solidFill>
                  <a:schemeClr val="tx2"/>
                </a:solidFill>
              </a:rPr>
              <a:t>ctz finds the next 1 bit, and mask &amp; (mask − 1) clears it. RISC-V has ctz in the Zbb extension.</a:t>
            </a:r>
            <a:endParaRPr lang="en-US" sz="1400" dirty="0"/>
          </a:p>
        </p:txBody>
      </p:sp>
      <p:sp>
        <p:nvSpPr>
          <p:cNvPr id="38" name="Text 36"/>
          <p:cNvSpPr txBox="1"/>
          <p:nvPr/>
        </p:nvSpPr>
        <p:spPr>
          <a:xfrm>
            <a:off x="8183880" y="443484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3</a:t>
            </a:r>
            <a:endParaRPr lang="en-US" sz="2000" dirty="0"/>
          </a:p>
        </p:txBody>
      </p:sp>
      <p:sp>
        <p:nvSpPr>
          <p:cNvPr id="39" name="Text 37"/>
          <p:cNvSpPr txBox="1"/>
          <p:nvPr/>
        </p:nvSpPr>
        <p:spPr>
          <a:xfrm>
            <a:off x="8823960" y="4416552"/>
            <a:ext cx="2816352" cy="45720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simdjson's extra trick</a:t>
            </a:r>
            <a:endParaRPr lang="en-US" sz="1700" dirty="0"/>
          </a:p>
        </p:txBody>
      </p:sp>
      <p:sp>
        <p:nvSpPr>
          <p:cNvPr id="40" name="Text 38"/>
          <p:cNvSpPr txBox="1"/>
          <p:nvPr/>
        </p:nvSpPr>
        <p:spPr>
          <a:xfrm>
            <a:off x="8823960" y="4892040"/>
            <a:ext cx="2816352" cy="1005840"/>
          </a:xfrm>
          <a:prstGeom prst="rect">
            <a:avLst/>
          </a:prstGeom>
          <a:noFill/>
          <a:ln/>
        </p:spPr>
        <p:txBody>
          <a:bodyPr wrap="square" lIns="0" tIns="0" rIns="0" bIns="0" rtlCol="0" anchor="t"/>
          <a:lstStyle/>
          <a:p>
            <a:pPr indent="0" marL="0">
              <a:buNone/>
            </a:pPr>
            <a:r>
              <a:rPr lang="en-US" sz="1400" dirty="0">
                <a:solidFill>
                  <a:schemeClr val="tx2"/>
                </a:solidFill>
              </a:rPr>
              <a:t>The while exit is hard to predict, so simdjson writes 8 positions unconditionally and advances by popcount(mask).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Bonus: classifying bytes with two nibble lookups</a:t>
            </a:r>
            <a:endParaRPr lang="en-US" sz="3200" dirty="0"/>
          </a:p>
        </p:txBody>
      </p:sp>
      <p:sp>
        <p:nvSpPr>
          <p:cNvPr id="3" name="code_bg"/>
          <p:cNvSpPr/>
          <p:nvPr/>
        </p:nvSpPr>
        <p:spPr>
          <a:xfrm>
            <a:off x="548640" y="1325880"/>
            <a:ext cx="6766560" cy="4206240"/>
          </a:xfrm>
          <a:prstGeom prst="roundRect">
            <a:avLst>
              <a:gd name="adj" fmla="val 2609"/>
            </a:avLst>
          </a:prstGeom>
          <a:solidFill>
            <a:schemeClr val="bg2"/>
          </a:solidFill>
          <a:ln w="12700">
            <a:solidFill>
              <a:schemeClr val="bg2"/>
            </a:solidFill>
            <a:prstDash val="solid"/>
          </a:ln>
        </p:spPr>
      </p:sp>
      <p:sp>
        <p:nvSpPr>
          <p:cNvPr id="4" name="code_hl3"/>
          <p:cNvSpPr/>
          <p:nvPr/>
        </p:nvSpPr>
        <p:spPr>
          <a:xfrm>
            <a:off x="603504" y="2331720"/>
            <a:ext cx="6656832" cy="274320"/>
          </a:xfrm>
          <a:prstGeom prst="rect">
            <a:avLst/>
          </a:prstGeom>
          <a:solidFill>
            <a:schemeClr val="accent5"/>
          </a:solidFill>
          <a:ln w="12700">
            <a:solidFill>
              <a:schemeClr val="accent5"/>
            </a:solidFill>
            <a:prstDash val="solid"/>
          </a:ln>
        </p:spPr>
      </p:sp>
      <p:sp>
        <p:nvSpPr>
          <p:cNvPr id="5" name="Text 3"/>
          <p:cNvSpPr txBox="1"/>
          <p:nvPr/>
        </p:nvSpPr>
        <p:spPr>
          <a:xfrm>
            <a:off x="603504" y="23317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6" name="code_hl4"/>
          <p:cNvSpPr/>
          <p:nvPr/>
        </p:nvSpPr>
        <p:spPr>
          <a:xfrm>
            <a:off x="603504" y="2606040"/>
            <a:ext cx="6656832" cy="274320"/>
          </a:xfrm>
          <a:prstGeom prst="rect">
            <a:avLst/>
          </a:prstGeom>
          <a:solidFill>
            <a:schemeClr val="accent5"/>
          </a:solidFill>
          <a:ln w="12700">
            <a:solidFill>
              <a:schemeClr val="accent5"/>
            </a:solidFill>
            <a:prstDash val="solid"/>
          </a:ln>
        </p:spPr>
      </p:sp>
      <p:sp>
        <p:nvSpPr>
          <p:cNvPr id="7" name="Text 5"/>
          <p:cNvSpPr txBox="1"/>
          <p:nvPr/>
        </p:nvSpPr>
        <p:spPr>
          <a:xfrm>
            <a:off x="603504" y="26060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8" name="code_hl5"/>
          <p:cNvSpPr/>
          <p:nvPr/>
        </p:nvSpPr>
        <p:spPr>
          <a:xfrm>
            <a:off x="603504" y="2880360"/>
            <a:ext cx="6656832" cy="274320"/>
          </a:xfrm>
          <a:prstGeom prst="rect">
            <a:avLst/>
          </a:prstGeom>
          <a:solidFill>
            <a:schemeClr val="accent5"/>
          </a:solidFill>
          <a:ln w="12700">
            <a:solidFill>
              <a:schemeClr val="accent5"/>
            </a:solidFill>
            <a:prstDash val="solid"/>
          </a:ln>
        </p:spPr>
      </p:sp>
      <p:sp>
        <p:nvSpPr>
          <p:cNvPr id="9" name="Text 7"/>
          <p:cNvSpPr txBox="1"/>
          <p:nvPr/>
        </p:nvSpPr>
        <p:spPr>
          <a:xfrm>
            <a:off x="603504" y="288036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0" name="code_hl7"/>
          <p:cNvSpPr/>
          <p:nvPr/>
        </p:nvSpPr>
        <p:spPr>
          <a:xfrm>
            <a:off x="603504" y="3429000"/>
            <a:ext cx="6656832" cy="274320"/>
          </a:xfrm>
          <a:prstGeom prst="rect">
            <a:avLst/>
          </a:prstGeom>
          <a:solidFill>
            <a:schemeClr val="accent5"/>
          </a:solidFill>
          <a:ln w="12700">
            <a:solidFill>
              <a:schemeClr val="accent5"/>
            </a:solidFill>
            <a:prstDash val="solid"/>
          </a:ln>
        </p:spPr>
      </p:sp>
      <p:sp>
        <p:nvSpPr>
          <p:cNvPr id="11" name="Text 9"/>
          <p:cNvSpPr txBox="1"/>
          <p:nvPr/>
        </p:nvSpPr>
        <p:spPr>
          <a:xfrm>
            <a:off x="603504" y="342900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2" name="code_hl8"/>
          <p:cNvSpPr/>
          <p:nvPr/>
        </p:nvSpPr>
        <p:spPr>
          <a:xfrm>
            <a:off x="603504" y="3703320"/>
            <a:ext cx="6656832" cy="274320"/>
          </a:xfrm>
          <a:prstGeom prst="rect">
            <a:avLst/>
          </a:prstGeom>
          <a:solidFill>
            <a:schemeClr val="accent5"/>
          </a:solidFill>
          <a:ln w="12700">
            <a:solidFill>
              <a:schemeClr val="accent5"/>
            </a:solidFill>
            <a:prstDash val="solid"/>
          </a:ln>
        </p:spPr>
      </p:sp>
      <p:sp>
        <p:nvSpPr>
          <p:cNvPr id="13" name="Text 11"/>
          <p:cNvSpPr txBox="1"/>
          <p:nvPr/>
        </p:nvSpPr>
        <p:spPr>
          <a:xfrm>
            <a:off x="603504" y="370332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4" name="code_hl9"/>
          <p:cNvSpPr/>
          <p:nvPr/>
        </p:nvSpPr>
        <p:spPr>
          <a:xfrm>
            <a:off x="603504" y="3977640"/>
            <a:ext cx="6656832" cy="274320"/>
          </a:xfrm>
          <a:prstGeom prst="rect">
            <a:avLst/>
          </a:prstGeom>
          <a:solidFill>
            <a:schemeClr val="accent5"/>
          </a:solidFill>
          <a:ln w="12700">
            <a:solidFill>
              <a:schemeClr val="accent5"/>
            </a:solidFill>
            <a:prstDash val="solid"/>
          </a:ln>
        </p:spPr>
      </p:sp>
      <p:sp>
        <p:nvSpPr>
          <p:cNvPr id="15" name="Text 13"/>
          <p:cNvSpPr txBox="1"/>
          <p:nvPr/>
        </p:nvSpPr>
        <p:spPr>
          <a:xfrm>
            <a:off x="603504" y="397764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6" name="code_hl11"/>
          <p:cNvSpPr/>
          <p:nvPr/>
        </p:nvSpPr>
        <p:spPr>
          <a:xfrm>
            <a:off x="603504" y="4526280"/>
            <a:ext cx="6656832" cy="274320"/>
          </a:xfrm>
          <a:prstGeom prst="rect">
            <a:avLst/>
          </a:prstGeom>
          <a:solidFill>
            <a:schemeClr val="accent5"/>
          </a:solidFill>
          <a:ln w="12700">
            <a:solidFill>
              <a:schemeClr val="accent5"/>
            </a:solidFill>
            <a:prstDash val="solid"/>
          </a:ln>
        </p:spPr>
      </p:sp>
      <p:sp>
        <p:nvSpPr>
          <p:cNvPr id="17" name="Text 15"/>
          <p:cNvSpPr txBox="1"/>
          <p:nvPr/>
        </p:nvSpPr>
        <p:spPr>
          <a:xfrm>
            <a:off x="603504" y="4526280"/>
            <a:ext cx="155448" cy="2743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8" name="code_l0"/>
          <p:cNvSpPr txBox="1"/>
          <p:nvPr/>
        </p:nvSpPr>
        <p:spPr>
          <a:xfrm>
            <a:off x="777240" y="1508760"/>
            <a:ext cx="6309360" cy="274320"/>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Structural if LO[low nibble] &amp; HI[high nibble] != 0</a:t>
            </a:r>
            <a:endParaRPr lang="en-US" sz="1300" dirty="0"/>
          </a:p>
        </p:txBody>
      </p:sp>
      <p:sp>
        <p:nvSpPr>
          <p:cNvPr id="19" name="code_l1"/>
          <p:cNvSpPr txBox="1"/>
          <p:nvPr/>
        </p:nvSpPr>
        <p:spPr>
          <a:xfrm>
            <a:off x="777240" y="1783080"/>
            <a:ext cx="6309360" cy="274320"/>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group 1: { } [ ]    group 2: " ,    group 4: :</a:t>
            </a:r>
            <a:endParaRPr lang="en-US" sz="1300" dirty="0"/>
          </a:p>
        </p:txBody>
      </p:sp>
      <p:sp>
        <p:nvSpPr>
          <p:cNvPr id="20" name="code_l2"/>
          <p:cNvSpPr txBox="1"/>
          <p:nvPr/>
        </p:nvSpPr>
        <p:spPr>
          <a:xfrm>
            <a:off x="777240" y="205740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16</a:t>
            </a:r>
            <a:endParaRPr lang="en-US" sz="1300" dirty="0"/>
          </a:p>
        </p:txBody>
      </p:sp>
      <p:sp>
        <p:nvSpPr>
          <p:cNvPr id="21" name="code_l3"/>
          <p:cNvSpPr txBox="1"/>
          <p:nvPr/>
        </p:nvSpPr>
        <p:spPr>
          <a:xfrm>
            <a:off x="777240" y="233172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0xB</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0xD</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1</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 }  [ ]</a:t>
            </a:r>
            <a:endParaRPr lang="en-US" sz="1300" dirty="0"/>
          </a:p>
        </p:txBody>
      </p:sp>
      <p:sp>
        <p:nvSpPr>
          <p:cNvPr id="22" name="code_l4"/>
          <p:cNvSpPr txBox="1"/>
          <p:nvPr/>
        </p:nvSpPr>
        <p:spPr>
          <a:xfrm>
            <a:off x="777240" y="260604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0x2</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0xC</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2</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  ,</a:t>
            </a:r>
            <a:endParaRPr lang="en-US" sz="1300" dirty="0"/>
          </a:p>
        </p:txBody>
      </p:sp>
      <p:sp>
        <p:nvSpPr>
          <p:cNvPr id="23" name="code_l5"/>
          <p:cNvSpPr txBox="1"/>
          <p:nvPr/>
        </p:nvSpPr>
        <p:spPr>
          <a:xfrm>
            <a:off x="777240" y="288036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0xA</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4</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a:t>
            </a:r>
            <a:endParaRPr lang="en-US" sz="1300" dirty="0"/>
          </a:p>
        </p:txBody>
      </p:sp>
      <p:sp>
        <p:nvSpPr>
          <p:cNvPr id="24" name="code_l6"/>
          <p:cNvSpPr txBox="1"/>
          <p:nvPr/>
        </p:nvSpPr>
        <p:spPr>
          <a:xfrm>
            <a:off x="777240" y="315468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16</a:t>
            </a:r>
            <a:endParaRPr lang="en-US" sz="1300" dirty="0"/>
          </a:p>
        </p:txBody>
      </p:sp>
      <p:sp>
        <p:nvSpPr>
          <p:cNvPr id="25" name="code_l7"/>
          <p:cNvSpPr txBox="1"/>
          <p:nvPr/>
        </p:nvSpPr>
        <p:spPr>
          <a:xfrm>
            <a:off x="777240" y="342900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0x5</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0x7</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1</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 ]  { }</a:t>
            </a:r>
            <a:endParaRPr lang="en-US" sz="1300" dirty="0"/>
          </a:p>
        </p:txBody>
      </p:sp>
      <p:sp>
        <p:nvSpPr>
          <p:cNvPr id="26" name="code_l8"/>
          <p:cNvSpPr txBox="1"/>
          <p:nvPr/>
        </p:nvSpPr>
        <p:spPr>
          <a:xfrm>
            <a:off x="777240" y="370332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0x2</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2</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  ,</a:t>
            </a:r>
            <a:endParaRPr lang="en-US" sz="1300" dirty="0"/>
          </a:p>
        </p:txBody>
      </p:sp>
      <p:sp>
        <p:nvSpPr>
          <p:cNvPr id="27" name="code_l9"/>
          <p:cNvSpPr txBox="1"/>
          <p:nvPr/>
        </p:nvSpPr>
        <p:spPr>
          <a:xfrm>
            <a:off x="777240" y="3977640"/>
            <a:ext cx="6309360" cy="274320"/>
          </a:xfrm>
          <a:prstGeom prst="rect">
            <a:avLst/>
          </a:prstGeom>
          <a:noFill/>
          <a:ln/>
        </p:spPr>
        <p:txBody>
          <a:bodyPr wrap="none" lIns="0" tIns="0" rIns="0" bIns="0" rtlCol="0" anchor="ctr"/>
          <a:lstStyle/>
          <a:p>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rgbClr val="986801"/>
                </a:solidFill>
                <a:latin typeface="Courier New" pitchFamily="34" charset="0"/>
                <a:ea typeface="Courier New" pitchFamily="34" charset="-122"/>
                <a:cs typeface="Courier New" pitchFamily="34" charset="-120"/>
              </a:rPr>
              <a:t>0x3</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4</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i="1" dirty="0">
                <a:solidFill>
                  <a:srgbClr val="9A9BA2"/>
                </a:solidFill>
                <a:latin typeface="Courier New" pitchFamily="34" charset="0"/>
                <a:ea typeface="Courier New" pitchFamily="34" charset="-122"/>
                <a:cs typeface="Courier New" pitchFamily="34" charset="-120"/>
              </a:rPr>
              <a:t># :</a:t>
            </a:r>
            <a:endParaRPr lang="en-US" sz="1300" dirty="0"/>
          </a:p>
        </p:txBody>
      </p:sp>
      <p:sp>
        <p:nvSpPr>
          <p:cNvPr id="28" name="code_l10"/>
          <p:cNvSpPr txBox="1"/>
          <p:nvPr/>
        </p:nvSpPr>
        <p:spPr>
          <a:xfrm>
            <a:off x="777240" y="4251960"/>
            <a:ext cx="6309360" cy="274320"/>
          </a:xfrm>
          <a:prstGeom prst="rect">
            <a:avLst/>
          </a:prstGeom>
          <a:noFill/>
          <a:ln/>
        </p:spPr>
        <p:txBody>
          <a:bodyPr wrap="none" lIns="0" tIns="0" rIns="0" bIns="0" rtlCol="0" anchor="ctr"/>
          <a:lstStyle/>
          <a:p>
            <a:pPr indent="0" marL="0">
              <a:buNone/>
            </a:pPr>
            <a:r>
              <a:rPr lang="en-US" sz="1300" b="1" dirty="0">
                <a:solidFill>
                  <a:srgbClr val="A626A4"/>
                </a:solidFill>
                <a:latin typeface="Courier New" pitchFamily="34" charset="0"/>
                <a:ea typeface="Courier New" pitchFamily="34" charset="-122"/>
                <a:cs typeface="Courier New" pitchFamily="34" charset="-120"/>
              </a:rPr>
              <a:t>def</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2F6BD8"/>
                </a:solidFill>
                <a:latin typeface="Courier New" pitchFamily="34" charset="0"/>
                <a:ea typeface="Courier New" pitchFamily="34" charset="-122"/>
                <a:cs typeface="Courier New" pitchFamily="34" charset="-120"/>
              </a:rPr>
              <a:t>is_structural</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byte</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29" name="code_l11"/>
          <p:cNvSpPr txBox="1"/>
          <p:nvPr/>
        </p:nvSpPr>
        <p:spPr>
          <a:xfrm>
            <a:off x="777240" y="4526280"/>
            <a:ext cx="6309360" cy="274320"/>
          </a:xfrm>
          <a:prstGeom prst="rect">
            <a:avLst/>
          </a:prstGeom>
          <a:noFill/>
          <a:ln/>
        </p:spPr>
        <p:txBody>
          <a:bodyPr wrap="non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b="1" dirty="0">
                <a:solidFill>
                  <a:srgbClr val="A626A4"/>
                </a:solidFill>
                <a:latin typeface="Courier New" pitchFamily="34" charset="0"/>
                <a:ea typeface="Courier New" pitchFamily="34" charset="-122"/>
                <a:cs typeface="Courier New" pitchFamily="34" charset="-120"/>
              </a:rPr>
              <a:t>return</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LO</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byte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&amp;</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0xF</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&amp;</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B35C00"/>
                </a:solidFill>
                <a:latin typeface="Courier New" pitchFamily="34" charset="0"/>
                <a:ea typeface="Courier New" pitchFamily="34" charset="-122"/>
                <a:cs typeface="Courier New" pitchFamily="34" charset="-120"/>
              </a:rPr>
              <a:t>HI</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byte</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&gt;</a:t>
            </a:r>
            <a:pPr indent="0" marL="0">
              <a:buNone/>
            </a:pPr>
            <a:r>
              <a:rPr lang="en-US" sz="1300" dirty="0">
                <a:solidFill>
                  <a:schemeClr val="tx1"/>
                </a:solidFill>
                <a:latin typeface="Courier New" pitchFamily="34" charset="0"/>
                <a:ea typeface="Courier New" pitchFamily="34" charset="-122"/>
                <a:cs typeface="Courier New" pitchFamily="34" charset="-120"/>
              </a:rPr>
              <a:t>&gt;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4</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a:t>
            </a:r>
            <a:pPr indent="0" marL="0">
              <a:buNone/>
            </a:pPr>
            <a:r>
              <a:rPr lang="en-US" sz="1300" dirty="0">
                <a:solidFill>
                  <a:schemeClr val="tx1"/>
                </a:solidFill>
                <a:latin typeface="Courier New" pitchFamily="34" charset="0"/>
                <a:ea typeface="Courier New" pitchFamily="34" charset="-122"/>
                <a:cs typeface="Courier New" pitchFamily="34" charset="-120"/>
              </a:rPr>
              <a:t> </a:t>
            </a:r>
            <a:pPr indent="0" marL="0">
              <a:buNone/>
            </a:pPr>
            <a:r>
              <a:rPr lang="en-US" sz="1300" dirty="0">
                <a:solidFill>
                  <a:srgbClr val="986801"/>
                </a:solidFill>
                <a:latin typeface="Courier New" pitchFamily="34" charset="0"/>
                <a:ea typeface="Courier New" pitchFamily="34" charset="-122"/>
                <a:cs typeface="Courier New" pitchFamily="34" charset="-120"/>
              </a:rPr>
              <a:t>0</a:t>
            </a:r>
            <a:endParaRPr lang="en-US" sz="1300" dirty="0"/>
          </a:p>
        </p:txBody>
      </p:sp>
      <p:sp>
        <p:nvSpPr>
          <p:cNvPr id="30" name="code_l12"/>
          <p:cNvSpPr txBox="1"/>
          <p:nvPr/>
        </p:nvSpPr>
        <p:spPr>
          <a:xfrm>
            <a:off x="777240" y="4800600"/>
            <a:ext cx="6309360" cy="274320"/>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SIMD: 2 table lookups + 1 AND for all 64 bytes</a:t>
            </a:r>
            <a:endParaRPr lang="en-US" sz="1300" dirty="0"/>
          </a:p>
        </p:txBody>
      </p:sp>
      <p:sp>
        <p:nvSpPr>
          <p:cNvPr id="31" name="code_l13"/>
          <p:cNvSpPr txBox="1"/>
          <p:nvPr/>
        </p:nvSpPr>
        <p:spPr>
          <a:xfrm>
            <a:off x="777240" y="5074920"/>
            <a:ext cx="6309360" cy="274320"/>
          </a:xfrm>
          <a:prstGeom prst="rect">
            <a:avLst/>
          </a:prstGeom>
          <a:noFill/>
          <a:ln/>
        </p:spPr>
        <p:txBody>
          <a:bodyPr wrap="none" lIns="0" tIns="0" rIns="0" bIns="0" rtlCol="0" anchor="ctr"/>
          <a:lstStyle/>
          <a:p>
            <a:pPr indent="0" marL="0">
              <a:buNone/>
            </a:pPr>
            <a:r>
              <a:rPr lang="en-US" sz="1300" i="1" dirty="0">
                <a:solidFill>
                  <a:srgbClr val="9A9BA2"/>
                </a:solidFill>
                <a:latin typeface="Courier New" pitchFamily="34" charset="0"/>
                <a:ea typeface="Courier New" pitchFamily="34" charset="-122"/>
                <a:cs typeface="Courier New" pitchFamily="34" charset="-120"/>
              </a:rPr>
              <a:t># (RVV vrgather.vv, x86 pshufb, Arm tbl)</a:t>
            </a:r>
            <a:endParaRPr lang="en-US" sz="1300" dirty="0"/>
          </a:p>
        </p:txBody>
      </p:sp>
      <p:sp>
        <p:nvSpPr>
          <p:cNvPr id="32" name="Text 30"/>
          <p:cNvSpPr txBox="1"/>
          <p:nvPr/>
        </p:nvSpPr>
        <p:spPr>
          <a:xfrm>
            <a:off x="8458200" y="1325880"/>
            <a:ext cx="2852928" cy="256032"/>
          </a:xfrm>
          <a:prstGeom prst="rect">
            <a:avLst/>
          </a:prstGeom>
          <a:noFill/>
          <a:ln/>
        </p:spPr>
        <p:txBody>
          <a:bodyPr wrap="square" lIns="0" tIns="0" rIns="0" bIns="0" rtlCol="0" anchor="ctr"/>
          <a:lstStyle/>
          <a:p>
            <a:pPr algn="ctr" indent="0" marL="0">
              <a:buNone/>
            </a:pPr>
            <a:r>
              <a:rPr lang="en-US" sz="1100" b="1" spc="200" kern="0" dirty="0">
                <a:solidFill>
                  <a:schemeClr val="tx2"/>
                </a:solidFill>
              </a:rPr>
              <a:t>LOW NIBBLE</a:t>
            </a:r>
            <a:endParaRPr lang="en-US" sz="1100" dirty="0"/>
          </a:p>
        </p:txBody>
      </p:sp>
      <p:sp>
        <p:nvSpPr>
          <p:cNvPr id="33" name="Text 31"/>
          <p:cNvSpPr txBox="1"/>
          <p:nvPr/>
        </p:nvSpPr>
        <p:spPr>
          <a:xfrm>
            <a:off x="7589520" y="1600200"/>
            <a:ext cx="731520" cy="274320"/>
          </a:xfrm>
          <a:prstGeom prst="rect">
            <a:avLst/>
          </a:prstGeom>
          <a:noFill/>
          <a:ln/>
        </p:spPr>
        <p:txBody>
          <a:bodyPr wrap="square" lIns="0" tIns="0" rIns="0" bIns="0" rtlCol="0" anchor="ctr"/>
          <a:lstStyle/>
          <a:p>
            <a:pPr algn="r" indent="0" marL="0">
              <a:buNone/>
            </a:pPr>
            <a:r>
              <a:rPr lang="en-US" sz="1100" b="1" spc="200" kern="0" dirty="0">
                <a:solidFill>
                  <a:schemeClr val="tx2"/>
                </a:solidFill>
              </a:rPr>
              <a:t>HIGH</a:t>
            </a:r>
            <a:endParaRPr lang="en-US" sz="1100" dirty="0"/>
          </a:p>
        </p:txBody>
      </p:sp>
      <p:sp>
        <p:nvSpPr>
          <p:cNvPr id="34" name="Text 32"/>
          <p:cNvSpPr txBox="1"/>
          <p:nvPr/>
        </p:nvSpPr>
        <p:spPr>
          <a:xfrm>
            <a:off x="8458200" y="1600200"/>
            <a:ext cx="512064" cy="27432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2</a:t>
            </a:r>
            <a:endParaRPr lang="en-US" sz="1300" dirty="0"/>
          </a:p>
        </p:txBody>
      </p:sp>
      <p:sp>
        <p:nvSpPr>
          <p:cNvPr id="35" name="Text 33"/>
          <p:cNvSpPr txBox="1"/>
          <p:nvPr/>
        </p:nvSpPr>
        <p:spPr>
          <a:xfrm>
            <a:off x="9043416" y="1600200"/>
            <a:ext cx="512064" cy="27432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A</a:t>
            </a:r>
            <a:endParaRPr lang="en-US" sz="1300" dirty="0"/>
          </a:p>
        </p:txBody>
      </p:sp>
      <p:sp>
        <p:nvSpPr>
          <p:cNvPr id="36" name="Text 34"/>
          <p:cNvSpPr txBox="1"/>
          <p:nvPr/>
        </p:nvSpPr>
        <p:spPr>
          <a:xfrm>
            <a:off x="9628632" y="1600200"/>
            <a:ext cx="512064" cy="27432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B</a:t>
            </a:r>
            <a:endParaRPr lang="en-US" sz="1300" dirty="0"/>
          </a:p>
        </p:txBody>
      </p:sp>
      <p:sp>
        <p:nvSpPr>
          <p:cNvPr id="37" name="Text 35"/>
          <p:cNvSpPr txBox="1"/>
          <p:nvPr/>
        </p:nvSpPr>
        <p:spPr>
          <a:xfrm>
            <a:off x="10213848" y="1600200"/>
            <a:ext cx="512064" cy="27432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C</a:t>
            </a:r>
            <a:endParaRPr lang="en-US" sz="1300" dirty="0"/>
          </a:p>
        </p:txBody>
      </p:sp>
      <p:sp>
        <p:nvSpPr>
          <p:cNvPr id="38" name="Text 36"/>
          <p:cNvSpPr txBox="1"/>
          <p:nvPr/>
        </p:nvSpPr>
        <p:spPr>
          <a:xfrm>
            <a:off x="10799064" y="1600200"/>
            <a:ext cx="512064" cy="274320"/>
          </a:xfrm>
          <a:prstGeom prst="rect">
            <a:avLst/>
          </a:prstGeom>
          <a:noFill/>
          <a:ln/>
        </p:spPr>
        <p:txBody>
          <a:bodyPr wrap="square" lIns="0" tIns="0" rIns="0" bIns="0" rtlCol="0" anchor="ctr"/>
          <a:lstStyle/>
          <a:p>
            <a:pPr algn="ctr" indent="0" marL="0">
              <a:buNone/>
            </a:pPr>
            <a:r>
              <a:rPr lang="en-US" sz="1300" b="1" dirty="0">
                <a:solidFill>
                  <a:schemeClr val="tx2"/>
                </a:solidFill>
                <a:latin typeface="Courier New" pitchFamily="34" charset="0"/>
                <a:ea typeface="Courier New" pitchFamily="34" charset="-122"/>
                <a:cs typeface="Courier New" pitchFamily="34" charset="-120"/>
              </a:rPr>
              <a:t>D</a:t>
            </a:r>
            <a:endParaRPr lang="en-US" sz="1300" dirty="0"/>
          </a:p>
        </p:txBody>
      </p:sp>
      <p:sp>
        <p:nvSpPr>
          <p:cNvPr id="39" name="Text 37"/>
          <p:cNvSpPr txBox="1"/>
          <p:nvPr/>
        </p:nvSpPr>
        <p:spPr>
          <a:xfrm>
            <a:off x="7955280" y="1920240"/>
            <a:ext cx="365760" cy="512064"/>
          </a:xfrm>
          <a:prstGeom prst="rect">
            <a:avLst/>
          </a:prstGeom>
          <a:noFill/>
          <a:ln/>
        </p:spPr>
        <p:txBody>
          <a:bodyPr wrap="square" lIns="0" tIns="0" rIns="0" bIns="0" rtlCol="0" anchor="ctr"/>
          <a:lstStyle/>
          <a:p>
            <a:pPr algn="r" indent="0" marL="0">
              <a:buNone/>
            </a:pPr>
            <a:r>
              <a:rPr lang="en-US" sz="1300" b="1" dirty="0">
                <a:solidFill>
                  <a:schemeClr val="tx2"/>
                </a:solidFill>
                <a:latin typeface="Courier New" pitchFamily="34" charset="0"/>
                <a:ea typeface="Courier New" pitchFamily="34" charset="-122"/>
                <a:cs typeface="Courier New" pitchFamily="34" charset="-120"/>
              </a:rPr>
              <a:t>2</a:t>
            </a:r>
            <a:endParaRPr lang="en-US" sz="1300" dirty="0"/>
          </a:p>
        </p:txBody>
      </p:sp>
      <p:sp>
        <p:nvSpPr>
          <p:cNvPr id="40" name="Text 38"/>
          <p:cNvSpPr txBox="1"/>
          <p:nvPr/>
        </p:nvSpPr>
        <p:spPr>
          <a:xfrm>
            <a:off x="8458200" y="1920240"/>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41" name="Text 39"/>
          <p:cNvSpPr txBox="1"/>
          <p:nvPr/>
        </p:nvSpPr>
        <p:spPr>
          <a:xfrm>
            <a:off x="9043416" y="1920240"/>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42" name="Text 40"/>
          <p:cNvSpPr txBox="1"/>
          <p:nvPr/>
        </p:nvSpPr>
        <p:spPr>
          <a:xfrm>
            <a:off x="9628632" y="1920240"/>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43" name="Text 41"/>
          <p:cNvSpPr txBox="1"/>
          <p:nvPr/>
        </p:nvSpPr>
        <p:spPr>
          <a:xfrm>
            <a:off x="10213848" y="1920240"/>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44" name="Text 42"/>
          <p:cNvSpPr txBox="1"/>
          <p:nvPr/>
        </p:nvSpPr>
        <p:spPr>
          <a:xfrm>
            <a:off x="10799064" y="1920240"/>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45" name="Text 43"/>
          <p:cNvSpPr txBox="1"/>
          <p:nvPr/>
        </p:nvSpPr>
        <p:spPr>
          <a:xfrm>
            <a:off x="7955280" y="2505456"/>
            <a:ext cx="365760" cy="512064"/>
          </a:xfrm>
          <a:prstGeom prst="rect">
            <a:avLst/>
          </a:prstGeom>
          <a:noFill/>
          <a:ln/>
        </p:spPr>
        <p:txBody>
          <a:bodyPr wrap="square" lIns="0" tIns="0" rIns="0" bIns="0" rtlCol="0" anchor="ctr"/>
          <a:lstStyle/>
          <a:p>
            <a:pPr algn="r" indent="0" marL="0">
              <a:buNone/>
            </a:pPr>
            <a:r>
              <a:rPr lang="en-US" sz="1300" b="1" dirty="0">
                <a:solidFill>
                  <a:schemeClr val="tx2"/>
                </a:solidFill>
                <a:latin typeface="Courier New" pitchFamily="34" charset="0"/>
                <a:ea typeface="Courier New" pitchFamily="34" charset="-122"/>
                <a:cs typeface="Courier New" pitchFamily="34" charset="-120"/>
              </a:rPr>
              <a:t>3</a:t>
            </a:r>
            <a:endParaRPr lang="en-US" sz="1300" dirty="0"/>
          </a:p>
        </p:txBody>
      </p:sp>
      <p:sp>
        <p:nvSpPr>
          <p:cNvPr id="46" name="Text 44"/>
          <p:cNvSpPr txBox="1"/>
          <p:nvPr/>
        </p:nvSpPr>
        <p:spPr>
          <a:xfrm>
            <a:off x="8458200" y="2505456"/>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2</a:t>
            </a:r>
            <a:endParaRPr lang="en-US" sz="1600" dirty="0"/>
          </a:p>
        </p:txBody>
      </p:sp>
      <p:sp>
        <p:nvSpPr>
          <p:cNvPr id="47" name="Text 45"/>
          <p:cNvSpPr txBox="1"/>
          <p:nvPr/>
        </p:nvSpPr>
        <p:spPr>
          <a:xfrm>
            <a:off x="9043416" y="2505456"/>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48" name="Text 46"/>
          <p:cNvSpPr txBox="1"/>
          <p:nvPr/>
        </p:nvSpPr>
        <p:spPr>
          <a:xfrm>
            <a:off x="9628632" y="2505456"/>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49" name="Text 47"/>
          <p:cNvSpPr txBox="1"/>
          <p:nvPr/>
        </p:nvSpPr>
        <p:spPr>
          <a:xfrm>
            <a:off x="10213848" y="2505456"/>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&lt;</a:t>
            </a:r>
            <a:endParaRPr lang="en-US" sz="1600" dirty="0"/>
          </a:p>
        </p:txBody>
      </p:sp>
      <p:sp>
        <p:nvSpPr>
          <p:cNvPr id="50" name="Text 48"/>
          <p:cNvSpPr txBox="1"/>
          <p:nvPr/>
        </p:nvSpPr>
        <p:spPr>
          <a:xfrm>
            <a:off x="10799064" y="2505456"/>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51" name="Text 49"/>
          <p:cNvSpPr txBox="1"/>
          <p:nvPr/>
        </p:nvSpPr>
        <p:spPr>
          <a:xfrm>
            <a:off x="7955280" y="3090672"/>
            <a:ext cx="365760" cy="512064"/>
          </a:xfrm>
          <a:prstGeom prst="rect">
            <a:avLst/>
          </a:prstGeom>
          <a:noFill/>
          <a:ln/>
        </p:spPr>
        <p:txBody>
          <a:bodyPr wrap="square" lIns="0" tIns="0" rIns="0" bIns="0" rtlCol="0" anchor="ctr"/>
          <a:lstStyle/>
          <a:p>
            <a:pPr algn="r" indent="0" marL="0">
              <a:buNone/>
            </a:pPr>
            <a:r>
              <a:rPr lang="en-US" sz="1300" b="1" dirty="0">
                <a:solidFill>
                  <a:schemeClr val="tx2"/>
                </a:solidFill>
                <a:latin typeface="Courier New" pitchFamily="34" charset="0"/>
                <a:ea typeface="Courier New" pitchFamily="34" charset="-122"/>
                <a:cs typeface="Courier New" pitchFamily="34" charset="-120"/>
              </a:rPr>
              <a:t>5</a:t>
            </a:r>
            <a:endParaRPr lang="en-US" sz="1300" dirty="0"/>
          </a:p>
        </p:txBody>
      </p:sp>
      <p:sp>
        <p:nvSpPr>
          <p:cNvPr id="52" name="Text 50"/>
          <p:cNvSpPr txBox="1"/>
          <p:nvPr/>
        </p:nvSpPr>
        <p:spPr>
          <a:xfrm>
            <a:off x="8458200" y="3090672"/>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R</a:t>
            </a:r>
            <a:endParaRPr lang="en-US" sz="1600" dirty="0"/>
          </a:p>
        </p:txBody>
      </p:sp>
      <p:sp>
        <p:nvSpPr>
          <p:cNvPr id="53" name="Text 51"/>
          <p:cNvSpPr txBox="1"/>
          <p:nvPr/>
        </p:nvSpPr>
        <p:spPr>
          <a:xfrm>
            <a:off x="9043416" y="3090672"/>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Z</a:t>
            </a:r>
            <a:endParaRPr lang="en-US" sz="1600" dirty="0"/>
          </a:p>
        </p:txBody>
      </p:sp>
      <p:sp>
        <p:nvSpPr>
          <p:cNvPr id="54" name="Text 52"/>
          <p:cNvSpPr txBox="1"/>
          <p:nvPr/>
        </p:nvSpPr>
        <p:spPr>
          <a:xfrm>
            <a:off x="9628632" y="3090672"/>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55" name="Text 53"/>
          <p:cNvSpPr txBox="1"/>
          <p:nvPr/>
        </p:nvSpPr>
        <p:spPr>
          <a:xfrm>
            <a:off x="10213848" y="3090672"/>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56" name="Text 54"/>
          <p:cNvSpPr txBox="1"/>
          <p:nvPr/>
        </p:nvSpPr>
        <p:spPr>
          <a:xfrm>
            <a:off x="10799064" y="3090672"/>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57" name="Text 55"/>
          <p:cNvSpPr txBox="1"/>
          <p:nvPr/>
        </p:nvSpPr>
        <p:spPr>
          <a:xfrm>
            <a:off x="7955280" y="3675888"/>
            <a:ext cx="365760" cy="512064"/>
          </a:xfrm>
          <a:prstGeom prst="rect">
            <a:avLst/>
          </a:prstGeom>
          <a:noFill/>
          <a:ln/>
        </p:spPr>
        <p:txBody>
          <a:bodyPr wrap="square" lIns="0" tIns="0" rIns="0" bIns="0" rtlCol="0" anchor="ctr"/>
          <a:lstStyle/>
          <a:p>
            <a:pPr algn="r" indent="0" marL="0">
              <a:buNone/>
            </a:pPr>
            <a:r>
              <a:rPr lang="en-US" sz="1300" b="1" dirty="0">
                <a:solidFill>
                  <a:schemeClr val="tx2"/>
                </a:solidFill>
                <a:latin typeface="Courier New" pitchFamily="34" charset="0"/>
                <a:ea typeface="Courier New" pitchFamily="34" charset="-122"/>
                <a:cs typeface="Courier New" pitchFamily="34" charset="-120"/>
              </a:rPr>
              <a:t>7</a:t>
            </a:r>
            <a:endParaRPr lang="en-US" sz="1300" dirty="0"/>
          </a:p>
        </p:txBody>
      </p:sp>
      <p:sp>
        <p:nvSpPr>
          <p:cNvPr id="58" name="Text 56"/>
          <p:cNvSpPr txBox="1"/>
          <p:nvPr/>
        </p:nvSpPr>
        <p:spPr>
          <a:xfrm>
            <a:off x="8458200" y="3675888"/>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r</a:t>
            </a:r>
            <a:endParaRPr lang="en-US" sz="1600" dirty="0"/>
          </a:p>
        </p:txBody>
      </p:sp>
      <p:sp>
        <p:nvSpPr>
          <p:cNvPr id="59" name="Text 57"/>
          <p:cNvSpPr txBox="1"/>
          <p:nvPr/>
        </p:nvSpPr>
        <p:spPr>
          <a:xfrm>
            <a:off x="9043416" y="3675888"/>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z</a:t>
            </a:r>
            <a:endParaRPr lang="en-US" sz="1600" dirty="0"/>
          </a:p>
        </p:txBody>
      </p:sp>
      <p:sp>
        <p:nvSpPr>
          <p:cNvPr id="60" name="Text 58"/>
          <p:cNvSpPr txBox="1"/>
          <p:nvPr/>
        </p:nvSpPr>
        <p:spPr>
          <a:xfrm>
            <a:off x="9628632" y="3675888"/>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61" name="Text 59"/>
          <p:cNvSpPr txBox="1"/>
          <p:nvPr/>
        </p:nvSpPr>
        <p:spPr>
          <a:xfrm>
            <a:off x="10213848" y="3675888"/>
            <a:ext cx="512064" cy="512064"/>
          </a:xfrm>
          <a:prstGeom prst="roundRect">
            <a:avLst>
              <a:gd name="adj" fmla="val 8929"/>
            </a:avLst>
          </a:prstGeom>
          <a:solidFill>
            <a:schemeClr val="bg1"/>
          </a:solidFill>
          <a:ln w="9525">
            <a:solidFill>
              <a:schemeClr val="accent3"/>
            </a:solidFill>
          </a:ln>
        </p:spPr>
        <p:txBody>
          <a:bodyPr wrap="square" lIns="0" tIns="0" rIns="0" bIns="0" rtlCol="0" anchor="ctr"/>
          <a:lstStyle/>
          <a:p>
            <a:pPr algn="ctr" indent="0" marL="0">
              <a:buNone/>
            </a:pPr>
            <a:r>
              <a:rPr lang="en-US" sz="1600" dirty="0">
                <a:solidFill>
                  <a:schemeClr val="accent6"/>
                </a:solidFill>
                <a:latin typeface="Courier New" pitchFamily="34" charset="0"/>
                <a:ea typeface="Courier New" pitchFamily="34" charset="-122"/>
                <a:cs typeface="Courier New" pitchFamily="34" charset="-120"/>
              </a:rPr>
              <a:t>|</a:t>
            </a:r>
            <a:endParaRPr lang="en-US" sz="1600" dirty="0"/>
          </a:p>
        </p:txBody>
      </p:sp>
      <p:sp>
        <p:nvSpPr>
          <p:cNvPr id="62" name="Text 60"/>
          <p:cNvSpPr txBox="1"/>
          <p:nvPr/>
        </p:nvSpPr>
        <p:spPr>
          <a:xfrm>
            <a:off x="10799064" y="3675888"/>
            <a:ext cx="512064" cy="512064"/>
          </a:xfrm>
          <a:prstGeom prst="roundRect">
            <a:avLst>
              <a:gd name="adj" fmla="val 8929"/>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63" name="Text 61"/>
          <p:cNvSpPr txBox="1"/>
          <p:nvPr/>
        </p:nvSpPr>
        <p:spPr>
          <a:xfrm>
            <a:off x="7589520" y="4389120"/>
            <a:ext cx="4050792" cy="960120"/>
          </a:xfrm>
          <a:prstGeom prst="rect">
            <a:avLst/>
          </a:prstGeom>
          <a:noFill/>
          <a:ln/>
        </p:spPr>
        <p:txBody>
          <a:bodyPr wrap="square" lIns="0" tIns="0" rIns="0" bIns="0" rtlCol="0" anchor="t"/>
          <a:lstStyle/>
          <a:p>
            <a:pPr indent="0" marL="0">
              <a:buNone/>
            </a:pPr>
            <a:r>
              <a:rPr lang="en-US" sz="1400" b="1" dirty="0">
                <a:solidFill>
                  <a:schemeClr val="tx1"/>
                </a:solidFill>
              </a:rPr>
              <a:t>Why groups? </a:t>
            </a:r>
            <a:pPr indent="0" marL="0">
              <a:buNone/>
            </a:pPr>
            <a:r>
              <a:rPr lang="en-US" sz="1400" dirty="0">
                <a:solidFill>
                  <a:schemeClr val="tx2"/>
                </a:solidFill>
              </a:rPr>
              <a:t>'+' is 0x2B. Its high nibble (2) matches the comma's and its low nibble (B) matches the brace's, but they're in different groups, so the AND rejects it.</a:t>
            </a:r>
            <a:endParaRPr lang="en-US" sz="1400" dirty="0"/>
          </a:p>
        </p:txBody>
      </p:sp>
      <p:sp>
        <p:nvSpPr>
          <p:cNvPr id="64" name="Text 62"/>
          <p:cNvSpPr txBox="1"/>
          <p:nvPr/>
        </p:nvSpPr>
        <p:spPr>
          <a:xfrm>
            <a:off x="7589520" y="5440680"/>
            <a:ext cx="4050792" cy="640080"/>
          </a:xfrm>
          <a:prstGeom prst="rect">
            <a:avLst/>
          </a:prstGeom>
          <a:noFill/>
          <a:ln/>
        </p:spPr>
        <p:txBody>
          <a:bodyPr wrap="square" lIns="0" tIns="0" rIns="0" bIns="0" rtlCol="0" anchor="t"/>
          <a:lstStyle/>
          <a:p>
            <a:pPr indent="0" marL="0">
              <a:buNone/>
            </a:pPr>
            <a:r>
              <a:rPr lang="en-US" sz="1400" dirty="0">
                <a:solidFill>
                  <a:schemeClr val="tx2"/>
                </a:solidFill>
              </a:rPr>
              <a:t>One pair of tables classifies any set of characters. simdjson's real tables also classify whitespace.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Takeaways</a:t>
            </a:r>
            <a:endParaRPr lang="en-US" sz="3200" dirty="0"/>
          </a:p>
        </p:txBody>
      </p:sp>
      <p:sp>
        <p:nvSpPr>
          <p:cNvPr id="3" name="big_bg"/>
          <p:cNvSpPr/>
          <p:nvPr/>
        </p:nvSpPr>
        <p:spPr>
          <a:xfrm>
            <a:off x="548640" y="1325880"/>
            <a:ext cx="11091672" cy="178308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868680" y="1325880"/>
            <a:ext cx="10424160" cy="1783080"/>
          </a:xfrm>
          <a:prstGeom prst="rect">
            <a:avLst/>
          </a:prstGeom>
          <a:noFill/>
          <a:ln/>
        </p:spPr>
        <p:txBody>
          <a:bodyPr wrap="square" lIns="0" tIns="0" rIns="0" bIns="0" rtlCol="0" anchor="ctr"/>
          <a:lstStyle/>
          <a:p>
            <a:pPr indent="0" marL="0">
              <a:buNone/>
            </a:pPr>
            <a:r>
              <a:rPr lang="en-US" sz="2200" b="1" dirty="0">
                <a:solidFill>
                  <a:schemeClr val="tx1"/>
                </a:solidFill>
              </a:rPr>
              <a:t>Non-structural tokens are the majority of the document, and they're what makes the parser slow. </a:t>
            </a:r>
            <a:pPr indent="0" marL="0">
              <a:buNone/>
            </a:pPr>
            <a:r>
              <a:rPr lang="en-US" sz="2200" dirty="0">
                <a:solidFill>
                  <a:schemeClr val="tx1"/>
                </a:solidFill>
              </a:rPr>
              <a:t>With the structural characters already indexed, pass 2 skips through the document using only a lightweight state machine.</a:t>
            </a:r>
            <a:endParaRPr lang="en-US" sz="2200" dirty="0"/>
          </a:p>
        </p:txBody>
      </p:sp>
      <p:sp>
        <p:nvSpPr>
          <p:cNvPr id="5" name="Text 3"/>
          <p:cNvSpPr txBox="1"/>
          <p:nvPr/>
        </p:nvSpPr>
        <p:spPr>
          <a:xfrm>
            <a:off x="548640" y="3429000"/>
            <a:ext cx="7315200" cy="274320"/>
          </a:xfrm>
          <a:prstGeom prst="rect">
            <a:avLst/>
          </a:prstGeom>
          <a:noFill/>
          <a:ln/>
        </p:spPr>
        <p:txBody>
          <a:bodyPr wrap="square" lIns="0" tIns="0" rIns="0" bIns="0" rtlCol="0" anchor="ctr"/>
          <a:lstStyle/>
          <a:p>
            <a:pPr indent="0" marL="0">
              <a:buNone/>
            </a:pPr>
            <a:r>
              <a:rPr lang="en-US" sz="1100" b="1" spc="200" kern="0" dirty="0">
                <a:solidFill>
                  <a:schemeClr val="tx2"/>
                </a:solidFill>
              </a:rPr>
              <a:t>WHY PASS 1 IS FAST ON A SUPERSCALAR CORE</a:t>
            </a:r>
            <a:endParaRPr lang="en-US" sz="1100" dirty="0"/>
          </a:p>
        </p:txBody>
      </p:sp>
      <p:sp>
        <p:nvSpPr>
          <p:cNvPr id="6" name="Text 4"/>
          <p:cNvSpPr txBox="1"/>
          <p:nvPr/>
        </p:nvSpPr>
        <p:spPr>
          <a:xfrm>
            <a:off x="548640" y="384048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p>
        </p:txBody>
      </p:sp>
      <p:sp>
        <p:nvSpPr>
          <p:cNvPr id="7" name="Text 5"/>
          <p:cNvSpPr txBox="1"/>
          <p:nvPr/>
        </p:nvSpPr>
        <p:spPr>
          <a:xfrm>
            <a:off x="548640" y="4434840"/>
            <a:ext cx="3514344"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Several instructions per cycle</a:t>
            </a:r>
            <a:endParaRPr lang="en-US" sz="1700" dirty="0"/>
          </a:p>
        </p:txBody>
      </p:sp>
      <p:sp>
        <p:nvSpPr>
          <p:cNvPr id="8" name="Text 6"/>
          <p:cNvSpPr txBox="1"/>
          <p:nvPr/>
        </p:nvSpPr>
        <p:spPr>
          <a:xfrm>
            <a:off x="548640" y="4800600"/>
            <a:ext cx="3514344" cy="320040"/>
          </a:xfrm>
          <a:prstGeom prst="rect">
            <a:avLst/>
          </a:prstGeom>
          <a:noFill/>
          <a:ln/>
        </p:spPr>
        <p:txBody>
          <a:bodyPr wrap="square" lIns="0" tIns="0" rIns="0" bIns="0" rtlCol="0" anchor="ctr"/>
          <a:lstStyle/>
          <a:p>
            <a:pPr indent="0" marL="0">
              <a:buNone/>
            </a:pPr>
            <a:r>
              <a:rPr lang="en-US" sz="1400" i="1" dirty="0">
                <a:solidFill>
                  <a:schemeClr val="tx2"/>
                </a:solidFill>
              </a:rPr>
              <a:t>→ needs independent work</a:t>
            </a:r>
            <a:endParaRPr lang="en-US" sz="1400" dirty="0"/>
          </a:p>
        </p:txBody>
      </p:sp>
      <p:sp>
        <p:nvSpPr>
          <p:cNvPr id="9" name="Text 7"/>
          <p:cNvSpPr txBox="1"/>
          <p:nvPr/>
        </p:nvSpPr>
        <p:spPr>
          <a:xfrm>
            <a:off x="548640" y="5166360"/>
            <a:ext cx="3331464" cy="868680"/>
          </a:xfrm>
          <a:prstGeom prst="rect">
            <a:avLst/>
          </a:prstGeom>
          <a:noFill/>
          <a:ln/>
        </p:spPr>
        <p:txBody>
          <a:bodyPr wrap="square" lIns="0" tIns="0" rIns="0" bIns="0" rtlCol="0" anchor="t"/>
          <a:lstStyle/>
          <a:p>
            <a:pPr indent="0" marL="0">
              <a:buNone/>
            </a:pPr>
            <a:r>
              <a:rPr lang="en-US" sz="1400" dirty="0">
                <a:solidFill>
                  <a:schemeClr val="tx2"/>
                </a:solidFill>
              </a:rPr>
              <a:t>Each byte is tested on its own. No parser state links one byte to the next.</a:t>
            </a:r>
            <a:endParaRPr lang="en-US" sz="1400" dirty="0"/>
          </a:p>
        </p:txBody>
      </p:sp>
      <p:sp>
        <p:nvSpPr>
          <p:cNvPr id="10" name="Text 8"/>
          <p:cNvSpPr txBox="1"/>
          <p:nvPr/>
        </p:nvSpPr>
        <p:spPr>
          <a:xfrm>
            <a:off x="4337304" y="384048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2</a:t>
            </a:r>
            <a:endParaRPr lang="en-US" sz="2000" dirty="0"/>
          </a:p>
        </p:txBody>
      </p:sp>
      <p:sp>
        <p:nvSpPr>
          <p:cNvPr id="11" name="Text 9"/>
          <p:cNvSpPr txBox="1"/>
          <p:nvPr/>
        </p:nvSpPr>
        <p:spPr>
          <a:xfrm>
            <a:off x="4337304" y="4434840"/>
            <a:ext cx="3514344"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Speculation past branches</a:t>
            </a:r>
            <a:endParaRPr lang="en-US" sz="1700" dirty="0"/>
          </a:p>
        </p:txBody>
      </p:sp>
      <p:sp>
        <p:nvSpPr>
          <p:cNvPr id="12" name="Text 10"/>
          <p:cNvSpPr txBox="1"/>
          <p:nvPr/>
        </p:nvSpPr>
        <p:spPr>
          <a:xfrm>
            <a:off x="4337304" y="4800600"/>
            <a:ext cx="3514344" cy="320040"/>
          </a:xfrm>
          <a:prstGeom prst="rect">
            <a:avLst/>
          </a:prstGeom>
          <a:noFill/>
          <a:ln/>
        </p:spPr>
        <p:txBody>
          <a:bodyPr wrap="square" lIns="0" tIns="0" rIns="0" bIns="0" rtlCol="0" anchor="ctr"/>
          <a:lstStyle/>
          <a:p>
            <a:pPr indent="0" marL="0">
              <a:buNone/>
            </a:pPr>
            <a:r>
              <a:rPr lang="en-US" sz="1400" i="1" dirty="0">
                <a:solidFill>
                  <a:schemeClr val="tx2"/>
                </a:solidFill>
              </a:rPr>
              <a:t>→ needs predictable branches</a:t>
            </a:r>
            <a:endParaRPr lang="en-US" sz="1400" dirty="0"/>
          </a:p>
        </p:txBody>
      </p:sp>
      <p:sp>
        <p:nvSpPr>
          <p:cNvPr id="13" name="Text 11"/>
          <p:cNvSpPr txBox="1"/>
          <p:nvPr/>
        </p:nvSpPr>
        <p:spPr>
          <a:xfrm>
            <a:off x="4337304" y="5166360"/>
            <a:ext cx="3331464" cy="868680"/>
          </a:xfrm>
          <a:prstGeom prst="rect">
            <a:avLst/>
          </a:prstGeom>
          <a:noFill/>
          <a:ln/>
        </p:spPr>
        <p:txBody>
          <a:bodyPr wrap="square" lIns="0" tIns="0" rIns="0" bIns="0" rtlCol="0" anchor="t"/>
          <a:lstStyle/>
          <a:p>
            <a:pPr indent="0" marL="0">
              <a:buNone/>
            </a:pPr>
            <a:r>
              <a:rPr lang="en-US" sz="1400" dirty="0">
                <a:solidFill>
                  <a:schemeClr val="tx2"/>
                </a:solidFill>
              </a:rPr>
              <a:t>Bit masks instead of ifs. The data-dependent branching happens in pass 2, on far fewer elements.</a:t>
            </a:r>
            <a:endParaRPr lang="en-US" sz="1400" dirty="0"/>
          </a:p>
        </p:txBody>
      </p:sp>
      <p:sp>
        <p:nvSpPr>
          <p:cNvPr id="14" name="Text 12"/>
          <p:cNvSpPr txBox="1"/>
          <p:nvPr/>
        </p:nvSpPr>
        <p:spPr>
          <a:xfrm>
            <a:off x="8125968" y="3840480"/>
            <a:ext cx="45720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3</a:t>
            </a:r>
            <a:endParaRPr lang="en-US" sz="2000" dirty="0"/>
          </a:p>
        </p:txBody>
      </p:sp>
      <p:sp>
        <p:nvSpPr>
          <p:cNvPr id="15" name="Text 13"/>
          <p:cNvSpPr txBox="1"/>
          <p:nvPr/>
        </p:nvSpPr>
        <p:spPr>
          <a:xfrm>
            <a:off x="8125968" y="4434840"/>
            <a:ext cx="3514344" cy="36576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Wide SIMD units</a:t>
            </a:r>
            <a:endParaRPr lang="en-US" sz="1700" dirty="0"/>
          </a:p>
        </p:txBody>
      </p:sp>
      <p:sp>
        <p:nvSpPr>
          <p:cNvPr id="16" name="Text 14"/>
          <p:cNvSpPr txBox="1"/>
          <p:nvPr/>
        </p:nvSpPr>
        <p:spPr>
          <a:xfrm>
            <a:off x="8125968" y="4800600"/>
            <a:ext cx="3514344" cy="320040"/>
          </a:xfrm>
          <a:prstGeom prst="rect">
            <a:avLst/>
          </a:prstGeom>
          <a:noFill/>
          <a:ln/>
        </p:spPr>
        <p:txBody>
          <a:bodyPr wrap="square" lIns="0" tIns="0" rIns="0" bIns="0" rtlCol="0" anchor="ctr"/>
          <a:lstStyle/>
          <a:p>
            <a:pPr indent="0" marL="0">
              <a:buNone/>
            </a:pPr>
            <a:r>
              <a:rPr lang="en-US" sz="1400" i="1" dirty="0">
                <a:solidFill>
                  <a:schemeClr val="tx2"/>
                </a:solidFill>
              </a:rPr>
              <a:t>→ need the same work on lots of data</a:t>
            </a:r>
            <a:endParaRPr lang="en-US" sz="1400" dirty="0"/>
          </a:p>
        </p:txBody>
      </p:sp>
      <p:sp>
        <p:nvSpPr>
          <p:cNvPr id="17" name="Text 15"/>
          <p:cNvSpPr txBox="1"/>
          <p:nvPr/>
        </p:nvSpPr>
        <p:spPr>
          <a:xfrm>
            <a:off x="8125968" y="5166360"/>
            <a:ext cx="3331464" cy="868680"/>
          </a:xfrm>
          <a:prstGeom prst="rect">
            <a:avLst/>
          </a:prstGeom>
          <a:noFill/>
          <a:ln/>
        </p:spPr>
        <p:txBody>
          <a:bodyPr wrap="square" lIns="0" tIns="0" rIns="0" bIns="0" rtlCol="0" anchor="t"/>
          <a:lstStyle/>
          <a:p>
            <a:pPr indent="0" marL="0">
              <a:buNone/>
            </a:pPr>
            <a:r>
              <a:rPr lang="en-US" sz="1400" dirty="0">
                <a:solidFill>
                  <a:schemeClr val="tx2"/>
                </a:solidFill>
              </a:rPr>
              <a:t>One classification covers 64 bytes at a time.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11064240" cy="1463040"/>
          </a:xfrm>
          <a:prstGeom prst="rect">
            <a:avLst/>
          </a:prstGeom>
          <a:noFill/>
          <a:ln/>
        </p:spPr>
        <p:txBody>
          <a:bodyPr wrap="square" lIns="0" tIns="0" rIns="0" bIns="0" rtlCol="0" anchor="b"/>
          <a:lstStyle/>
          <a:p>
            <a:pPr algn="l" indent="0" marL="0">
              <a:buNone/>
            </a:pPr>
            <a:r>
              <a:rPr lang="en-US" sz="4800" b="1" dirty="0">
                <a:solidFill>
                  <a:schemeClr val="tx1"/>
                </a:solidFill>
              </a:rPr>
              <a:t>Thanks! Questions?</a:t>
            </a:r>
            <a:endParaRPr lang="en-US" sz="4800" dirty="0"/>
          </a:p>
        </p:txBody>
      </p:sp>
      <p:sp>
        <p:nvSpPr>
          <p:cNvPr id="3" name="Text 0"/>
          <p:cNvSpPr/>
          <p:nvPr>
            <p:ph idx="101" type="body" hasCustomPrompt="1"/>
          </p:nvPr>
        </p:nvSpPr>
        <p:spPr>
          <a:xfrm>
            <a:off x="548640" y="2788920"/>
            <a:ext cx="11064240" cy="640080"/>
          </a:xfrm>
          <a:prstGeom prst="rect">
            <a:avLst/>
          </a:prstGeom>
          <a:noFill/>
          <a:ln/>
        </p:spPr>
        <p:txBody>
          <a:bodyPr wrap="square" lIns="0" tIns="0" rIns="0" bIns="0" rtlCol="0" anchor="t"/>
          <a:lstStyle/>
          <a:p>
            <a:pPr algn="l" indent="0" marL="0">
              <a:buNone/>
            </a:pPr>
            <a:r>
              <a:rPr lang="en-US" sz="2400" dirty="0">
                <a:solidFill>
                  <a:schemeClr val="tx2"/>
                </a:solidFill>
              </a:rPr>
              <a:t>github.com/simdjson/simdjson  ·  arxiv.org/abs/1902.08318</a:t>
            </a:r>
            <a:endParaRPr lang="en-US" sz="2400" dirty="0"/>
          </a:p>
        </p:txBody>
      </p:sp>
      <p:sp>
        <p:nvSpPr>
          <p:cNvPr id="4" name="tile0"/>
          <p:cNvSpPr txBox="1"/>
          <p:nvPr/>
        </p:nvSpPr>
        <p:spPr>
          <a:xfrm>
            <a:off x="54864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ile1"/>
          <p:cNvSpPr txBox="1"/>
          <p:nvPr/>
        </p:nvSpPr>
        <p:spPr>
          <a:xfrm>
            <a:off x="839419"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6" name="tile2"/>
          <p:cNvSpPr txBox="1"/>
          <p:nvPr/>
        </p:nvSpPr>
        <p:spPr>
          <a:xfrm>
            <a:off x="113019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7" name="tile3"/>
          <p:cNvSpPr txBox="1"/>
          <p:nvPr/>
        </p:nvSpPr>
        <p:spPr>
          <a:xfrm>
            <a:off x="142097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p</a:t>
            </a:r>
            <a:endParaRPr lang="en-US" sz="1400" dirty="0"/>
          </a:p>
        </p:txBody>
      </p:sp>
      <p:sp>
        <p:nvSpPr>
          <p:cNvPr id="8" name="tile4"/>
          <p:cNvSpPr txBox="1"/>
          <p:nvPr/>
        </p:nvSpPr>
        <p:spPr>
          <a:xfrm>
            <a:off x="1711757"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u</a:t>
            </a:r>
            <a:endParaRPr lang="en-US" sz="1400" dirty="0"/>
          </a:p>
        </p:txBody>
      </p:sp>
      <p:sp>
        <p:nvSpPr>
          <p:cNvPr id="9" name="tile5"/>
          <p:cNvSpPr txBox="1"/>
          <p:nvPr/>
        </p:nvSpPr>
        <p:spPr>
          <a:xfrm>
            <a:off x="2002536"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0" name="tile6"/>
          <p:cNvSpPr txBox="1"/>
          <p:nvPr/>
        </p:nvSpPr>
        <p:spPr>
          <a:xfrm>
            <a:off x="2293315"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1" name="tile7"/>
          <p:cNvSpPr txBox="1"/>
          <p:nvPr/>
        </p:nvSpPr>
        <p:spPr>
          <a:xfrm>
            <a:off x="2584094"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2" name="tile8"/>
          <p:cNvSpPr txBox="1"/>
          <p:nvPr/>
        </p:nvSpPr>
        <p:spPr>
          <a:xfrm>
            <a:off x="287487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r</a:t>
            </a:r>
            <a:endParaRPr lang="en-US" sz="1400" dirty="0"/>
          </a:p>
        </p:txBody>
      </p:sp>
      <p:sp>
        <p:nvSpPr>
          <p:cNvPr id="13" name="tile9"/>
          <p:cNvSpPr txBox="1"/>
          <p:nvPr/>
        </p:nvSpPr>
        <p:spPr>
          <a:xfrm>
            <a:off x="3165653"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14" name="tile10"/>
          <p:cNvSpPr txBox="1"/>
          <p:nvPr/>
        </p:nvSpPr>
        <p:spPr>
          <a:xfrm>
            <a:off x="3456432"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15" name="tile11"/>
          <p:cNvSpPr txBox="1"/>
          <p:nvPr/>
        </p:nvSpPr>
        <p:spPr>
          <a:xfrm>
            <a:off x="3747211"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c</a:t>
            </a:r>
            <a:endParaRPr lang="en-US" sz="1400" dirty="0"/>
          </a:p>
        </p:txBody>
      </p:sp>
      <p:sp>
        <p:nvSpPr>
          <p:cNvPr id="16" name="tile12"/>
          <p:cNvSpPr txBox="1"/>
          <p:nvPr/>
        </p:nvSpPr>
        <p:spPr>
          <a:xfrm>
            <a:off x="4037990"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v</a:t>
            </a:r>
            <a:endParaRPr lang="en-US" sz="1400" dirty="0"/>
          </a:p>
        </p:txBody>
      </p:sp>
      <p:sp>
        <p:nvSpPr>
          <p:cNvPr id="17" name="tile13"/>
          <p:cNvSpPr txBox="1"/>
          <p:nvPr/>
        </p:nvSpPr>
        <p:spPr>
          <a:xfrm>
            <a:off x="432877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8" name="tile14"/>
          <p:cNvSpPr txBox="1"/>
          <p:nvPr/>
        </p:nvSpPr>
        <p:spPr>
          <a:xfrm>
            <a:off x="4619549"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19" name="tile15"/>
          <p:cNvSpPr txBox="1"/>
          <p:nvPr/>
        </p:nvSpPr>
        <p:spPr>
          <a:xfrm>
            <a:off x="4910328"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0" name="tile16"/>
          <p:cNvSpPr txBox="1"/>
          <p:nvPr/>
        </p:nvSpPr>
        <p:spPr>
          <a:xfrm>
            <a:off x="5201107"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21" name="tile17"/>
          <p:cNvSpPr txBox="1"/>
          <p:nvPr/>
        </p:nvSpPr>
        <p:spPr>
          <a:xfrm>
            <a:off x="5491886"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22" name="tile18"/>
          <p:cNvSpPr txBox="1"/>
          <p:nvPr/>
        </p:nvSpPr>
        <p:spPr>
          <a:xfrm>
            <a:off x="5782666"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g</a:t>
            </a:r>
            <a:endParaRPr lang="en-US" sz="1400" dirty="0"/>
          </a:p>
        </p:txBody>
      </p:sp>
      <p:sp>
        <p:nvSpPr>
          <p:cNvPr id="23" name="tile19"/>
          <p:cNvSpPr txBox="1"/>
          <p:nvPr/>
        </p:nvSpPr>
        <p:spPr>
          <a:xfrm>
            <a:off x="6073445"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24" name="tile20"/>
          <p:cNvSpPr txBox="1"/>
          <p:nvPr/>
        </p:nvSpPr>
        <p:spPr>
          <a:xfrm>
            <a:off x="6364224"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5" name="tile21"/>
          <p:cNvSpPr txBox="1"/>
          <p:nvPr/>
        </p:nvSpPr>
        <p:spPr>
          <a:xfrm>
            <a:off x="6655003"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6" name="tile22"/>
          <p:cNvSpPr txBox="1"/>
          <p:nvPr/>
        </p:nvSpPr>
        <p:spPr>
          <a:xfrm>
            <a:off x="694578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7" name="tile23"/>
          <p:cNvSpPr txBox="1"/>
          <p:nvPr/>
        </p:nvSpPr>
        <p:spPr>
          <a:xfrm>
            <a:off x="723656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28" name="tile24"/>
          <p:cNvSpPr txBox="1"/>
          <p:nvPr/>
        </p:nvSpPr>
        <p:spPr>
          <a:xfrm>
            <a:off x="7527341"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f</a:t>
            </a:r>
            <a:endParaRPr lang="en-US" sz="1400" dirty="0"/>
          </a:p>
        </p:txBody>
      </p:sp>
      <p:sp>
        <p:nvSpPr>
          <p:cNvPr id="29" name="tile25"/>
          <p:cNvSpPr txBox="1"/>
          <p:nvPr/>
        </p:nvSpPr>
        <p:spPr>
          <a:xfrm>
            <a:off x="7818120"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a</a:t>
            </a:r>
            <a:endParaRPr lang="en-US" sz="1400" dirty="0"/>
          </a:p>
        </p:txBody>
      </p:sp>
      <p:sp>
        <p:nvSpPr>
          <p:cNvPr id="30" name="tile26"/>
          <p:cNvSpPr txBox="1"/>
          <p:nvPr/>
        </p:nvSpPr>
        <p:spPr>
          <a:xfrm>
            <a:off x="8108899"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31" name="tile27"/>
          <p:cNvSpPr txBox="1"/>
          <p:nvPr/>
        </p:nvSpPr>
        <p:spPr>
          <a:xfrm>
            <a:off x="8399678"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t</a:t>
            </a:r>
            <a:endParaRPr lang="en-US" sz="1400" dirty="0"/>
          </a:p>
        </p:txBody>
      </p:sp>
      <p:sp>
        <p:nvSpPr>
          <p:cNvPr id="32" name="tile28"/>
          <p:cNvSpPr txBox="1"/>
          <p:nvPr/>
        </p:nvSpPr>
        <p:spPr>
          <a:xfrm>
            <a:off x="8690458"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3" name="tile29"/>
          <p:cNvSpPr txBox="1"/>
          <p:nvPr/>
        </p:nvSpPr>
        <p:spPr>
          <a:xfrm>
            <a:off x="8981237"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4" name="tile30"/>
          <p:cNvSpPr txBox="1"/>
          <p:nvPr/>
        </p:nvSpPr>
        <p:spPr>
          <a:xfrm>
            <a:off x="9272016"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35" name="tile31"/>
          <p:cNvSpPr txBox="1"/>
          <p:nvPr/>
        </p:nvSpPr>
        <p:spPr>
          <a:xfrm>
            <a:off x="9562795"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s</a:t>
            </a:r>
            <a:endParaRPr lang="en-US" sz="1400" dirty="0"/>
          </a:p>
        </p:txBody>
      </p:sp>
      <p:sp>
        <p:nvSpPr>
          <p:cNvPr id="36" name="tile32"/>
          <p:cNvSpPr txBox="1"/>
          <p:nvPr/>
        </p:nvSpPr>
        <p:spPr>
          <a:xfrm>
            <a:off x="985357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i</a:t>
            </a:r>
            <a:endParaRPr lang="en-US" sz="1400" dirty="0"/>
          </a:p>
        </p:txBody>
      </p:sp>
      <p:sp>
        <p:nvSpPr>
          <p:cNvPr id="37" name="tile33"/>
          <p:cNvSpPr txBox="1"/>
          <p:nvPr/>
        </p:nvSpPr>
        <p:spPr>
          <a:xfrm>
            <a:off x="10144354"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m</a:t>
            </a:r>
            <a:endParaRPr lang="en-US" sz="1400" dirty="0"/>
          </a:p>
        </p:txBody>
      </p:sp>
      <p:sp>
        <p:nvSpPr>
          <p:cNvPr id="38" name="tile34"/>
          <p:cNvSpPr txBox="1"/>
          <p:nvPr/>
        </p:nvSpPr>
        <p:spPr>
          <a:xfrm>
            <a:off x="10435133" y="4160520"/>
            <a:ext cx="254203" cy="327355"/>
          </a:xfrm>
          <a:prstGeom prst="roundRect">
            <a:avLst>
              <a:gd name="adj" fmla="val 17986"/>
            </a:avLst>
          </a:prstGeom>
          <a:solidFill>
            <a:schemeClr val="bg1"/>
          </a:solidFill>
          <a:ln w="9525">
            <a:solidFill>
              <a:schemeClr val="accent3"/>
            </a:solidFill>
          </a:ln>
        </p:spPr>
        <p:txBody>
          <a:bodyPr wrap="square" lIns="0" tIns="0" rIns="0" bIns="0" rtlCol="0" anchor="ctr"/>
          <a:lstStyle/>
          <a:p>
            <a:pPr algn="ctr" indent="0" marL="0">
              <a:buNone/>
            </a:pPr>
            <a:r>
              <a:rPr lang="en-US" sz="1400" dirty="0">
                <a:solidFill>
                  <a:schemeClr val="tx2"/>
                </a:solidFill>
                <a:latin typeface="Courier New" pitchFamily="34" charset="0"/>
                <a:ea typeface="Courier New" pitchFamily="34" charset="-122"/>
                <a:cs typeface="Courier New" pitchFamily="34" charset="-120"/>
              </a:rPr>
              <a:t>d</a:t>
            </a:r>
            <a:endParaRPr lang="en-US" sz="1400" dirty="0"/>
          </a:p>
        </p:txBody>
      </p:sp>
      <p:sp>
        <p:nvSpPr>
          <p:cNvPr id="39" name="tile35"/>
          <p:cNvSpPr txBox="1"/>
          <p:nvPr/>
        </p:nvSpPr>
        <p:spPr>
          <a:xfrm>
            <a:off x="10725912"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0" name="tile36"/>
          <p:cNvSpPr txBox="1"/>
          <p:nvPr/>
        </p:nvSpPr>
        <p:spPr>
          <a:xfrm>
            <a:off x="11016691"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1" name="tile37"/>
          <p:cNvSpPr txBox="1"/>
          <p:nvPr/>
        </p:nvSpPr>
        <p:spPr>
          <a:xfrm>
            <a:off x="11307470" y="4160520"/>
            <a:ext cx="254203" cy="327355"/>
          </a:xfrm>
          <a:prstGeom prst="roundRect">
            <a:avLst>
              <a:gd name="adj" fmla="val 17986"/>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42" name="Text 40"/>
          <p:cNvSpPr txBox="1"/>
          <p:nvPr/>
        </p:nvSpPr>
        <p:spPr>
          <a:xfrm>
            <a:off x="548640" y="5989320"/>
            <a:ext cx="7315200" cy="365760"/>
          </a:xfrm>
          <a:prstGeom prst="rect">
            <a:avLst/>
          </a:prstGeom>
          <a:noFill/>
          <a:ln/>
        </p:spPr>
        <p:txBody>
          <a:bodyPr wrap="square" lIns="0" tIns="0" rIns="0" bIns="0" rtlCol="0" anchor="ctr"/>
          <a:lstStyle/>
          <a:p>
            <a:pPr indent="0" marL="0">
              <a:buNone/>
            </a:pPr>
            <a:r>
              <a:rPr lang="en-US" sz="1600" dirty="0">
                <a:solidFill>
                  <a:schemeClr val="tx2"/>
                </a:solidFill>
              </a:rPr>
              <a:t>RISC-V Ottawa Meetup  ·  October 2026</a:t>
            </a:r>
            <a:endParaRPr lang="en-US" sz="1600" dirty="0"/>
          </a:p>
        </p:txBody>
      </p:sp>
    </p:spTree>
  </p:cSld>
  <p:clrMapOvr>
    <a:masterClrMapping/>
  </p:clrMapOvr>
</p:sld>
</file>

<file path=ppt/theme/theme1.xml><?xml version="1.0" encoding="utf-8"?>
<a:theme xmlns:a="http://schemas.openxmlformats.org/drawingml/2006/main" name="RISC-V Ottawa simdjson">
  <a:themeElements>
    <a:clrScheme name="RISC-V Ottawa simdjson">
      <a:dk1>
        <a:srgbClr val="000000"/>
      </a:dk1>
      <a:lt1>
        <a:srgbClr val="FFFFFF"/>
      </a:lt1>
      <a:dk2>
        <a:srgbClr val="5A5A5A"/>
      </a:dk2>
      <a:lt2>
        <a:srgbClr val="F3F3F3"/>
      </a:lt2>
      <a:accent1>
        <a:srgbClr val="000000"/>
      </a:accent1>
      <a:accent2>
        <a:srgbClr val="707070"/>
      </a:accent2>
      <a:accent3>
        <a:srgbClr val="D0D0D0"/>
      </a:accent3>
      <a:accent4>
        <a:srgbClr val="D64545"/>
      </a:accent4>
      <a:accent5>
        <a:srgbClr val="E3E3E3"/>
      </a:accent5>
      <a:accent6>
        <a:srgbClr val="A0A0A0"/>
      </a:accent6>
      <a:hlink>
        <a:srgbClr val="000000"/>
      </a:hlink>
      <a:folHlink>
        <a:srgbClr val="5A5A5A"/>
      </a:folHlink>
    </a:clrScheme>
    <a:fontScheme name="RISC-V Ottawa simdjs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for Superscalar Execution</dc:title>
  <dc:subject>simdjson and structural indexing</dc:subject>
  <dc:creator>PptxGenJS</dc:creator>
  <cp:lastModifiedBy>PptxGenJS</cp:lastModifiedBy>
  <cp:revision>1</cp:revision>
  <dcterms:created xsi:type="dcterms:W3CDTF">2026-10-24T20:46:17Z</dcterms:created>
  <dcterms:modified xsi:type="dcterms:W3CDTF">2026-10-24T20:46:17Z</dcterms:modified>
</cp:coreProperties>
</file>